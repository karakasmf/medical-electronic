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72" r:id="rId6"/>
    <p:sldId id="273" r:id="rId7"/>
    <p:sldId id="274" r:id="rId8"/>
    <p:sldId id="275" r:id="rId9"/>
    <p:sldId id="276" r:id="rId10"/>
    <p:sldId id="265" r:id="rId11"/>
    <p:sldId id="267" r:id="rId12"/>
    <p:sldId id="268" r:id="rId13"/>
    <p:sldId id="269" r:id="rId14"/>
    <p:sldId id="270" r:id="rId15"/>
    <p:sldId id="271" r:id="rId16"/>
    <p:sldId id="284" r:id="rId17"/>
    <p:sldId id="260" r:id="rId18"/>
    <p:sldId id="263" r:id="rId19"/>
    <p:sldId id="262" r:id="rId20"/>
    <p:sldId id="261" r:id="rId21"/>
    <p:sldId id="264" r:id="rId22"/>
    <p:sldId id="266" r:id="rId23"/>
    <p:sldId id="279" r:id="rId24"/>
    <p:sldId id="280" r:id="rId25"/>
    <p:sldId id="282" r:id="rId26"/>
    <p:sldId id="281" r:id="rId27"/>
    <p:sldId id="283" r:id="rId28"/>
    <p:sldId id="278" r:id="rId2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1"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1862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4339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175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1717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4174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04156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20110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760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49687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64206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6685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5424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Zikzak gösterge çizgisi">
            <a:extLst>
              <a:ext uri="{FF2B5EF4-FFF2-40B4-BE49-F238E27FC236}">
                <a16:creationId xmlns:a16="http://schemas.microsoft.com/office/drawing/2014/main" id="{0E93C64C-3FCC-E624-50BB-12FE9E98F821}"/>
              </a:ext>
            </a:extLst>
          </p:cNvPr>
          <p:cNvPicPr>
            <a:picLocks noChangeAspect="1"/>
          </p:cNvPicPr>
          <p:nvPr/>
        </p:nvPicPr>
        <p:blipFill>
          <a:blip r:embed="rId2"/>
          <a:srcRect t="4782" b="10948"/>
          <a:stretch>
            <a:fillRect/>
          </a:stretch>
        </p:blipFill>
        <p:spPr>
          <a:xfrm>
            <a:off x="1" y="10"/>
            <a:ext cx="12192000" cy="6857989"/>
          </a:xfrm>
          <a:prstGeom prst="rect">
            <a:avLst/>
          </a:prstGeom>
        </p:spPr>
      </p:pic>
      <p:sp>
        <p:nvSpPr>
          <p:cNvPr id="20" name="Rectangle 19">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564FABA-05B6-A991-2777-08615A63D9FE}"/>
              </a:ext>
            </a:extLst>
          </p:cNvPr>
          <p:cNvSpPr>
            <a:spLocks noGrp="1"/>
          </p:cNvSpPr>
          <p:nvPr>
            <p:ph type="ctrTitle"/>
          </p:nvPr>
        </p:nvSpPr>
        <p:spPr>
          <a:xfrm>
            <a:off x="1981024" y="2854148"/>
            <a:ext cx="5619054" cy="1149703"/>
          </a:xfrm>
          <a:gradFill flip="none" rotWithShape="1">
            <a:gsLst>
              <a:gs pos="0">
                <a:schemeClr val="bg1">
                  <a:tint val="66000"/>
                  <a:satMod val="160000"/>
                </a:schemeClr>
              </a:gs>
              <a:gs pos="50000">
                <a:schemeClr val="bg1">
                  <a:tint val="44500"/>
                  <a:satMod val="160000"/>
                </a:schemeClr>
              </a:gs>
              <a:gs pos="100000">
                <a:schemeClr val="bg1">
                  <a:tint val="23500"/>
                  <a:satMod val="160000"/>
                </a:schemeClr>
              </a:gs>
            </a:gsLst>
            <a:path path="circle">
              <a:fillToRect l="50000" t="50000" r="50000" b="50000"/>
            </a:path>
            <a:tileRect/>
          </a:gradFill>
        </p:spPr>
        <p:txBody>
          <a:bodyPr anchor="ctr">
            <a:normAutofit/>
          </a:bodyPr>
          <a:lstStyle/>
          <a:p>
            <a:pPr algn="r"/>
            <a:r>
              <a:rPr lang="tr-TR" sz="3800" dirty="0">
                <a:solidFill>
                  <a:srgbClr val="FFFFFF"/>
                </a:solidFill>
              </a:rPr>
              <a:t>Elektroensefalografi</a:t>
            </a:r>
          </a:p>
        </p:txBody>
      </p:sp>
      <p:cxnSp>
        <p:nvCxnSpPr>
          <p:cNvPr id="22" name="Straight Connector 21">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17197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23184A-FB21-AACD-C8D8-9608BCCE5962}"/>
              </a:ext>
            </a:extLst>
          </p:cNvPr>
          <p:cNvSpPr>
            <a:spLocks noGrp="1"/>
          </p:cNvSpPr>
          <p:nvPr>
            <p:ph type="title"/>
          </p:nvPr>
        </p:nvSpPr>
        <p:spPr/>
        <p:txBody>
          <a:bodyPr/>
          <a:lstStyle/>
          <a:p>
            <a:r>
              <a:rPr lang="tr-TR" b="1" dirty="0"/>
              <a:t>ELEKTROENSEFALOGRAFİ</a:t>
            </a:r>
            <a:endParaRPr lang="tr-TR" dirty="0"/>
          </a:p>
        </p:txBody>
      </p:sp>
      <p:sp>
        <p:nvSpPr>
          <p:cNvPr id="3" name="İçerik Yer Tutucusu 2">
            <a:extLst>
              <a:ext uri="{FF2B5EF4-FFF2-40B4-BE49-F238E27FC236}">
                <a16:creationId xmlns:a16="http://schemas.microsoft.com/office/drawing/2014/main" id="{C328042B-85EF-AC6E-8227-15C21FAA99A6}"/>
              </a:ext>
            </a:extLst>
          </p:cNvPr>
          <p:cNvSpPr>
            <a:spLocks noGrp="1"/>
          </p:cNvSpPr>
          <p:nvPr>
            <p:ph idx="1"/>
          </p:nvPr>
        </p:nvSpPr>
        <p:spPr/>
        <p:txBody>
          <a:bodyPr/>
          <a:lstStyle/>
          <a:p>
            <a:r>
              <a:rPr lang="tr-TR" dirty="0"/>
              <a:t>Elektroensefalografi (EEG) beynin </a:t>
            </a:r>
            <a:r>
              <a:rPr lang="tr-TR" dirty="0" err="1"/>
              <a:t>spontan</a:t>
            </a:r>
            <a:r>
              <a:rPr lang="tr-TR" dirty="0"/>
              <a:t> elektriksel aktivitesinin elektrodlar aracılığı ile kaydedildiği </a:t>
            </a:r>
            <a:r>
              <a:rPr lang="tr-TR" dirty="0" err="1"/>
              <a:t>noninvazif</a:t>
            </a:r>
            <a:r>
              <a:rPr lang="tr-TR" dirty="0"/>
              <a:t> inceleme yöntemidir. </a:t>
            </a:r>
          </a:p>
          <a:p>
            <a:r>
              <a:rPr lang="tr-TR" dirty="0"/>
              <a:t>Bu inceleme beynin yapısal özelliklerinden çok o anki fonksiyonel durumunu yansıtır. </a:t>
            </a:r>
          </a:p>
          <a:p>
            <a:r>
              <a:rPr lang="tr-TR" dirty="0"/>
              <a:t>Bu nedenle yapısal görüntüleme yöntemlerindeki (BT, MRG gibi) gelişmelere rağmen halen önemini korumaktadır. </a:t>
            </a:r>
          </a:p>
          <a:p>
            <a:r>
              <a:rPr lang="tr-TR" dirty="0"/>
              <a:t>Özellikle yapısal inceleme yöntemlerine yansıyan bir patolojik bulgunun olmadığı klinik tablolarda EEG’nin önemi daha da artar.</a:t>
            </a:r>
          </a:p>
        </p:txBody>
      </p:sp>
    </p:spTree>
    <p:extLst>
      <p:ext uri="{BB962C8B-B14F-4D97-AF65-F5344CB8AC3E}">
        <p14:creationId xmlns:p14="http://schemas.microsoft.com/office/powerpoint/2010/main" val="328580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7AC80B7-CE03-04E5-4AB8-D625D2F9ED16}"/>
              </a:ext>
            </a:extLst>
          </p:cNvPr>
          <p:cNvSpPr>
            <a:spLocks noGrp="1"/>
          </p:cNvSpPr>
          <p:nvPr>
            <p:ph type="title"/>
          </p:nvPr>
        </p:nvSpPr>
        <p:spPr>
          <a:xfrm>
            <a:off x="6284749" y="909638"/>
            <a:ext cx="5201121" cy="1318062"/>
          </a:xfrm>
        </p:spPr>
        <p:txBody>
          <a:bodyPr>
            <a:normAutofit/>
          </a:bodyPr>
          <a:lstStyle/>
          <a:p>
            <a:r>
              <a:rPr lang="tr-TR" sz="3700" b="1"/>
              <a:t>ELEKTROENSEFALOGRAFİ</a:t>
            </a:r>
            <a:endParaRPr lang="tr-TR" sz="3700"/>
          </a:p>
        </p:txBody>
      </p:sp>
      <p:pic>
        <p:nvPicPr>
          <p:cNvPr id="5" name="Resim 4">
            <a:extLst>
              <a:ext uri="{FF2B5EF4-FFF2-40B4-BE49-F238E27FC236}">
                <a16:creationId xmlns:a16="http://schemas.microsoft.com/office/drawing/2014/main" id="{6ABAE9F8-3EEA-0DDE-337A-FA229F4F5944}"/>
              </a:ext>
            </a:extLst>
          </p:cNvPr>
          <p:cNvPicPr>
            <a:picLocks noChangeAspect="1"/>
          </p:cNvPicPr>
          <p:nvPr/>
        </p:nvPicPr>
        <p:blipFill>
          <a:blip r:embed="rId2">
            <a:extLst>
              <a:ext uri="{28A0092B-C50C-407E-A947-70E740481C1C}">
                <a14:useLocalDpi xmlns:a14="http://schemas.microsoft.com/office/drawing/2010/main" val="0"/>
              </a:ext>
            </a:extLst>
          </a:blip>
          <a:srcRect l="16982" r="27667" b="-1"/>
          <a:stretch>
            <a:fillRect/>
          </a:stretch>
        </p:blipFill>
        <p:spPr>
          <a:xfrm>
            <a:off x="20" y="10"/>
            <a:ext cx="5686740" cy="6857990"/>
          </a:xfrm>
          <a:prstGeom prst="rect">
            <a:avLst/>
          </a:prstGeom>
        </p:spPr>
      </p:pic>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46AABCFC-331F-A801-8A07-0312DB43360F}"/>
              </a:ext>
            </a:extLst>
          </p:cNvPr>
          <p:cNvSpPr>
            <a:spLocks noGrp="1"/>
          </p:cNvSpPr>
          <p:nvPr>
            <p:ph idx="1"/>
          </p:nvPr>
        </p:nvSpPr>
        <p:spPr>
          <a:xfrm>
            <a:off x="6290838" y="2236843"/>
            <a:ext cx="5201121" cy="3931920"/>
          </a:xfrm>
        </p:spPr>
        <p:txBody>
          <a:bodyPr>
            <a:normAutofit/>
          </a:bodyPr>
          <a:lstStyle/>
          <a:p>
            <a:r>
              <a:rPr lang="tr-TR" dirty="0"/>
              <a:t>Beynin elektriksel aktivitesi hücresel düzeyde biyokimyasal işlemlerden köken alan iyonik akımların sonucudur. </a:t>
            </a:r>
          </a:p>
          <a:p>
            <a:r>
              <a:rPr lang="tr-TR" dirty="0"/>
              <a:t>Merkezi sinir sisteminde (MSS) nöronlar ve </a:t>
            </a:r>
            <a:r>
              <a:rPr lang="tr-TR" dirty="0" err="1"/>
              <a:t>glial</a:t>
            </a:r>
            <a:r>
              <a:rPr lang="tr-TR" dirty="0"/>
              <a:t> hücreler olmak üzere iki ana hücre tipi bulunur. </a:t>
            </a:r>
          </a:p>
          <a:p>
            <a:r>
              <a:rPr lang="tr-TR" dirty="0"/>
              <a:t>Pek çok </a:t>
            </a:r>
            <a:r>
              <a:rPr lang="tr-TR" dirty="0" err="1"/>
              <a:t>dendrit</a:t>
            </a:r>
            <a:r>
              <a:rPr lang="tr-TR" dirty="0"/>
              <a:t> ve aksondan oluşan nöronlar üzerlerindeki sayısız sinaps ile birbirleri ile bağlantı halindedir. </a:t>
            </a:r>
          </a:p>
        </p:txBody>
      </p:sp>
    </p:spTree>
    <p:extLst>
      <p:ext uri="{BB962C8B-B14F-4D97-AF65-F5344CB8AC3E}">
        <p14:creationId xmlns:p14="http://schemas.microsoft.com/office/powerpoint/2010/main" val="3204563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AF23308-8B9B-8D2F-CB9E-CCED74AB51EC}"/>
              </a:ext>
            </a:extLst>
          </p:cNvPr>
          <p:cNvSpPr>
            <a:spLocks noGrp="1"/>
          </p:cNvSpPr>
          <p:nvPr>
            <p:ph type="title"/>
          </p:nvPr>
        </p:nvSpPr>
        <p:spPr>
          <a:xfrm>
            <a:off x="6284749" y="909638"/>
            <a:ext cx="5201121" cy="1318062"/>
          </a:xfrm>
        </p:spPr>
        <p:txBody>
          <a:bodyPr>
            <a:normAutofit/>
          </a:bodyPr>
          <a:lstStyle/>
          <a:p>
            <a:r>
              <a:rPr lang="tr-TR" b="1" dirty="0"/>
              <a:t>EEG Aktivitesinin Hücresel Temeli</a:t>
            </a:r>
            <a:endParaRPr lang="tr-TR" dirty="0"/>
          </a:p>
        </p:txBody>
      </p:sp>
      <p:pic>
        <p:nvPicPr>
          <p:cNvPr id="5" name="Picture 4" descr="3B işlemede neuron sistemi">
            <a:extLst>
              <a:ext uri="{FF2B5EF4-FFF2-40B4-BE49-F238E27FC236}">
                <a16:creationId xmlns:a16="http://schemas.microsoft.com/office/drawing/2014/main" id="{8943B058-2BAF-9992-B125-E86F3A231260}"/>
              </a:ext>
            </a:extLst>
          </p:cNvPr>
          <p:cNvPicPr>
            <a:picLocks noChangeAspect="1"/>
          </p:cNvPicPr>
          <p:nvPr/>
        </p:nvPicPr>
        <p:blipFill>
          <a:blip r:embed="rId2"/>
          <a:srcRect l="29935" r="13885" b="-1"/>
          <a:stretch>
            <a:fillRect/>
          </a:stretch>
        </p:blipFill>
        <p:spPr>
          <a:xfrm>
            <a:off x="20" y="10"/>
            <a:ext cx="5686740" cy="6857990"/>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C4604E5F-40CF-4012-29E2-CC6C9B9A7BD3}"/>
              </a:ext>
            </a:extLst>
          </p:cNvPr>
          <p:cNvSpPr>
            <a:spLocks noGrp="1"/>
          </p:cNvSpPr>
          <p:nvPr>
            <p:ph idx="1"/>
          </p:nvPr>
        </p:nvSpPr>
        <p:spPr>
          <a:xfrm>
            <a:off x="6290838" y="2236843"/>
            <a:ext cx="5201121" cy="3931920"/>
          </a:xfrm>
        </p:spPr>
        <p:txBody>
          <a:bodyPr>
            <a:normAutofit/>
          </a:bodyPr>
          <a:lstStyle/>
          <a:p>
            <a:pPr>
              <a:lnSpc>
                <a:spcPct val="100000"/>
              </a:lnSpc>
            </a:pPr>
            <a:r>
              <a:rPr lang="tr-TR" sz="1000"/>
              <a:t>İki lipid tabakalı nöronal hücre membranı hücreyi hücre dışı ve hücre içi olarak iki alana ayırır. </a:t>
            </a:r>
          </a:p>
          <a:p>
            <a:pPr>
              <a:lnSpc>
                <a:spcPct val="100000"/>
              </a:lnSpc>
            </a:pPr>
            <a:r>
              <a:rPr lang="tr-TR" sz="1000"/>
              <a:t>Sodyum ve klor iyonları hücre dışında yüksek konsantrasyonda iken potasyum iyonları, negatif yüklü büyük moleküller ve anyonlar hücre içinde yüksek orandadır. </a:t>
            </a:r>
          </a:p>
          <a:p>
            <a:pPr>
              <a:lnSpc>
                <a:spcPct val="100000"/>
              </a:lnSpc>
            </a:pPr>
            <a:r>
              <a:rPr lang="tr-TR" sz="1000"/>
              <a:t>Membranın iki tarafındaki iyon konsantrasyon farklılığı istirahat membran potansiyelini oluşturur.</a:t>
            </a:r>
          </a:p>
          <a:p>
            <a:pPr>
              <a:lnSpc>
                <a:spcPct val="100000"/>
              </a:lnSpc>
            </a:pPr>
            <a:r>
              <a:rPr lang="tr-TR" sz="1000"/>
              <a:t>Hücre içine pozitif yüklü iyonların akışı olarak tanımlanan depolarizasyon membran potansiyelinin daha az negatif hale gelmesine neden olurken, hücre içine negatif iyonların geçmesi membran potansiyelini daha negatif hale getirir ve buna da hiperpolarizasyon denir. </a:t>
            </a:r>
          </a:p>
          <a:p>
            <a:pPr>
              <a:lnSpc>
                <a:spcPct val="100000"/>
              </a:lnSpc>
            </a:pPr>
            <a:r>
              <a:rPr lang="tr-TR" sz="1000"/>
              <a:t>Hücrenin tekrar istirahat membran potansiyeline varması </a:t>
            </a:r>
            <a:r>
              <a:rPr lang="tr-TR" sz="1000" err="1"/>
              <a:t>Na</a:t>
            </a:r>
            <a:r>
              <a:rPr lang="tr-TR" sz="1000"/>
              <a:t>-K-</a:t>
            </a:r>
            <a:r>
              <a:rPr lang="tr-TR" sz="1000" err="1"/>
              <a:t>ATPaz</a:t>
            </a:r>
            <a:r>
              <a:rPr lang="tr-TR" sz="1000"/>
              <a:t> pompası ile olur. </a:t>
            </a:r>
          </a:p>
          <a:p>
            <a:pPr>
              <a:lnSpc>
                <a:spcPct val="100000"/>
              </a:lnSpc>
            </a:pPr>
            <a:r>
              <a:rPr lang="tr-TR" sz="1000" err="1"/>
              <a:t>Na</a:t>
            </a:r>
            <a:r>
              <a:rPr lang="tr-TR" sz="1000"/>
              <a:t> önemli miktarda hücre içine girdiğinde membran potansiyeli eşik değere ulaşır, </a:t>
            </a:r>
            <a:r>
              <a:rPr lang="tr-TR" sz="1000" err="1"/>
              <a:t>Na</a:t>
            </a:r>
            <a:r>
              <a:rPr lang="tr-TR" sz="1000"/>
              <a:t> kanallarının açılması ile daha fazla </a:t>
            </a:r>
            <a:r>
              <a:rPr lang="tr-TR" sz="1000" err="1"/>
              <a:t>Na</a:t>
            </a:r>
            <a:r>
              <a:rPr lang="tr-TR" sz="1000"/>
              <a:t> girişi aksiyon potansiyelinin yükselen fazını oluşturur. </a:t>
            </a:r>
          </a:p>
          <a:p>
            <a:pPr>
              <a:lnSpc>
                <a:spcPct val="100000"/>
              </a:lnSpc>
            </a:pPr>
            <a:r>
              <a:rPr lang="tr-TR" sz="1000"/>
              <a:t>K iyonunun dışarı çıkması, </a:t>
            </a:r>
            <a:r>
              <a:rPr lang="tr-TR" sz="1000" err="1"/>
              <a:t>Na</a:t>
            </a:r>
            <a:r>
              <a:rPr lang="tr-TR" sz="1000"/>
              <a:t> iyonunun içeri girmesinin azalması repolarizasyona neden olarak aksiyon potansiyelinin düşme fazını oluşturur.</a:t>
            </a:r>
          </a:p>
          <a:p>
            <a:pPr>
              <a:lnSpc>
                <a:spcPct val="100000"/>
              </a:lnSpc>
            </a:pPr>
            <a:endParaRPr lang="tr-TR" sz="1000"/>
          </a:p>
        </p:txBody>
      </p:sp>
    </p:spTree>
    <p:extLst>
      <p:ext uri="{BB962C8B-B14F-4D97-AF65-F5344CB8AC3E}">
        <p14:creationId xmlns:p14="http://schemas.microsoft.com/office/powerpoint/2010/main" val="642502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79EE401-75F1-FCB2-1837-21CB19D52839}"/>
              </a:ext>
            </a:extLst>
          </p:cNvPr>
          <p:cNvSpPr>
            <a:spLocks noGrp="1"/>
          </p:cNvSpPr>
          <p:nvPr>
            <p:ph type="title"/>
          </p:nvPr>
        </p:nvSpPr>
        <p:spPr>
          <a:xfrm>
            <a:off x="704088" y="914400"/>
            <a:ext cx="10687812" cy="798194"/>
          </a:xfrm>
        </p:spPr>
        <p:txBody>
          <a:bodyPr>
            <a:normAutofit/>
          </a:bodyPr>
          <a:lstStyle/>
          <a:p>
            <a:pPr>
              <a:lnSpc>
                <a:spcPct val="90000"/>
              </a:lnSpc>
            </a:pPr>
            <a:r>
              <a:rPr lang="tr-TR" sz="2500" b="1"/>
              <a:t>Beynin bölgeleri ve işlevleri</a:t>
            </a:r>
            <a:br>
              <a:rPr lang="tr-TR" sz="2500" b="1"/>
            </a:br>
            <a:endParaRPr lang="tr-TR" sz="250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0AD801B4-1ADB-2B67-A6FE-E6C57B6FB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55" y="1869439"/>
            <a:ext cx="5472477" cy="4139625"/>
          </a:xfrm>
          <a:prstGeom prst="rect">
            <a:avLst/>
          </a:prstGeom>
        </p:spPr>
      </p:pic>
      <p:sp>
        <p:nvSpPr>
          <p:cNvPr id="3" name="İçerik Yer Tutucusu 2">
            <a:extLst>
              <a:ext uri="{FF2B5EF4-FFF2-40B4-BE49-F238E27FC236}">
                <a16:creationId xmlns:a16="http://schemas.microsoft.com/office/drawing/2014/main" id="{5A2854BD-526C-15A1-92BC-0D2A2E468EF1}"/>
              </a:ext>
            </a:extLst>
          </p:cNvPr>
          <p:cNvSpPr>
            <a:spLocks noGrp="1"/>
          </p:cNvSpPr>
          <p:nvPr>
            <p:ph idx="1"/>
          </p:nvPr>
        </p:nvSpPr>
        <p:spPr>
          <a:xfrm>
            <a:off x="7200900" y="1849121"/>
            <a:ext cx="4191001" cy="4139626"/>
          </a:xfrm>
        </p:spPr>
        <p:txBody>
          <a:bodyPr anchor="b">
            <a:normAutofit/>
          </a:bodyPr>
          <a:lstStyle/>
          <a:p>
            <a:r>
              <a:rPr lang="tr-TR" dirty="0"/>
              <a:t>EEG, beynin ürettiği elektriksel aktivitenin zaman içindeki seyrini izlediği için, korteksin hangi bölgelerinin belirli bir zamanda bilgi işlemekten sorumlu olduğunu yorumlayabiliriz</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92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912E1D4-C51B-2E97-57A8-BB4EAB2BBA7D}"/>
              </a:ext>
            </a:extLst>
          </p:cNvPr>
          <p:cNvSpPr>
            <a:spLocks noGrp="1"/>
          </p:cNvSpPr>
          <p:nvPr>
            <p:ph type="title"/>
          </p:nvPr>
        </p:nvSpPr>
        <p:spPr>
          <a:xfrm>
            <a:off x="704088" y="914400"/>
            <a:ext cx="10687812" cy="798194"/>
          </a:xfrm>
        </p:spPr>
        <p:txBody>
          <a:bodyPr>
            <a:normAutofit/>
          </a:bodyPr>
          <a:lstStyle/>
          <a:p>
            <a:r>
              <a:rPr lang="tr-TR" b="1" dirty="0"/>
              <a:t>Oksipital korteks</a:t>
            </a:r>
            <a:endParaRPr lang="tr-TR" dirty="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CBE39F6F-BAB8-1744-3ECF-1816B4861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55" y="1869439"/>
            <a:ext cx="5472477" cy="4139625"/>
          </a:xfrm>
          <a:prstGeom prst="rect">
            <a:avLst/>
          </a:prstGeom>
        </p:spPr>
      </p:pic>
      <p:sp>
        <p:nvSpPr>
          <p:cNvPr id="3" name="İçerik Yer Tutucusu 2">
            <a:extLst>
              <a:ext uri="{FF2B5EF4-FFF2-40B4-BE49-F238E27FC236}">
                <a16:creationId xmlns:a16="http://schemas.microsoft.com/office/drawing/2014/main" id="{09D22EFE-D4B4-58A5-F8E3-49FDF67A6C93}"/>
              </a:ext>
            </a:extLst>
          </p:cNvPr>
          <p:cNvSpPr>
            <a:spLocks noGrp="1"/>
          </p:cNvSpPr>
          <p:nvPr>
            <p:ph idx="1"/>
          </p:nvPr>
        </p:nvSpPr>
        <p:spPr>
          <a:xfrm>
            <a:off x="7200900" y="1849121"/>
            <a:ext cx="4191001" cy="4139626"/>
          </a:xfrm>
        </p:spPr>
        <p:txBody>
          <a:bodyPr anchor="b">
            <a:normAutofit/>
          </a:bodyPr>
          <a:lstStyle/>
          <a:p>
            <a:r>
              <a:rPr lang="tr-TR" dirty="0"/>
              <a:t>Beynimizin görsel işleme merkezidir ve kafatasının en arka kısmında yer alır. Gördüğümüz her şey burada işlenir (ancak sinyal gelmeden önce ve sonra da bazı işlemler gerçekleşir). Görsel uyaranlarla (videolar, görüntüler) yapılan EEG deneyleri genellikle oksipital bölgelerdeki etkilere odaklanır.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442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DDF6B4A-3F2B-4FD2-A0D4-F983A3E34C52}"/>
              </a:ext>
            </a:extLst>
          </p:cNvPr>
          <p:cNvSpPr>
            <a:spLocks noGrp="1"/>
          </p:cNvSpPr>
          <p:nvPr>
            <p:ph type="title"/>
          </p:nvPr>
        </p:nvSpPr>
        <p:spPr>
          <a:xfrm>
            <a:off x="704088" y="914400"/>
            <a:ext cx="10687812" cy="798194"/>
          </a:xfrm>
        </p:spPr>
        <p:txBody>
          <a:bodyPr>
            <a:normAutofit/>
          </a:bodyPr>
          <a:lstStyle/>
          <a:p>
            <a:r>
              <a:rPr lang="tr-TR" b="1" dirty="0" err="1"/>
              <a:t>Parietal</a:t>
            </a:r>
            <a:r>
              <a:rPr lang="tr-TR" b="1" dirty="0"/>
              <a:t> korteks</a:t>
            </a:r>
            <a:endParaRPr lang="tr-TR" dirty="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C1283756-968B-F5E0-C1F7-9451387104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55" y="1869439"/>
            <a:ext cx="5472477" cy="4139625"/>
          </a:xfrm>
          <a:prstGeom prst="rect">
            <a:avLst/>
          </a:prstGeom>
        </p:spPr>
      </p:pic>
      <p:sp>
        <p:nvSpPr>
          <p:cNvPr id="3" name="İçerik Yer Tutucusu 2">
            <a:extLst>
              <a:ext uri="{FF2B5EF4-FFF2-40B4-BE49-F238E27FC236}">
                <a16:creationId xmlns:a16="http://schemas.microsoft.com/office/drawing/2014/main" id="{A66EBF37-9F3C-8328-0D5C-4E9144514515}"/>
              </a:ext>
            </a:extLst>
          </p:cNvPr>
          <p:cNvSpPr>
            <a:spLocks noGrp="1"/>
          </p:cNvSpPr>
          <p:nvPr>
            <p:ph idx="1"/>
          </p:nvPr>
        </p:nvSpPr>
        <p:spPr>
          <a:xfrm>
            <a:off x="7200900" y="1849121"/>
            <a:ext cx="4191001" cy="4139626"/>
          </a:xfrm>
        </p:spPr>
        <p:txBody>
          <a:bodyPr anchor="b">
            <a:normAutofit/>
          </a:bodyPr>
          <a:lstStyle/>
          <a:p>
            <a:pPr>
              <a:lnSpc>
                <a:spcPct val="100000"/>
              </a:lnSpc>
            </a:pPr>
            <a:r>
              <a:rPr lang="tr-TR" sz="1700"/>
              <a:t>Dış kaynaklardan gelen bilgileri ve vücudumuzdan gelen içsel duyusal geri bildirimleri bütünleştirmekle ilgilenir. </a:t>
            </a:r>
            <a:r>
              <a:rPr lang="tr-TR" sz="1700" err="1"/>
              <a:t>Parietal</a:t>
            </a:r>
            <a:r>
              <a:rPr lang="tr-TR" sz="1700"/>
              <a:t> korteks, tüm bu bilgi kaynaklarını, vücudumuzun çevreyle nasıl ilişki kurduğuna ve çevredeki her şeyin (nesneler, insanlar) bizimle </a:t>
            </a:r>
            <a:r>
              <a:rPr lang="tr-TR" sz="1700" err="1"/>
              <a:t>mekansal</a:t>
            </a:r>
            <a:r>
              <a:rPr lang="tr-TR" sz="1700"/>
              <a:t> olarak nasıl ilişki kurduğuna dair tutarlı bir temsile dönüştürmekten sorumludur. Göz veya el hareketleri ile el-göz koordinasyonu gerektiren görevler, </a:t>
            </a:r>
            <a:r>
              <a:rPr lang="tr-TR" sz="1700" err="1"/>
              <a:t>parietal</a:t>
            </a:r>
            <a:r>
              <a:rPr lang="tr-TR" sz="1700"/>
              <a:t> korteks olmadan imkansız olurdu; çünkü </a:t>
            </a:r>
            <a:r>
              <a:rPr lang="tr-TR" sz="1700" err="1"/>
              <a:t>parietal</a:t>
            </a:r>
            <a:r>
              <a:rPr lang="tr-TR" sz="1700"/>
              <a:t> korteks ayrıca kavranacak nesnelerin şeklini, boyutunu ve yönünü işler, depolar ve geri çağırır.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2865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49F8AED-1219-6E96-B62F-8AA3B2C67513}"/>
              </a:ext>
            </a:extLst>
          </p:cNvPr>
          <p:cNvSpPr>
            <a:spLocks noGrp="1"/>
          </p:cNvSpPr>
          <p:nvPr>
            <p:ph type="title"/>
          </p:nvPr>
        </p:nvSpPr>
        <p:spPr>
          <a:xfrm>
            <a:off x="704088" y="914400"/>
            <a:ext cx="10687812" cy="798194"/>
          </a:xfrm>
        </p:spPr>
        <p:txBody>
          <a:bodyPr>
            <a:normAutofit/>
          </a:bodyPr>
          <a:lstStyle/>
          <a:p>
            <a:r>
              <a:rPr lang="tr-TR" b="1" dirty="0"/>
              <a:t>Temporal korteks</a:t>
            </a:r>
            <a:endParaRPr lang="tr-TR" dirty="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68E01054-2937-AF4D-F0A0-E75AA807E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55" y="1869439"/>
            <a:ext cx="5472477" cy="4139625"/>
          </a:xfrm>
          <a:prstGeom prst="rect">
            <a:avLst/>
          </a:prstGeom>
        </p:spPr>
      </p:pic>
      <p:sp>
        <p:nvSpPr>
          <p:cNvPr id="3" name="İçerik Yer Tutucusu 2">
            <a:extLst>
              <a:ext uri="{FF2B5EF4-FFF2-40B4-BE49-F238E27FC236}">
                <a16:creationId xmlns:a16="http://schemas.microsoft.com/office/drawing/2014/main" id="{AF502A81-78D7-2F27-B7D9-2D53412E9942}"/>
              </a:ext>
            </a:extLst>
          </p:cNvPr>
          <p:cNvSpPr>
            <a:spLocks noGrp="1"/>
          </p:cNvSpPr>
          <p:nvPr>
            <p:ph idx="1"/>
          </p:nvPr>
        </p:nvSpPr>
        <p:spPr>
          <a:xfrm>
            <a:off x="7200900" y="1849121"/>
            <a:ext cx="4191001" cy="4139626"/>
          </a:xfrm>
        </p:spPr>
        <p:txBody>
          <a:bodyPr anchor="b">
            <a:normAutofit/>
          </a:bodyPr>
          <a:lstStyle/>
          <a:p>
            <a:r>
              <a:rPr lang="tr-TR" dirty="0"/>
              <a:t>Görsel hafıza, dil ve duygusal çağrışımlar kullanarak duyusal girdileri türetilmiş veya daha yüksek anlamlara dönüştürmeyle ilişkilidir. Sol temporal korteks, yazılı ve sözlü dilin anlaşılmasında rol oynar. </a:t>
            </a:r>
            <a:r>
              <a:rPr lang="tr-TR" dirty="0" err="1"/>
              <a:t>Medial</a:t>
            </a:r>
            <a:r>
              <a:rPr lang="tr-TR" dirty="0"/>
              <a:t> (iç) bölgeler, </a:t>
            </a:r>
            <a:r>
              <a:rPr lang="tr-TR" dirty="0" err="1"/>
              <a:t>mekansal</a:t>
            </a:r>
            <a:r>
              <a:rPr lang="tr-TR" dirty="0"/>
              <a:t> navigasyon sırasında daha aktiftir.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534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7962894-E380-62FA-BB10-C676044E68DE}"/>
              </a:ext>
            </a:extLst>
          </p:cNvPr>
          <p:cNvSpPr>
            <a:spLocks noGrp="1"/>
          </p:cNvSpPr>
          <p:nvPr>
            <p:ph type="title"/>
          </p:nvPr>
        </p:nvSpPr>
        <p:spPr>
          <a:xfrm>
            <a:off x="704088" y="914400"/>
            <a:ext cx="10687812" cy="798194"/>
          </a:xfrm>
        </p:spPr>
        <p:txBody>
          <a:bodyPr>
            <a:normAutofit/>
          </a:bodyPr>
          <a:lstStyle/>
          <a:p>
            <a:r>
              <a:rPr lang="tr-TR" b="1" dirty="0"/>
              <a:t>Ön korteks</a:t>
            </a:r>
            <a:endParaRPr lang="tr-TR" dirty="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711AA3A6-6810-DC50-057F-4FF2B938D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55" y="1869439"/>
            <a:ext cx="5472477" cy="4139625"/>
          </a:xfrm>
          <a:prstGeom prst="rect">
            <a:avLst/>
          </a:prstGeom>
        </p:spPr>
      </p:pic>
      <p:sp>
        <p:nvSpPr>
          <p:cNvPr id="3" name="İçerik Yer Tutucusu 2">
            <a:extLst>
              <a:ext uri="{FF2B5EF4-FFF2-40B4-BE49-F238E27FC236}">
                <a16:creationId xmlns:a16="http://schemas.microsoft.com/office/drawing/2014/main" id="{B882477C-922E-2A8F-2670-2B9626475048}"/>
              </a:ext>
            </a:extLst>
          </p:cNvPr>
          <p:cNvSpPr>
            <a:spLocks noGrp="1"/>
          </p:cNvSpPr>
          <p:nvPr>
            <p:ph idx="1"/>
          </p:nvPr>
        </p:nvSpPr>
        <p:spPr>
          <a:xfrm>
            <a:off x="7200900" y="1849121"/>
            <a:ext cx="4191001" cy="4139626"/>
          </a:xfrm>
        </p:spPr>
        <p:txBody>
          <a:bodyPr anchor="b">
            <a:normAutofit/>
          </a:bodyPr>
          <a:lstStyle/>
          <a:p>
            <a:pPr>
              <a:lnSpc>
                <a:spcPct val="100000"/>
              </a:lnSpc>
            </a:pPr>
            <a:r>
              <a:rPr lang="tr-TR" sz="1900"/>
              <a:t>İnsan beyninin ön kısmı, diğer memelilerin çoğuna kıyasla daha büyüktür. Temelde, ön korteks tamamen yürütücü işlevlerle ilgilidir : kontrolü sağlamamıza, geleceği planlamamıza ve davranışlarımızı izlememize yardımcı olur. Belirli elektriksel aktivitenin nereden kaynaklandığına dair bölgesel özelliklerin yanı sıra, devam eden aktiviteyi öncelikle hangi frekansların yönlendirdiğini de analiz edebilirsiniz.</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75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A36A7FC-F7C2-ACF5-1E23-B0EFBB91BCCA}"/>
              </a:ext>
            </a:extLst>
          </p:cNvPr>
          <p:cNvSpPr>
            <a:spLocks noGrp="1"/>
          </p:cNvSpPr>
          <p:nvPr>
            <p:ph type="title"/>
          </p:nvPr>
        </p:nvSpPr>
        <p:spPr>
          <a:xfrm>
            <a:off x="704088" y="914400"/>
            <a:ext cx="10687812" cy="798194"/>
          </a:xfrm>
        </p:spPr>
        <p:txBody>
          <a:bodyPr>
            <a:normAutofit/>
          </a:bodyPr>
          <a:lstStyle/>
          <a:p>
            <a:r>
              <a:rPr lang="tr-TR" b="1" dirty="0"/>
              <a:t>EEG DALGALARI</a:t>
            </a:r>
            <a:endParaRPr lang="tr-TR" dirty="0"/>
          </a:p>
        </p:txBody>
      </p:sp>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Resim 7">
            <a:extLst>
              <a:ext uri="{FF2B5EF4-FFF2-40B4-BE49-F238E27FC236}">
                <a16:creationId xmlns:a16="http://schemas.microsoft.com/office/drawing/2014/main" id="{2DE61B70-C5F1-8694-4A25-280B4EBFAB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2593459"/>
            <a:ext cx="6072188" cy="3415605"/>
          </a:xfrm>
          <a:prstGeom prst="rect">
            <a:avLst/>
          </a:prstGeom>
        </p:spPr>
      </p:pic>
      <p:sp>
        <p:nvSpPr>
          <p:cNvPr id="3" name="İçerik Yer Tutucusu 2">
            <a:extLst>
              <a:ext uri="{FF2B5EF4-FFF2-40B4-BE49-F238E27FC236}">
                <a16:creationId xmlns:a16="http://schemas.microsoft.com/office/drawing/2014/main" id="{A822F22B-CE23-6B0D-0B9F-5B7E3B1AFF0A}"/>
              </a:ext>
            </a:extLst>
          </p:cNvPr>
          <p:cNvSpPr>
            <a:spLocks noGrp="1"/>
          </p:cNvSpPr>
          <p:nvPr>
            <p:ph idx="1"/>
          </p:nvPr>
        </p:nvSpPr>
        <p:spPr>
          <a:xfrm>
            <a:off x="7200900" y="1849121"/>
            <a:ext cx="4191001" cy="4139626"/>
          </a:xfrm>
        </p:spPr>
        <p:txBody>
          <a:bodyPr anchor="b">
            <a:normAutofit fontScale="92500" lnSpcReduction="20000"/>
          </a:bodyPr>
          <a:lstStyle/>
          <a:p>
            <a:pPr>
              <a:lnSpc>
                <a:spcPct val="100000"/>
              </a:lnSpc>
            </a:pPr>
            <a:r>
              <a:rPr lang="tr-TR" dirty="0"/>
              <a:t>Normal EEG (</a:t>
            </a:r>
            <a:r>
              <a:rPr lang="tr-TR" dirty="0" err="1"/>
              <a:t>Elektroensefalogram</a:t>
            </a:r>
            <a:r>
              <a:rPr lang="tr-TR" dirty="0"/>
              <a:t>) dalgaları, EEG ekipmanı kullanılarak kaydedildiğinde beyin aktivitesinde gözlemlenen karakteristik elektriksel kalıplardır.</a:t>
            </a:r>
          </a:p>
          <a:p>
            <a:pPr>
              <a:lnSpc>
                <a:spcPct val="100000"/>
              </a:lnSpc>
            </a:pPr>
            <a:r>
              <a:rPr lang="tr-TR" dirty="0"/>
              <a:t>Bu dalga kalıpları, bir bireyin uyanıklık, rahatlama veya uyku durumu hakkında önemli bilgiler sağlayabilir. </a:t>
            </a:r>
          </a:p>
          <a:p>
            <a:pPr>
              <a:lnSpc>
                <a:spcPct val="100000"/>
              </a:lnSpc>
            </a:pPr>
            <a:r>
              <a:rPr lang="tr-TR" dirty="0"/>
              <a:t>Normal EEG dalgalarını tanımak, klinik ve araştırma ortamlarında çok önemlidir, çünkü bunlar belirli uyaranlara, durumlara veya hastalıklara bağlı anormallikleri veya değişiklikleri tespit etmek için bir temel oluşturur.</a:t>
            </a:r>
            <a:endParaRPr lang="tr-TR" sz="1300" dirty="0"/>
          </a:p>
        </p:txBody>
      </p:sp>
      <p:cxnSp>
        <p:nvCxnSpPr>
          <p:cNvPr id="17" name="Straight Connector 16">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754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509BD1-4391-A1F8-7220-FB17CDF0F208}"/>
              </a:ext>
            </a:extLst>
          </p:cNvPr>
          <p:cNvSpPr>
            <a:spLocks noGrp="1"/>
          </p:cNvSpPr>
          <p:nvPr>
            <p:ph type="title"/>
          </p:nvPr>
        </p:nvSpPr>
        <p:spPr>
          <a:xfrm>
            <a:off x="700088" y="909637"/>
            <a:ext cx="5958216" cy="1316736"/>
          </a:xfrm>
        </p:spPr>
        <p:txBody>
          <a:bodyPr>
            <a:normAutofit/>
          </a:bodyPr>
          <a:lstStyle/>
          <a:p>
            <a:r>
              <a:rPr lang="tr-TR" b="1" dirty="0"/>
              <a:t>Delta Dalgaları</a:t>
            </a:r>
            <a:endParaRPr lang="tr-TR" dirty="0"/>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B9A37A8E-5967-CEAA-BD3E-026E515BEC19}"/>
              </a:ext>
            </a:extLst>
          </p:cNvPr>
          <p:cNvSpPr>
            <a:spLocks noGrp="1"/>
          </p:cNvSpPr>
          <p:nvPr>
            <p:ph idx="1"/>
          </p:nvPr>
        </p:nvSpPr>
        <p:spPr>
          <a:xfrm>
            <a:off x="700088" y="2235251"/>
            <a:ext cx="5958216" cy="3713109"/>
          </a:xfrm>
        </p:spPr>
        <p:txBody>
          <a:bodyPr>
            <a:normAutofit/>
          </a:bodyPr>
          <a:lstStyle/>
          <a:p>
            <a:pPr>
              <a:lnSpc>
                <a:spcPct val="100000"/>
              </a:lnSpc>
            </a:pPr>
            <a:r>
              <a:rPr lang="tr-TR" sz="1700" b="1" dirty="0"/>
              <a:t>Tanım:</a:t>
            </a:r>
            <a:r>
              <a:rPr lang="tr-TR" sz="1700" dirty="0"/>
              <a:t> Bunlar, frekansı 4 </a:t>
            </a:r>
            <a:r>
              <a:rPr lang="tr-TR" sz="1700" dirty="0" err="1"/>
              <a:t>Hz'ye</a:t>
            </a:r>
            <a:r>
              <a:rPr lang="tr-TR" sz="1700" dirty="0"/>
              <a:t> kadar olan en yavaş EEG dalgalarıdır.</a:t>
            </a:r>
          </a:p>
          <a:p>
            <a:pPr>
              <a:lnSpc>
                <a:spcPct val="100000"/>
              </a:lnSpc>
            </a:pPr>
            <a:r>
              <a:rPr lang="tr-TR" sz="1700" b="1" dirty="0"/>
              <a:t>Önem:</a:t>
            </a:r>
            <a:r>
              <a:rPr lang="tr-TR" sz="1700" dirty="0"/>
              <a:t> Delta dalgaları tipik olarak derin, rüyasız uykuda, özellikle bebeklerde ve küçük çocuklarda görülür. Uyanık yetişkinlerde bulunmaları beyin patolojisine işaret edebilir.</a:t>
            </a:r>
          </a:p>
          <a:p>
            <a:pPr>
              <a:lnSpc>
                <a:spcPct val="100000"/>
              </a:lnSpc>
            </a:pPr>
            <a:r>
              <a:rPr lang="tr-TR" sz="1700" dirty="0"/>
              <a:t>Uyku laboratuvarlarında, uyku derinliğini değerlendirmek için delta dalgaları incelenir. Delta ritmi ne kadar güçlü olursa, uyku o kadar derin olur. Artan delta gücünün (artan delta dalgası kayıt miktarı) ayrıca içsel çalışma belleği görevlerine daha fazla odaklanmayla ilişkili olduğu bulunmuştur</a:t>
            </a:r>
          </a:p>
          <a:p>
            <a:pPr>
              <a:lnSpc>
                <a:spcPct val="100000"/>
              </a:lnSpc>
            </a:pPr>
            <a:endParaRPr lang="tr-TR" sz="1700" dirty="0"/>
          </a:p>
        </p:txBody>
      </p:sp>
      <p:pic>
        <p:nvPicPr>
          <p:cNvPr id="4" name="Resim 3">
            <a:extLst>
              <a:ext uri="{FF2B5EF4-FFF2-40B4-BE49-F238E27FC236}">
                <a16:creationId xmlns:a16="http://schemas.microsoft.com/office/drawing/2014/main" id="{A4452F0B-3757-977B-E40E-4898A0154F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871162"/>
            <a:ext cx="4076700" cy="2293143"/>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Resim 5">
            <a:extLst>
              <a:ext uri="{FF2B5EF4-FFF2-40B4-BE49-F238E27FC236}">
                <a16:creationId xmlns:a16="http://schemas.microsoft.com/office/drawing/2014/main" id="{663358A2-D015-BC69-78E7-3927F370E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974642"/>
            <a:ext cx="4076700" cy="1791956"/>
          </a:xfrm>
          <a:prstGeom prst="rect">
            <a:avLst/>
          </a:prstGeom>
        </p:spPr>
      </p:pic>
    </p:spTree>
    <p:extLst>
      <p:ext uri="{BB962C8B-B14F-4D97-AF65-F5344CB8AC3E}">
        <p14:creationId xmlns:p14="http://schemas.microsoft.com/office/powerpoint/2010/main" val="2654863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00DC98B-30F2-1803-0704-00624123F592}"/>
              </a:ext>
            </a:extLst>
          </p:cNvPr>
          <p:cNvSpPr>
            <a:spLocks noGrp="1"/>
          </p:cNvSpPr>
          <p:nvPr>
            <p:ph type="title"/>
          </p:nvPr>
        </p:nvSpPr>
        <p:spPr>
          <a:xfrm>
            <a:off x="700088" y="909637"/>
            <a:ext cx="5958216" cy="1316736"/>
          </a:xfrm>
        </p:spPr>
        <p:txBody>
          <a:bodyPr>
            <a:normAutofit/>
          </a:bodyPr>
          <a:lstStyle/>
          <a:p>
            <a:pPr>
              <a:lnSpc>
                <a:spcPct val="90000"/>
              </a:lnSpc>
            </a:pPr>
            <a:r>
              <a:rPr lang="tr-TR" sz="2800" b="1"/>
              <a:t>Teta Dalgaları</a:t>
            </a:r>
            <a:br>
              <a:rPr lang="tr-TR" sz="2800" b="1"/>
            </a:br>
            <a:br>
              <a:rPr lang="tr-TR" sz="2800"/>
            </a:br>
            <a:endParaRPr lang="tr-TR" sz="2800"/>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0AEC5F2E-3C96-7B7E-56A9-77713FE66821}"/>
              </a:ext>
            </a:extLst>
          </p:cNvPr>
          <p:cNvSpPr>
            <a:spLocks noGrp="1"/>
          </p:cNvSpPr>
          <p:nvPr>
            <p:ph idx="1"/>
          </p:nvPr>
        </p:nvSpPr>
        <p:spPr>
          <a:xfrm>
            <a:off x="700088" y="2235251"/>
            <a:ext cx="5958216" cy="3713109"/>
          </a:xfrm>
        </p:spPr>
        <p:txBody>
          <a:bodyPr>
            <a:normAutofit/>
          </a:bodyPr>
          <a:lstStyle/>
          <a:p>
            <a:pPr>
              <a:lnSpc>
                <a:spcPct val="100000"/>
              </a:lnSpc>
            </a:pPr>
            <a:r>
              <a:rPr lang="tr-TR" sz="1700" b="1"/>
              <a:t>Tanım:</a:t>
            </a:r>
            <a:r>
              <a:rPr lang="tr-TR" sz="1700"/>
              <a:t> Teta dalgalarının frekans aralığı 4-8 </a:t>
            </a:r>
            <a:r>
              <a:rPr lang="tr-TR" sz="1700" err="1"/>
              <a:t>Hz'dir</a:t>
            </a:r>
            <a:r>
              <a:rPr lang="tr-TR" sz="1700"/>
              <a:t>.</a:t>
            </a:r>
          </a:p>
          <a:p>
            <a:pPr>
              <a:lnSpc>
                <a:spcPct val="100000"/>
              </a:lnSpc>
            </a:pPr>
            <a:r>
              <a:rPr lang="tr-TR" sz="1700" b="1"/>
              <a:t>Önemi:</a:t>
            </a:r>
            <a:r>
              <a:rPr lang="tr-TR" sz="1700"/>
              <a:t> Genellikle çocuklarda ve uykulu yetişkinlerde gözlemlenen bu dalgalar, derin meditasyon sırasında veya hafif uykuya dalarken en belirgindir. Delta dalgaları gibi, yetişkinlerde uyanıklık sırasında belirgin teta aktivitesi de nörolojik sorunların göstergesi olabilir.</a:t>
            </a:r>
          </a:p>
          <a:p>
            <a:pPr>
              <a:lnSpc>
                <a:spcPct val="100000"/>
              </a:lnSpc>
            </a:pPr>
            <a:r>
              <a:rPr lang="tr-TR" sz="1700"/>
              <a:t>Hafıza kodlama ve geri çağırma gibi çok çeşitli bilişsel işlemlerle ve bilişsel iş yüküyle ilişkilidir . Ne zaman zorlu görevlerle karşı karşıya kalsak (örneğin 100'den geriye doğru 7'şer adımlarla saymak veya işten eve dönüş yolunu hatırlamak gibi), teta dalgaları daha belirgin hale gelir. Teta ayrıca artan yorgunluk seviyeleriyle de ilişkilidir</a:t>
            </a:r>
          </a:p>
          <a:p>
            <a:pPr>
              <a:lnSpc>
                <a:spcPct val="100000"/>
              </a:lnSpc>
            </a:pPr>
            <a:endParaRPr lang="tr-TR" sz="1700"/>
          </a:p>
        </p:txBody>
      </p:sp>
      <p:pic>
        <p:nvPicPr>
          <p:cNvPr id="4" name="Resim 3">
            <a:extLst>
              <a:ext uri="{FF2B5EF4-FFF2-40B4-BE49-F238E27FC236}">
                <a16:creationId xmlns:a16="http://schemas.microsoft.com/office/drawing/2014/main" id="{9DAD2C8A-B8A9-751A-95A7-A855DA321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871162"/>
            <a:ext cx="4076700" cy="2293143"/>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Resim 5">
            <a:extLst>
              <a:ext uri="{FF2B5EF4-FFF2-40B4-BE49-F238E27FC236}">
                <a16:creationId xmlns:a16="http://schemas.microsoft.com/office/drawing/2014/main" id="{0D3E9D98-D2AA-50D4-F5BA-F4CBF7034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974642"/>
            <a:ext cx="4076700" cy="1791956"/>
          </a:xfrm>
          <a:prstGeom prst="rect">
            <a:avLst/>
          </a:prstGeom>
        </p:spPr>
      </p:pic>
    </p:spTree>
    <p:extLst>
      <p:ext uri="{BB962C8B-B14F-4D97-AF65-F5344CB8AC3E}">
        <p14:creationId xmlns:p14="http://schemas.microsoft.com/office/powerpoint/2010/main" val="981671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8E96BA1-BB84-1862-5BFE-19F01A983B9C}"/>
              </a:ext>
            </a:extLst>
          </p:cNvPr>
          <p:cNvSpPr>
            <a:spLocks noGrp="1"/>
          </p:cNvSpPr>
          <p:nvPr>
            <p:ph type="title"/>
          </p:nvPr>
        </p:nvSpPr>
        <p:spPr>
          <a:xfrm>
            <a:off x="700088" y="909637"/>
            <a:ext cx="5958216" cy="1316736"/>
          </a:xfrm>
        </p:spPr>
        <p:txBody>
          <a:bodyPr>
            <a:normAutofit/>
          </a:bodyPr>
          <a:lstStyle/>
          <a:p>
            <a:pPr>
              <a:lnSpc>
                <a:spcPct val="90000"/>
              </a:lnSpc>
            </a:pPr>
            <a:r>
              <a:rPr lang="tr-TR" sz="2800" b="1"/>
              <a:t>Alfa Dalgaları</a:t>
            </a:r>
            <a:br>
              <a:rPr lang="tr-TR" sz="2800" b="1"/>
            </a:br>
            <a:br>
              <a:rPr lang="tr-TR" sz="2800"/>
            </a:br>
            <a:endParaRPr lang="tr-TR" sz="2800"/>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2A41581C-A599-7E75-9336-90EE3F4C22A2}"/>
              </a:ext>
            </a:extLst>
          </p:cNvPr>
          <p:cNvSpPr>
            <a:spLocks noGrp="1"/>
          </p:cNvSpPr>
          <p:nvPr>
            <p:ph idx="1"/>
          </p:nvPr>
        </p:nvSpPr>
        <p:spPr>
          <a:xfrm>
            <a:off x="700088" y="2235251"/>
            <a:ext cx="5958216" cy="3713109"/>
          </a:xfrm>
        </p:spPr>
        <p:txBody>
          <a:bodyPr>
            <a:normAutofit/>
          </a:bodyPr>
          <a:lstStyle/>
          <a:p>
            <a:pPr>
              <a:lnSpc>
                <a:spcPct val="100000"/>
              </a:lnSpc>
            </a:pPr>
            <a:r>
              <a:rPr lang="tr-TR" sz="1700" b="1" dirty="0"/>
              <a:t>Tanım:</a:t>
            </a:r>
            <a:r>
              <a:rPr lang="tr-TR" sz="1700" dirty="0"/>
              <a:t> Bu dalgaların frekans aralığı 8-13 </a:t>
            </a:r>
            <a:r>
              <a:rPr lang="tr-TR" sz="1700" dirty="0" err="1"/>
              <a:t>Hz'dir</a:t>
            </a:r>
            <a:r>
              <a:rPr lang="tr-TR" sz="1700" dirty="0"/>
              <a:t>.</a:t>
            </a:r>
          </a:p>
          <a:p>
            <a:pPr>
              <a:lnSpc>
                <a:spcPct val="100000"/>
              </a:lnSpc>
            </a:pPr>
            <a:r>
              <a:rPr lang="tr-TR" sz="1700" b="1" dirty="0"/>
              <a:t>Önem:</a:t>
            </a:r>
            <a:r>
              <a:rPr lang="tr-TR" sz="1700" dirty="0"/>
              <a:t> Alfa dalgaları genellikle kişi rahat ve sakin bir haldeyken, ancak tetikteyken ortaya çıkar. Kişi hayal kurarken veya zihninin pasif bir şekilde dolaşmasına izin verirken en belirgindirler. Kişinin dinlenme halindeyken bu dalgaların yokluğu, bir beyin bozukluğunun göstergesi olabilir.</a:t>
            </a:r>
          </a:p>
          <a:p>
            <a:pPr>
              <a:lnSpc>
                <a:spcPct val="100000"/>
              </a:lnSpc>
            </a:pPr>
            <a:r>
              <a:rPr lang="tr-TR" sz="1700" dirty="0"/>
              <a:t>Gözlerimizi kapatıp kendimizi sakin bir duruma getirdiğimizde, alfa dalgaları devreye girer. Rahat bir uyanıklık halindeyken alfa seviyeleri artar. </a:t>
            </a:r>
            <a:r>
              <a:rPr lang="tr-TR" sz="1700" dirty="0" err="1"/>
              <a:t>Biyogeribildirim</a:t>
            </a:r>
            <a:r>
              <a:rPr lang="tr-TR" sz="1700" dirty="0"/>
              <a:t> eğitimi genellikle gevşemeyi izlemek için alfa dalgalarını kullanır. Ayrıca inhibisyon ve dikkatle de bağlantılıdırlar.</a:t>
            </a:r>
          </a:p>
          <a:p>
            <a:pPr>
              <a:lnSpc>
                <a:spcPct val="100000"/>
              </a:lnSpc>
            </a:pPr>
            <a:endParaRPr lang="tr-TR" sz="1700" dirty="0"/>
          </a:p>
        </p:txBody>
      </p:sp>
      <p:pic>
        <p:nvPicPr>
          <p:cNvPr id="4" name="Resim 3">
            <a:extLst>
              <a:ext uri="{FF2B5EF4-FFF2-40B4-BE49-F238E27FC236}">
                <a16:creationId xmlns:a16="http://schemas.microsoft.com/office/drawing/2014/main" id="{149FBA4A-5D2F-CE2D-D60D-646F9EA9B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871162"/>
            <a:ext cx="4076700" cy="2293143"/>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Resim 5">
            <a:extLst>
              <a:ext uri="{FF2B5EF4-FFF2-40B4-BE49-F238E27FC236}">
                <a16:creationId xmlns:a16="http://schemas.microsoft.com/office/drawing/2014/main" id="{B047F042-47EA-3A35-AE94-1781C6717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974642"/>
            <a:ext cx="4076700" cy="1791956"/>
          </a:xfrm>
          <a:prstGeom prst="rect">
            <a:avLst/>
          </a:prstGeom>
        </p:spPr>
      </p:pic>
    </p:spTree>
    <p:extLst>
      <p:ext uri="{BB962C8B-B14F-4D97-AF65-F5344CB8AC3E}">
        <p14:creationId xmlns:p14="http://schemas.microsoft.com/office/powerpoint/2010/main" val="1663332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9BD65DA-B9FD-1C15-930A-93314CDE3E4A}"/>
              </a:ext>
            </a:extLst>
          </p:cNvPr>
          <p:cNvSpPr>
            <a:spLocks noGrp="1"/>
          </p:cNvSpPr>
          <p:nvPr>
            <p:ph type="title"/>
          </p:nvPr>
        </p:nvSpPr>
        <p:spPr>
          <a:xfrm>
            <a:off x="700088" y="909637"/>
            <a:ext cx="5958216" cy="1316736"/>
          </a:xfrm>
        </p:spPr>
        <p:txBody>
          <a:bodyPr>
            <a:normAutofit/>
          </a:bodyPr>
          <a:lstStyle/>
          <a:p>
            <a:pPr>
              <a:lnSpc>
                <a:spcPct val="90000"/>
              </a:lnSpc>
            </a:pPr>
            <a:r>
              <a:rPr lang="tr-TR" sz="2800" b="1"/>
              <a:t>Beta Dalgaları</a:t>
            </a:r>
            <a:br>
              <a:rPr lang="tr-TR" sz="2800" b="1"/>
            </a:br>
            <a:br>
              <a:rPr lang="tr-TR" sz="2800"/>
            </a:br>
            <a:endParaRPr lang="tr-TR" sz="2800"/>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02B62A99-DD7B-1695-8114-A9FB31D10C39}"/>
              </a:ext>
            </a:extLst>
          </p:cNvPr>
          <p:cNvSpPr>
            <a:spLocks noGrp="1"/>
          </p:cNvSpPr>
          <p:nvPr>
            <p:ph idx="1"/>
          </p:nvPr>
        </p:nvSpPr>
        <p:spPr>
          <a:xfrm>
            <a:off x="700088" y="2235251"/>
            <a:ext cx="5958216" cy="3713109"/>
          </a:xfrm>
        </p:spPr>
        <p:txBody>
          <a:bodyPr>
            <a:normAutofit/>
          </a:bodyPr>
          <a:lstStyle/>
          <a:p>
            <a:pPr>
              <a:lnSpc>
                <a:spcPct val="100000"/>
              </a:lnSpc>
            </a:pPr>
            <a:r>
              <a:rPr lang="tr-TR" sz="1600" b="1"/>
              <a:t>Tanım:</a:t>
            </a:r>
            <a:r>
              <a:rPr lang="tr-TR" sz="1600"/>
              <a:t> Bunlar, frekans aralığı 13-30 Hz olan daha hızlı dalgalardır.</a:t>
            </a:r>
          </a:p>
          <a:p>
            <a:pPr>
              <a:lnSpc>
                <a:spcPct val="100000"/>
              </a:lnSpc>
            </a:pPr>
            <a:r>
              <a:rPr lang="tr-TR" sz="1600" b="1"/>
              <a:t>Önemi:</a:t>
            </a:r>
            <a:r>
              <a:rPr lang="tr-TR" sz="1600"/>
              <a:t> Beta dalgaları aktif, analitik düşünceyle ilişkilidir. Kişi uyanık, dikkatli olduğunda veya problem çözme, karar verme veya odaklanmış zihinsel aktiviteyle meşgul olduğunda daha belirgin hale gelirler.</a:t>
            </a:r>
          </a:p>
          <a:p>
            <a:pPr>
              <a:lnSpc>
                <a:spcPct val="100000"/>
              </a:lnSpc>
            </a:pPr>
            <a:r>
              <a:rPr lang="tr-TR" sz="1600"/>
              <a:t>Motor bölgelerde, herhangi bir vücut parçasının hareketlerini planlarken veya gerçekleştirirken beta frekansları güçlenir. İlginç bir şekilde, </a:t>
            </a:r>
            <a:r>
              <a:rPr lang="tr-TR" sz="1600" err="1"/>
              <a:t>beta'daki</a:t>
            </a:r>
            <a:r>
              <a:rPr lang="tr-TR" sz="1600"/>
              <a:t> bu artış, diğer insanların vücut hareketlerini gözlemlediğimizde de fark edilir. Beynimiz, onların uzuv hareketlerini taklit ediyor gibi görünüyor; bu da beynimizde beta frekansları tarafından koordine edilen karmaşık bir "ayna nöron sistemi" olduğunu gösteriyor.</a:t>
            </a:r>
          </a:p>
          <a:p>
            <a:pPr>
              <a:lnSpc>
                <a:spcPct val="100000"/>
              </a:lnSpc>
            </a:pPr>
            <a:endParaRPr lang="tr-TR" sz="1600"/>
          </a:p>
        </p:txBody>
      </p:sp>
      <p:pic>
        <p:nvPicPr>
          <p:cNvPr id="4" name="Resim 3">
            <a:extLst>
              <a:ext uri="{FF2B5EF4-FFF2-40B4-BE49-F238E27FC236}">
                <a16:creationId xmlns:a16="http://schemas.microsoft.com/office/drawing/2014/main" id="{99A21769-5AFA-9D21-4D07-0A62F23652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871162"/>
            <a:ext cx="4076700" cy="2293143"/>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Resim 5">
            <a:extLst>
              <a:ext uri="{FF2B5EF4-FFF2-40B4-BE49-F238E27FC236}">
                <a16:creationId xmlns:a16="http://schemas.microsoft.com/office/drawing/2014/main" id="{6E5C071C-C123-0D00-90FC-4F2753577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974642"/>
            <a:ext cx="4076700" cy="1791956"/>
          </a:xfrm>
          <a:prstGeom prst="rect">
            <a:avLst/>
          </a:prstGeom>
        </p:spPr>
      </p:pic>
    </p:spTree>
    <p:extLst>
      <p:ext uri="{BB962C8B-B14F-4D97-AF65-F5344CB8AC3E}">
        <p14:creationId xmlns:p14="http://schemas.microsoft.com/office/powerpoint/2010/main" val="309857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C5E7678-A814-8973-613A-1A2C9C12EF98}"/>
              </a:ext>
            </a:extLst>
          </p:cNvPr>
          <p:cNvSpPr>
            <a:spLocks noGrp="1"/>
          </p:cNvSpPr>
          <p:nvPr>
            <p:ph type="title"/>
          </p:nvPr>
        </p:nvSpPr>
        <p:spPr>
          <a:xfrm>
            <a:off x="700088" y="909637"/>
            <a:ext cx="5958216" cy="1316736"/>
          </a:xfrm>
        </p:spPr>
        <p:txBody>
          <a:bodyPr>
            <a:normAutofit/>
          </a:bodyPr>
          <a:lstStyle/>
          <a:p>
            <a:pPr>
              <a:lnSpc>
                <a:spcPct val="90000"/>
              </a:lnSpc>
            </a:pPr>
            <a:r>
              <a:rPr lang="tr-TR" sz="2800" b="1"/>
              <a:t>Gama Dalgaları</a:t>
            </a:r>
            <a:br>
              <a:rPr lang="tr-TR" sz="2800" b="1"/>
            </a:br>
            <a:br>
              <a:rPr lang="tr-TR" sz="2800"/>
            </a:br>
            <a:endParaRPr lang="tr-TR" sz="2800"/>
          </a:p>
        </p:txBody>
      </p:sp>
      <p:cxnSp>
        <p:nvCxnSpPr>
          <p:cNvPr id="21" name="Straight Connector 20">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8E32B60C-D682-9E52-DEE6-D90EE38081E8}"/>
              </a:ext>
            </a:extLst>
          </p:cNvPr>
          <p:cNvSpPr>
            <a:spLocks noGrp="1"/>
          </p:cNvSpPr>
          <p:nvPr>
            <p:ph idx="1"/>
          </p:nvPr>
        </p:nvSpPr>
        <p:spPr>
          <a:xfrm>
            <a:off x="700088" y="2235251"/>
            <a:ext cx="5958216" cy="3713109"/>
          </a:xfrm>
        </p:spPr>
        <p:txBody>
          <a:bodyPr>
            <a:normAutofit/>
          </a:bodyPr>
          <a:lstStyle/>
          <a:p>
            <a:pPr>
              <a:lnSpc>
                <a:spcPct val="100000"/>
              </a:lnSpc>
            </a:pPr>
            <a:r>
              <a:rPr lang="tr-TR" sz="1700" b="1" dirty="0"/>
              <a:t>Tanım:</a:t>
            </a:r>
            <a:r>
              <a:rPr lang="tr-TR" sz="1700" dirty="0"/>
              <a:t> Bunlar, frekansları 30 </a:t>
            </a:r>
            <a:r>
              <a:rPr lang="tr-TR" sz="1700" dirty="0" err="1"/>
              <a:t>Hz'nin</a:t>
            </a:r>
            <a:r>
              <a:rPr lang="tr-TR" sz="1700" dirty="0"/>
              <a:t> üzerinde olan en hızlı EEG dalgalarıdır.</a:t>
            </a:r>
          </a:p>
          <a:p>
            <a:pPr>
              <a:lnSpc>
                <a:spcPct val="100000"/>
              </a:lnSpc>
            </a:pPr>
            <a:r>
              <a:rPr lang="tr-TR" sz="1700" b="1" dirty="0"/>
              <a:t>Önem:</a:t>
            </a:r>
            <a:r>
              <a:rPr lang="tr-TR" sz="1700" dirty="0"/>
              <a:t> Gama dalgaları, üst düzey işlemleme görevleri ve bilişsel işlevlerle ilişkilidir. Algılama, bilinç ve hafıza hatırlama gibi çeşitli işlevlerde rol oynarlar.</a:t>
            </a:r>
          </a:p>
          <a:p>
            <a:pPr>
              <a:lnSpc>
                <a:spcPct val="100000"/>
              </a:lnSpc>
            </a:pPr>
            <a:r>
              <a:rPr lang="tr-TR" sz="1700" dirty="0"/>
              <a:t>Bazı araştırmacılar </a:t>
            </a:r>
            <a:r>
              <a:rPr lang="tr-TR" sz="1700" dirty="0" err="1"/>
              <a:t>gama'nın</a:t>
            </a:r>
            <a:r>
              <a:rPr lang="tr-TR" sz="1700" dirty="0"/>
              <a:t> dikkatli odaklanmayı yansıttığını ve beyin bölgeleri arasında veri alışverişini kolaylaştırmak için taşıyıcı frekans görevi gördüğünü savunmaktadır. Diğerleri ise </a:t>
            </a:r>
            <a:r>
              <a:rPr lang="tr-TR" sz="1700" dirty="0" err="1"/>
              <a:t>gama'yı</a:t>
            </a:r>
            <a:r>
              <a:rPr lang="tr-TR" sz="1700" dirty="0"/>
              <a:t>, duyusal işleme ve bilgi alımı için ayrılmaz parçalar olarak kabul edilen mikro-</a:t>
            </a:r>
            <a:r>
              <a:rPr lang="tr-TR" sz="1700" dirty="0" err="1"/>
              <a:t>sakkadlar</a:t>
            </a:r>
            <a:r>
              <a:rPr lang="tr-TR" sz="1700" dirty="0"/>
              <a:t> olarak adlandırılan hızlı göz hareketleriyle ilişkilendirmektedir</a:t>
            </a:r>
          </a:p>
          <a:p>
            <a:pPr>
              <a:lnSpc>
                <a:spcPct val="100000"/>
              </a:lnSpc>
            </a:pPr>
            <a:endParaRPr lang="tr-TR" sz="1700" dirty="0"/>
          </a:p>
        </p:txBody>
      </p:sp>
      <p:pic>
        <p:nvPicPr>
          <p:cNvPr id="5" name="Resim 4">
            <a:extLst>
              <a:ext uri="{FF2B5EF4-FFF2-40B4-BE49-F238E27FC236}">
                <a16:creationId xmlns:a16="http://schemas.microsoft.com/office/drawing/2014/main" id="{F2CA3A83-F758-1FE9-5306-4F1DD36A1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871162"/>
            <a:ext cx="4076700" cy="2293143"/>
          </a:xfrm>
          <a:prstGeom prst="rect">
            <a:avLst/>
          </a:prstGeom>
        </p:spPr>
      </p:pic>
      <p:cxnSp>
        <p:nvCxnSpPr>
          <p:cNvPr id="23" name="Straight Connector 22">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Resim 6">
            <a:extLst>
              <a:ext uri="{FF2B5EF4-FFF2-40B4-BE49-F238E27FC236}">
                <a16:creationId xmlns:a16="http://schemas.microsoft.com/office/drawing/2014/main" id="{64126FD5-EE29-87A8-76E9-8D08A897A0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974642"/>
            <a:ext cx="4076700" cy="1791956"/>
          </a:xfrm>
          <a:prstGeom prst="rect">
            <a:avLst/>
          </a:prstGeom>
        </p:spPr>
      </p:pic>
    </p:spTree>
    <p:extLst>
      <p:ext uri="{BB962C8B-B14F-4D97-AF65-F5344CB8AC3E}">
        <p14:creationId xmlns:p14="http://schemas.microsoft.com/office/powerpoint/2010/main" val="106189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73AD798-6ABC-67AB-6E88-5A29AEFD1CB4}"/>
              </a:ext>
            </a:extLst>
          </p:cNvPr>
          <p:cNvSpPr>
            <a:spLocks noGrp="1"/>
          </p:cNvSpPr>
          <p:nvPr>
            <p:ph type="title"/>
          </p:nvPr>
        </p:nvSpPr>
        <p:spPr>
          <a:xfrm>
            <a:off x="704088" y="914400"/>
            <a:ext cx="10687812" cy="798194"/>
          </a:xfrm>
        </p:spPr>
        <p:txBody>
          <a:bodyPr>
            <a:normAutofit/>
          </a:bodyPr>
          <a:lstStyle/>
          <a:p>
            <a:r>
              <a:rPr lang="tr-TR" dirty="0"/>
              <a:t>MU RİTMİ</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24427BDB-665E-442A-5BDF-32A71A245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502" y="1869439"/>
            <a:ext cx="6065384" cy="4139625"/>
          </a:xfrm>
          <a:prstGeom prst="rect">
            <a:avLst/>
          </a:prstGeom>
        </p:spPr>
      </p:pic>
      <p:sp>
        <p:nvSpPr>
          <p:cNvPr id="3" name="İçerik Yer Tutucusu 2">
            <a:extLst>
              <a:ext uri="{FF2B5EF4-FFF2-40B4-BE49-F238E27FC236}">
                <a16:creationId xmlns:a16="http://schemas.microsoft.com/office/drawing/2014/main" id="{61224320-1F0D-D421-5ABD-DA283A34EF04}"/>
              </a:ext>
            </a:extLst>
          </p:cNvPr>
          <p:cNvSpPr>
            <a:spLocks noGrp="1"/>
          </p:cNvSpPr>
          <p:nvPr>
            <p:ph idx="1"/>
          </p:nvPr>
        </p:nvSpPr>
        <p:spPr>
          <a:xfrm>
            <a:off x="7200900" y="1849121"/>
            <a:ext cx="4191001" cy="4139626"/>
          </a:xfrm>
        </p:spPr>
        <p:txBody>
          <a:bodyPr anchor="b">
            <a:normAutofit/>
          </a:bodyPr>
          <a:lstStyle/>
          <a:p>
            <a:pPr>
              <a:lnSpc>
                <a:spcPct val="100000"/>
              </a:lnSpc>
            </a:pPr>
            <a:r>
              <a:rPr lang="tr-TR" sz="1300" b="1" dirty="0"/>
              <a:t>Mu ritmi veya </a:t>
            </a:r>
            <a:r>
              <a:rPr lang="tr-TR" sz="1300" b="1" dirty="0" err="1"/>
              <a:t>sensörimotor</a:t>
            </a:r>
            <a:r>
              <a:rPr lang="tr-TR" sz="1300" b="1" dirty="0"/>
              <a:t> ritim</a:t>
            </a:r>
            <a:r>
              <a:rPr lang="tr-TR" sz="1300" dirty="0"/>
              <a:t>, özellikle beynin gönüllü hareketleri kontrol eden motor korteks bölgesinde üretilen, EEG (elektroensefalografi) kayıtlarında gözlemlenebilen 8-13 Hz frekans aralığındaki beyin dalgalarıdır.</a:t>
            </a:r>
          </a:p>
          <a:p>
            <a:pPr>
              <a:lnSpc>
                <a:spcPct val="100000"/>
              </a:lnSpc>
            </a:pPr>
            <a:r>
              <a:rPr lang="tr-TR" sz="1300" dirty="0"/>
              <a:t>Alfa frekans aralığına yakındır ve genellikle tek taraflı veya çift taraflı </a:t>
            </a:r>
            <a:r>
              <a:rPr lang="tr-TR" sz="1300" dirty="0" err="1"/>
              <a:t>sensörimotor</a:t>
            </a:r>
            <a:r>
              <a:rPr lang="tr-TR" sz="1300" dirty="0"/>
              <a:t> bölgelerde gözlenir.</a:t>
            </a:r>
          </a:p>
          <a:p>
            <a:pPr>
              <a:lnSpc>
                <a:spcPct val="100000"/>
              </a:lnSpc>
            </a:pPr>
            <a:r>
              <a:rPr lang="tr-TR" sz="1300" dirty="0"/>
              <a:t>Motor korteksin "boşta kalma" veya "hazırda bekleme" aktivitesi olarak kabul edilir.</a:t>
            </a:r>
          </a:p>
          <a:p>
            <a:pPr>
              <a:lnSpc>
                <a:spcPct val="100000"/>
              </a:lnSpc>
            </a:pPr>
            <a:r>
              <a:rPr lang="tr-TR" sz="1300" dirty="0"/>
              <a:t> Özellikle ayna nöron sistemi ve motor planlama ile ilgili çalışmalarda, bireyin hareket etme niyetini veya başka birinin hareketini gözlemleme durumunu yansıtır. </a:t>
            </a:r>
          </a:p>
          <a:p>
            <a:pPr>
              <a:lnSpc>
                <a:spcPct val="100000"/>
              </a:lnSpc>
            </a:pPr>
            <a:r>
              <a:rPr lang="tr-TR" sz="1300" dirty="0"/>
              <a:t>Bu dalgalar, epileptik aktiviteden farklı olarak normal uyanıklık EEG'sinin bir varyantı (normal varyant) olarak değerlendirilir.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160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13864A1-0AEC-6F07-841C-94CCE068C821}"/>
              </a:ext>
            </a:extLst>
          </p:cNvPr>
          <p:cNvSpPr>
            <a:spLocks noGrp="1"/>
          </p:cNvSpPr>
          <p:nvPr>
            <p:ph type="title"/>
          </p:nvPr>
        </p:nvSpPr>
        <p:spPr>
          <a:xfrm>
            <a:off x="704088" y="914400"/>
            <a:ext cx="10687812" cy="798194"/>
          </a:xfrm>
        </p:spPr>
        <p:txBody>
          <a:bodyPr>
            <a:normAutofit/>
          </a:bodyPr>
          <a:lstStyle/>
          <a:p>
            <a:r>
              <a:rPr lang="tr-TR" b="1" dirty="0"/>
              <a:t>EEG’nin Kaydedilmesi</a:t>
            </a:r>
            <a:endParaRPr lang="tr-TR" dirty="0"/>
          </a:p>
        </p:txBody>
      </p:sp>
      <p:cxnSp>
        <p:nvCxnSpPr>
          <p:cNvPr id="13" name="Straight Connector 12">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Resim 5">
            <a:extLst>
              <a:ext uri="{FF2B5EF4-FFF2-40B4-BE49-F238E27FC236}">
                <a16:creationId xmlns:a16="http://schemas.microsoft.com/office/drawing/2014/main" id="{642F6F6D-E13B-4B5F-3F3E-C8318BC9D7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3079233"/>
            <a:ext cx="6072188" cy="2929831"/>
          </a:xfrm>
          <a:prstGeom prst="rect">
            <a:avLst/>
          </a:prstGeom>
        </p:spPr>
      </p:pic>
      <p:sp>
        <p:nvSpPr>
          <p:cNvPr id="3" name="İçerik Yer Tutucusu 2">
            <a:extLst>
              <a:ext uri="{FF2B5EF4-FFF2-40B4-BE49-F238E27FC236}">
                <a16:creationId xmlns:a16="http://schemas.microsoft.com/office/drawing/2014/main" id="{BD06DBB1-AA82-7246-C081-B86F8F76C525}"/>
              </a:ext>
            </a:extLst>
          </p:cNvPr>
          <p:cNvSpPr>
            <a:spLocks noGrp="1"/>
          </p:cNvSpPr>
          <p:nvPr>
            <p:ph idx="1"/>
          </p:nvPr>
        </p:nvSpPr>
        <p:spPr>
          <a:xfrm>
            <a:off x="7200900" y="1849121"/>
            <a:ext cx="4191001" cy="4139626"/>
          </a:xfrm>
        </p:spPr>
        <p:txBody>
          <a:bodyPr anchor="b">
            <a:normAutofit/>
          </a:bodyPr>
          <a:lstStyle/>
          <a:p>
            <a:pPr>
              <a:lnSpc>
                <a:spcPct val="100000"/>
              </a:lnSpc>
            </a:pPr>
            <a:r>
              <a:rPr lang="tr-TR" sz="1100"/>
              <a:t>EEG’nin kaynağını oluşturan postsinaptik potansiyeller kortekste toplanır ve beyni saran yapılardan saçlı deriye yayılarak, saçlı deriden metal elektrodlar ile kaydedilir. </a:t>
            </a:r>
          </a:p>
          <a:p>
            <a:pPr>
              <a:lnSpc>
                <a:spcPct val="100000"/>
              </a:lnSpc>
            </a:pPr>
            <a:r>
              <a:rPr lang="tr-TR" sz="1100"/>
              <a:t>İletken bir madde ile kaplı her bir elektrodun yeri </a:t>
            </a:r>
            <a:r>
              <a:rPr lang="tr-TR" sz="1100" err="1"/>
              <a:t>nazion</a:t>
            </a:r>
            <a:r>
              <a:rPr lang="tr-TR" sz="1100"/>
              <a:t>, </a:t>
            </a:r>
            <a:r>
              <a:rPr lang="tr-TR" sz="1100" err="1"/>
              <a:t>inion</a:t>
            </a:r>
            <a:r>
              <a:rPr lang="tr-TR" sz="1100"/>
              <a:t>, sağ ve sol </a:t>
            </a:r>
            <a:r>
              <a:rPr lang="tr-TR" sz="1100" err="1"/>
              <a:t>preauriküler</a:t>
            </a:r>
            <a:r>
              <a:rPr lang="tr-TR" sz="1100"/>
              <a:t> noktalardan yapılan standart ölçümlerle belirlenir ve </a:t>
            </a:r>
            <a:r>
              <a:rPr lang="tr-TR" sz="1100" i="1"/>
              <a:t>Uluslararası 10–20 sistemi</a:t>
            </a:r>
            <a:r>
              <a:rPr lang="tr-TR" sz="1100"/>
              <a:t>ne göre yerleştirilir. </a:t>
            </a:r>
          </a:p>
          <a:p>
            <a:pPr>
              <a:lnSpc>
                <a:spcPct val="100000"/>
              </a:lnSpc>
            </a:pPr>
            <a:r>
              <a:rPr lang="tr-TR" sz="1100"/>
              <a:t>Her bir elektroddan alınan kayıt </a:t>
            </a:r>
            <a:r>
              <a:rPr lang="tr-TR" sz="1100" i="1"/>
              <a:t>montaj</a:t>
            </a:r>
            <a:r>
              <a:rPr lang="tr-TR" sz="1100"/>
              <a:t> adı verilen bağlantılarla değerlendirilir. </a:t>
            </a:r>
          </a:p>
          <a:p>
            <a:pPr>
              <a:lnSpc>
                <a:spcPct val="100000"/>
              </a:lnSpc>
            </a:pPr>
            <a:r>
              <a:rPr lang="tr-TR" sz="1100"/>
              <a:t>Eski tip EEG aletlerinde elektrodlar arasındaki potansiyel farklılıkları amplifikatörlerle yükseltilerek hareket eden kağıt üzerinde yazdırılır, kayıt parametreleri ve montajlar sonradan değiştirilemezken, günümüzdeki dijital EEG cihazlarında kayıtlar monitörden izlenebilmekte, kayıt yapılan montajdan sonra diğer montajlara geçilebilmekte, amplitüd ve diğer parametrelerin her olgu için ve her bulgu için yeniden ayarlanması mümkün olabilmektedir.</a:t>
            </a:r>
          </a:p>
        </p:txBody>
      </p:sp>
      <p:cxnSp>
        <p:nvCxnSpPr>
          <p:cNvPr id="15" name="Straight Connector 14">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6646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3FF3E7D-83A2-184E-ADFE-75E34D0632C0}"/>
              </a:ext>
            </a:extLst>
          </p:cNvPr>
          <p:cNvSpPr>
            <a:spLocks noGrp="1"/>
          </p:cNvSpPr>
          <p:nvPr>
            <p:ph type="title"/>
          </p:nvPr>
        </p:nvSpPr>
        <p:spPr>
          <a:xfrm>
            <a:off x="704087" y="909637"/>
            <a:ext cx="4800600" cy="1307592"/>
          </a:xfrm>
        </p:spPr>
        <p:txBody>
          <a:bodyPr>
            <a:normAutofit/>
          </a:bodyPr>
          <a:lstStyle/>
          <a:p>
            <a:r>
              <a:rPr lang="tr-TR" dirty="0"/>
              <a:t>KAYIT</a:t>
            </a:r>
          </a:p>
        </p:txBody>
      </p:sp>
      <p:cxnSp>
        <p:nvCxnSpPr>
          <p:cNvPr id="12" name="Straight Connector 11">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97846410-6539-1316-3021-BFD1CC031311}"/>
              </a:ext>
            </a:extLst>
          </p:cNvPr>
          <p:cNvSpPr>
            <a:spLocks noGrp="1"/>
          </p:cNvSpPr>
          <p:nvPr>
            <p:ph idx="1"/>
          </p:nvPr>
        </p:nvSpPr>
        <p:spPr>
          <a:xfrm>
            <a:off x="704089" y="2221992"/>
            <a:ext cx="4800600" cy="3739896"/>
          </a:xfrm>
        </p:spPr>
        <p:txBody>
          <a:bodyPr>
            <a:normAutofit/>
          </a:bodyPr>
          <a:lstStyle/>
          <a:p>
            <a:pPr>
              <a:lnSpc>
                <a:spcPct val="100000"/>
              </a:lnSpc>
            </a:pPr>
            <a:r>
              <a:rPr lang="tr-TR" sz="1400"/>
              <a:t>EEG kaydı genellikle sessiz, rahat şartlarda, rutin bir EEG için yaklaşık 30 dakika süre ile yapılır. </a:t>
            </a:r>
          </a:p>
          <a:p>
            <a:pPr>
              <a:lnSpc>
                <a:spcPct val="100000"/>
              </a:lnSpc>
            </a:pPr>
            <a:r>
              <a:rPr lang="tr-TR" sz="1400"/>
              <a:t>Öncesinde elektrodların yerleşimi çok önemli bir hazırlık aşamasıdır. </a:t>
            </a:r>
          </a:p>
          <a:p>
            <a:pPr>
              <a:lnSpc>
                <a:spcPct val="100000"/>
              </a:lnSpc>
            </a:pPr>
            <a:r>
              <a:rPr lang="tr-TR" sz="1400"/>
              <a:t>Elektrodlar uygun maddelerle yapıştırılarak ya da şapka şeklinde kauçuk bantlarla sıkıştırılarak yerleştirilir ve bazı özel  pastalar ya da tuzlu su ile iletkenlikleri sağlanır. </a:t>
            </a:r>
          </a:p>
          <a:p>
            <a:pPr>
              <a:lnSpc>
                <a:spcPct val="100000"/>
              </a:lnSpc>
            </a:pPr>
            <a:r>
              <a:rPr lang="tr-TR" sz="1400"/>
              <a:t>EEG çekimi öncesinde hastanın saçlarının temiz olması önem taşır. </a:t>
            </a:r>
          </a:p>
          <a:p>
            <a:pPr>
              <a:lnSpc>
                <a:spcPct val="100000"/>
              </a:lnSpc>
            </a:pPr>
            <a:r>
              <a:rPr lang="tr-TR" sz="1400"/>
              <a:t>Ayrıca açlıkta bazı değişiklikler görülebileceğinden çekim sırasında hasta tok olmalıdır. </a:t>
            </a:r>
          </a:p>
          <a:p>
            <a:pPr>
              <a:lnSpc>
                <a:spcPct val="100000"/>
              </a:lnSpc>
            </a:pPr>
            <a:r>
              <a:rPr lang="tr-TR" sz="1400"/>
              <a:t>EEG çekimi süresince hasta sakin bir şekilde oturmalı veya uzanmalı ve EEG teknisyeninin direktiflerine göre gözlerini kapatıp açmalıdır.</a:t>
            </a:r>
          </a:p>
        </p:txBody>
      </p:sp>
      <p:cxnSp>
        <p:nvCxnSpPr>
          <p:cNvPr id="14" name="Straight Connector 13">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8AA6627A-9186-7365-D042-F5C44699CC0D}"/>
              </a:ext>
            </a:extLst>
          </p:cNvPr>
          <p:cNvPicPr>
            <a:picLocks noChangeAspect="1"/>
          </p:cNvPicPr>
          <p:nvPr/>
        </p:nvPicPr>
        <p:blipFill>
          <a:blip r:embed="rId2">
            <a:extLst>
              <a:ext uri="{28A0092B-C50C-407E-A947-70E740481C1C}">
                <a14:useLocalDpi xmlns:a14="http://schemas.microsoft.com/office/drawing/2010/main" val="0"/>
              </a:ext>
            </a:extLst>
          </a:blip>
          <a:srcRect l="18425" r="2475"/>
          <a:stretch>
            <a:fillRect/>
          </a:stretch>
        </p:blipFill>
        <p:spPr>
          <a:xfrm>
            <a:off x="6147816" y="10"/>
            <a:ext cx="6044184" cy="6857990"/>
          </a:xfrm>
          <a:prstGeom prst="rect">
            <a:avLst/>
          </a:prstGeom>
        </p:spPr>
      </p:pic>
    </p:spTree>
    <p:extLst>
      <p:ext uri="{BB962C8B-B14F-4D97-AF65-F5344CB8AC3E}">
        <p14:creationId xmlns:p14="http://schemas.microsoft.com/office/powerpoint/2010/main" val="32589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38000AD-531F-7DFC-70B1-8CE7D06795F9}"/>
              </a:ext>
            </a:extLst>
          </p:cNvPr>
          <p:cNvSpPr>
            <a:spLocks noGrp="1"/>
          </p:cNvSpPr>
          <p:nvPr>
            <p:ph type="title"/>
          </p:nvPr>
        </p:nvSpPr>
        <p:spPr>
          <a:xfrm>
            <a:off x="700088" y="909637"/>
            <a:ext cx="5958216" cy="1316736"/>
          </a:xfrm>
        </p:spPr>
        <p:txBody>
          <a:bodyPr>
            <a:normAutofit/>
          </a:bodyPr>
          <a:lstStyle/>
          <a:p>
            <a:r>
              <a:rPr lang="tr-TR" dirty="0"/>
              <a:t>ARTEFAKTLAR</a:t>
            </a:r>
          </a:p>
        </p:txBody>
      </p:sp>
      <p:cxnSp>
        <p:nvCxnSpPr>
          <p:cNvPr id="14" name="Straight Connector 13">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EEBA18FD-0D90-B636-7A46-6E0C6C181F4F}"/>
              </a:ext>
            </a:extLst>
          </p:cNvPr>
          <p:cNvSpPr>
            <a:spLocks noGrp="1"/>
          </p:cNvSpPr>
          <p:nvPr>
            <p:ph idx="1"/>
          </p:nvPr>
        </p:nvSpPr>
        <p:spPr>
          <a:xfrm>
            <a:off x="700088" y="2235251"/>
            <a:ext cx="5958216" cy="3713109"/>
          </a:xfrm>
        </p:spPr>
        <p:txBody>
          <a:bodyPr>
            <a:normAutofit/>
          </a:bodyPr>
          <a:lstStyle/>
          <a:p>
            <a:pPr>
              <a:lnSpc>
                <a:spcPct val="100000"/>
              </a:lnSpc>
            </a:pPr>
            <a:r>
              <a:rPr lang="tr-TR" sz="1400"/>
              <a:t>Artefaktlar beyin kaynaklı olmayan sinyallerdir. </a:t>
            </a:r>
          </a:p>
          <a:p>
            <a:pPr>
              <a:lnSpc>
                <a:spcPct val="100000"/>
              </a:lnSpc>
            </a:pPr>
            <a:r>
              <a:rPr lang="tr-TR" sz="1400"/>
              <a:t>Elektrod ve kayıt aletlerinden kaynaklanan </a:t>
            </a:r>
            <a:r>
              <a:rPr lang="tr-TR" sz="1400" err="1"/>
              <a:t>biyoelektriksel</a:t>
            </a:r>
            <a:r>
              <a:rPr lang="tr-TR" sz="1400"/>
              <a:t> olmayan artefaktlar olabileceği gibi beyin kaynaklı olmayan oküler (göz), kardiyak (kalp), </a:t>
            </a:r>
            <a:r>
              <a:rPr lang="tr-TR" sz="1400" err="1"/>
              <a:t>glossokinetik</a:t>
            </a:r>
            <a:r>
              <a:rPr lang="tr-TR" sz="1400"/>
              <a:t> (dil), yutkunma, kas ve hareket artefaktları gibi hastadan kaynaklanan artefaktlar da biyoelektrik artefaktlardır. </a:t>
            </a:r>
          </a:p>
          <a:p>
            <a:pPr>
              <a:lnSpc>
                <a:spcPct val="100000"/>
              </a:lnSpc>
            </a:pPr>
            <a:r>
              <a:rPr lang="tr-TR" sz="1400"/>
              <a:t>Artefaktların çoğu elektrod ve saçlı deri arasındaki temas bozukluğundan kaynaklanır. </a:t>
            </a:r>
          </a:p>
          <a:p>
            <a:pPr>
              <a:lnSpc>
                <a:spcPct val="100000"/>
              </a:lnSpc>
            </a:pPr>
            <a:r>
              <a:rPr lang="tr-TR" sz="1400"/>
              <a:t>Elektrodun yerinden çıkması, amplifikatörden kaynaklanan aşırı gürültü, dış kaynaklardan gelen akımlara bağlı artefaktlar, elektrostatik potansiyeller veya intravenöz infüzyonlara bağlı çeşitli artefaktlar olabilir.</a:t>
            </a:r>
          </a:p>
          <a:p>
            <a:pPr>
              <a:lnSpc>
                <a:spcPct val="100000"/>
              </a:lnSpc>
            </a:pPr>
            <a:r>
              <a:rPr lang="tr-TR" sz="1400"/>
              <a:t>Artefaktların patolojik olarak yorumlanması hasta için olumsuz sonuçlara yol açabilir.</a:t>
            </a:r>
          </a:p>
        </p:txBody>
      </p:sp>
      <p:pic>
        <p:nvPicPr>
          <p:cNvPr id="5" name="Resim 4">
            <a:extLst>
              <a:ext uri="{FF2B5EF4-FFF2-40B4-BE49-F238E27FC236}">
                <a16:creationId xmlns:a16="http://schemas.microsoft.com/office/drawing/2014/main" id="{881DEAE5-EAD1-0E45-E8FF-DB3E03246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3376" y="127471"/>
            <a:ext cx="5003002" cy="4002402"/>
          </a:xfrm>
          <a:prstGeom prst="rect">
            <a:avLst/>
          </a:prstGeom>
        </p:spPr>
      </p:pic>
      <p:cxnSp>
        <p:nvCxnSpPr>
          <p:cNvPr id="16" name="Straight Connector 15">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Resim 6">
            <a:extLst>
              <a:ext uri="{FF2B5EF4-FFF2-40B4-BE49-F238E27FC236}">
                <a16:creationId xmlns:a16="http://schemas.microsoft.com/office/drawing/2014/main" id="{CBEEB0A0-5EE3-5D74-F393-49C5A439B5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5551" y="4040891"/>
            <a:ext cx="4685981" cy="1907469"/>
          </a:xfrm>
          <a:prstGeom prst="rect">
            <a:avLst/>
          </a:prstGeom>
        </p:spPr>
      </p:pic>
    </p:spTree>
    <p:extLst>
      <p:ext uri="{BB962C8B-B14F-4D97-AF65-F5344CB8AC3E}">
        <p14:creationId xmlns:p14="http://schemas.microsoft.com/office/powerpoint/2010/main" val="3547119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5CC601-04D0-19D6-F749-B95C5CC59B14}"/>
              </a:ext>
            </a:extLst>
          </p:cNvPr>
          <p:cNvSpPr>
            <a:spLocks noGrp="1"/>
          </p:cNvSpPr>
          <p:nvPr>
            <p:ph type="title"/>
          </p:nvPr>
        </p:nvSpPr>
        <p:spPr/>
        <p:txBody>
          <a:bodyPr/>
          <a:lstStyle/>
          <a:p>
            <a:r>
              <a:rPr lang="tr-TR" dirty="0"/>
              <a:t>EEG SİNYALLERİNİN FİLTRELENMESİ</a:t>
            </a:r>
          </a:p>
        </p:txBody>
      </p:sp>
      <p:sp>
        <p:nvSpPr>
          <p:cNvPr id="3" name="İçerik Yer Tutucusu 2">
            <a:extLst>
              <a:ext uri="{FF2B5EF4-FFF2-40B4-BE49-F238E27FC236}">
                <a16:creationId xmlns:a16="http://schemas.microsoft.com/office/drawing/2014/main" id="{18D0F6DD-00FF-1DFC-A6A8-06EEB893178E}"/>
              </a:ext>
            </a:extLst>
          </p:cNvPr>
          <p:cNvSpPr>
            <a:spLocks noGrp="1"/>
          </p:cNvSpPr>
          <p:nvPr>
            <p:ph idx="1"/>
          </p:nvPr>
        </p:nvSpPr>
        <p:spPr/>
        <p:txBody>
          <a:bodyPr/>
          <a:lstStyle/>
          <a:p>
            <a:r>
              <a:rPr lang="tr-TR" dirty="0"/>
              <a:t>Filtreler EEG’den gelen görece yüksek ve düşük frekanslardaki dalgaları dışlamak için kullanılır. </a:t>
            </a:r>
          </a:p>
          <a:p>
            <a:r>
              <a:rPr lang="tr-TR" dirty="0"/>
              <a:t>EEG cihazının yavaş dalgaların amplitüdünü azaltan alçak frekans filtresi, hızlı dalgaların amplitüdünü azaltan yüksek frekans filtresi ve en yaygın elektrik artefaktı olan 50-60 Hz dalgaların amplitüdünü azaltan 50-60 Hz (</a:t>
            </a:r>
            <a:r>
              <a:rPr lang="tr-TR" dirty="0" err="1"/>
              <a:t>notch</a:t>
            </a:r>
            <a:r>
              <a:rPr lang="tr-TR" dirty="0"/>
              <a:t>) filtresi olmak üzere 3 çeşit filtresi vardır.</a:t>
            </a:r>
          </a:p>
          <a:p>
            <a:r>
              <a:rPr lang="tr-TR" dirty="0"/>
              <a:t>EEG filtrelerinin doğru ayarlanmış olması çok önemlidir, tercih edilen yüksek frekans filtresi 70 Hz, düşük frekans filtresi 0,5 Hz olmalıdır.</a:t>
            </a:r>
          </a:p>
        </p:txBody>
      </p:sp>
    </p:spTree>
    <p:extLst>
      <p:ext uri="{BB962C8B-B14F-4D97-AF65-F5344CB8AC3E}">
        <p14:creationId xmlns:p14="http://schemas.microsoft.com/office/powerpoint/2010/main" val="2564043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CA965C2-1591-F438-7570-3FDEA5E29375}"/>
              </a:ext>
            </a:extLst>
          </p:cNvPr>
          <p:cNvSpPr>
            <a:spLocks noGrp="1"/>
          </p:cNvSpPr>
          <p:nvPr>
            <p:ph type="title"/>
          </p:nvPr>
        </p:nvSpPr>
        <p:spPr/>
        <p:txBody>
          <a:bodyPr/>
          <a:lstStyle/>
          <a:p>
            <a:r>
              <a:rPr lang="tr-TR" dirty="0"/>
              <a:t>DEĞERLENDİRME</a:t>
            </a:r>
          </a:p>
        </p:txBody>
      </p:sp>
      <p:sp>
        <p:nvSpPr>
          <p:cNvPr id="3" name="İçerik Yer Tutucusu 2">
            <a:extLst>
              <a:ext uri="{FF2B5EF4-FFF2-40B4-BE49-F238E27FC236}">
                <a16:creationId xmlns:a16="http://schemas.microsoft.com/office/drawing/2014/main" id="{62E90AA3-6BEA-7940-5D03-5727ED91E625}"/>
              </a:ext>
            </a:extLst>
          </p:cNvPr>
          <p:cNvSpPr>
            <a:spLocks noGrp="1"/>
          </p:cNvSpPr>
          <p:nvPr>
            <p:ph idx="1"/>
          </p:nvPr>
        </p:nvSpPr>
        <p:spPr/>
        <p:txBody>
          <a:bodyPr>
            <a:normAutofit fontScale="85000" lnSpcReduction="10000"/>
          </a:bodyPr>
          <a:lstStyle/>
          <a:p>
            <a:r>
              <a:rPr lang="tr-TR" dirty="0"/>
              <a:t>EEG bulgularının değerlendirilebilmesi için öncelikle normal EEG özelliklerinin çok iyi bilinmesi gereklidir. </a:t>
            </a:r>
          </a:p>
          <a:p>
            <a:r>
              <a:rPr lang="tr-TR" dirty="0"/>
              <a:t>Her EEG çekiminde önce temel aktivite değerlendirilir. </a:t>
            </a:r>
          </a:p>
          <a:p>
            <a:r>
              <a:rPr lang="tr-TR" dirty="0"/>
              <a:t>Normal temel aktivite yaşla, uyanıklık durumuyla, açlık gibi bazı fizyolojik durumlarla çok belirgin farklılıklar gösterir. </a:t>
            </a:r>
          </a:p>
          <a:p>
            <a:r>
              <a:rPr lang="tr-TR" dirty="0"/>
              <a:t>Üç aylık bir bebek için normal sayılan aktivite 3 yaşında bir çocuk için patolojiktir. </a:t>
            </a:r>
          </a:p>
          <a:p>
            <a:r>
              <a:rPr lang="tr-TR" dirty="0"/>
              <a:t>Benzer şekilde derin uykuda olan bir erişkinin EEG aktivitesi aynı kişi uyanıkken görüldüğünde ciddi bir patolojik bulgu anlamına gelebilir.</a:t>
            </a:r>
          </a:p>
          <a:p>
            <a:r>
              <a:rPr lang="tr-TR" dirty="0"/>
              <a:t>EEG’de beynin hemisferleri arasında simetri vardır, bu nedenle iki yarıkürenin kıyaslanması önemlidir. </a:t>
            </a:r>
          </a:p>
          <a:p>
            <a:r>
              <a:rPr lang="tr-TR" dirty="0"/>
              <a:t>EEG çekimi sırasında hastanın kullandığı ilaçlar ve varsa metabolik problemleri mutlaka kaydedilmelidir. </a:t>
            </a:r>
          </a:p>
          <a:p>
            <a:r>
              <a:rPr lang="tr-TR" dirty="0"/>
              <a:t>Çünkü bazı ilaçların ve metabolik durumların EEG üzerinde etkileri belirgindir. </a:t>
            </a:r>
          </a:p>
        </p:txBody>
      </p:sp>
    </p:spTree>
    <p:extLst>
      <p:ext uri="{BB962C8B-B14F-4D97-AF65-F5344CB8AC3E}">
        <p14:creationId xmlns:p14="http://schemas.microsoft.com/office/powerpoint/2010/main" val="129479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199CE4A-78AB-62EA-7303-A31E05EF0123}"/>
              </a:ext>
            </a:extLst>
          </p:cNvPr>
          <p:cNvSpPr>
            <a:spLocks noGrp="1"/>
          </p:cNvSpPr>
          <p:nvPr>
            <p:ph type="title"/>
          </p:nvPr>
        </p:nvSpPr>
        <p:spPr/>
        <p:txBody>
          <a:bodyPr>
            <a:normAutofit fontScale="90000"/>
          </a:bodyPr>
          <a:lstStyle/>
          <a:p>
            <a:r>
              <a:rPr lang="tr-TR" dirty="0"/>
              <a:t>EEG ile Hangi Hastalıklar Teşhis Edilir?</a:t>
            </a:r>
            <a:br>
              <a:rPr lang="tr-TR" dirty="0"/>
            </a:br>
            <a:endParaRPr lang="tr-TR" dirty="0"/>
          </a:p>
        </p:txBody>
      </p:sp>
      <p:sp>
        <p:nvSpPr>
          <p:cNvPr id="3" name="İçerik Yer Tutucusu 2">
            <a:extLst>
              <a:ext uri="{FF2B5EF4-FFF2-40B4-BE49-F238E27FC236}">
                <a16:creationId xmlns:a16="http://schemas.microsoft.com/office/drawing/2014/main" id="{5D5C48AA-2085-1DC6-A7BA-74E599572D4B}"/>
              </a:ext>
            </a:extLst>
          </p:cNvPr>
          <p:cNvSpPr>
            <a:spLocks noGrp="1"/>
          </p:cNvSpPr>
          <p:nvPr>
            <p:ph idx="1"/>
          </p:nvPr>
        </p:nvSpPr>
        <p:spPr>
          <a:xfrm>
            <a:off x="700635" y="1533832"/>
            <a:ext cx="10691265" cy="4428056"/>
          </a:xfrm>
        </p:spPr>
        <p:txBody>
          <a:bodyPr>
            <a:normAutofit fontScale="92500" lnSpcReduction="20000"/>
          </a:bodyPr>
          <a:lstStyle/>
          <a:p>
            <a:r>
              <a:rPr lang="tr-TR" sz="1600" dirty="0"/>
              <a:t>EEG, beyinde yer alan elektriksel aktiviteyi kaydederek nörolojik hastalıkların teşhisinde önemli bir role sahiptir. Beyin dalgalarının detaylı incelenmesinde ve hastalıkların erken teşhisinde veriler sağlar. Elektriksel aktivite değişiklikleriyle bilinen</a:t>
            </a:r>
          </a:p>
          <a:p>
            <a:r>
              <a:rPr lang="tr-TR" sz="1600" dirty="0"/>
              <a:t>Epilepsi (sara) hastalığının teşhisi ve takibinde</a:t>
            </a:r>
          </a:p>
          <a:p>
            <a:r>
              <a:rPr lang="tr-TR" sz="1600" dirty="0"/>
              <a:t>Beyin iltihabı hastalıklarının teşhisinde</a:t>
            </a:r>
          </a:p>
          <a:p>
            <a:r>
              <a:rPr lang="tr-TR" sz="1600" dirty="0" err="1"/>
              <a:t>Senkop</a:t>
            </a:r>
            <a:r>
              <a:rPr lang="tr-TR" sz="1600" dirty="0"/>
              <a:t> (bayılma) görüldüğünde</a:t>
            </a:r>
          </a:p>
          <a:p>
            <a:r>
              <a:rPr lang="tr-TR" sz="1600" dirty="0"/>
              <a:t>Hafıza kaybı yaşandığında</a:t>
            </a:r>
          </a:p>
          <a:p>
            <a:r>
              <a:rPr lang="tr-TR" sz="1600" dirty="0"/>
              <a:t>Kronikleşen baş ağrılarının sebebinin belirlenmesinde</a:t>
            </a:r>
          </a:p>
          <a:p>
            <a:r>
              <a:rPr lang="tr-TR" sz="1600" dirty="0"/>
              <a:t>Uyku bozukluğu hastalıklarının teşhisinde</a:t>
            </a:r>
          </a:p>
          <a:p>
            <a:r>
              <a:rPr lang="tr-TR" sz="1600" dirty="0"/>
              <a:t>Zihinsel engellilik, öğrenme güçlüğü, zihinsel gelişme geriliği</a:t>
            </a:r>
          </a:p>
          <a:p>
            <a:r>
              <a:rPr lang="tr-TR" sz="1600" dirty="0"/>
              <a:t>Bilinç bulanıklığı veya kaybı ile seyreden psikiyatrik hastalıkların ayrıcı tanısında</a:t>
            </a:r>
          </a:p>
          <a:p>
            <a:r>
              <a:rPr lang="tr-TR" sz="1600" dirty="0"/>
              <a:t>Travmatik beyin hasarları durumunda</a:t>
            </a:r>
          </a:p>
          <a:p>
            <a:r>
              <a:rPr lang="tr-TR" sz="1600" dirty="0"/>
              <a:t>Alzheimer hastalığının teşhisinde</a:t>
            </a:r>
          </a:p>
          <a:p>
            <a:r>
              <a:rPr lang="tr-TR" sz="1600" dirty="0"/>
              <a:t>Beyin tümörleri</a:t>
            </a:r>
          </a:p>
        </p:txBody>
      </p:sp>
    </p:spTree>
    <p:extLst>
      <p:ext uri="{BB962C8B-B14F-4D97-AF65-F5344CB8AC3E}">
        <p14:creationId xmlns:p14="http://schemas.microsoft.com/office/powerpoint/2010/main" val="3662109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5F0FED5-D42A-E11D-EE8A-E660A3331D34}"/>
              </a:ext>
            </a:extLst>
          </p:cNvPr>
          <p:cNvSpPr>
            <a:spLocks noGrp="1"/>
          </p:cNvSpPr>
          <p:nvPr>
            <p:ph type="title"/>
          </p:nvPr>
        </p:nvSpPr>
        <p:spPr>
          <a:xfrm>
            <a:off x="704088" y="914400"/>
            <a:ext cx="10780776" cy="1180210"/>
          </a:xfrm>
        </p:spPr>
        <p:txBody>
          <a:bodyPr>
            <a:normAutofit/>
          </a:bodyPr>
          <a:lstStyle/>
          <a:p>
            <a:r>
              <a:rPr lang="tr-TR" dirty="0"/>
              <a:t>EPİLEPSİ</a:t>
            </a:r>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56F09E26-F935-2E9F-8C91-04C890692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473" y="2286633"/>
            <a:ext cx="2975152" cy="3876421"/>
          </a:xfrm>
          <a:prstGeom prst="rect">
            <a:avLst/>
          </a:prstGeom>
        </p:spPr>
      </p:pic>
      <p:sp>
        <p:nvSpPr>
          <p:cNvPr id="3" name="İçerik Yer Tutucusu 2">
            <a:extLst>
              <a:ext uri="{FF2B5EF4-FFF2-40B4-BE49-F238E27FC236}">
                <a16:creationId xmlns:a16="http://schemas.microsoft.com/office/drawing/2014/main" id="{491D8379-0E99-02C1-E2BA-BA78E7D12AB0}"/>
              </a:ext>
            </a:extLst>
          </p:cNvPr>
          <p:cNvSpPr>
            <a:spLocks noGrp="1"/>
          </p:cNvSpPr>
          <p:nvPr>
            <p:ph idx="1"/>
          </p:nvPr>
        </p:nvSpPr>
        <p:spPr>
          <a:xfrm>
            <a:off x="6664960" y="2346960"/>
            <a:ext cx="4819903" cy="3775456"/>
          </a:xfrm>
        </p:spPr>
        <p:txBody>
          <a:bodyPr>
            <a:normAutofit fontScale="62500" lnSpcReduction="20000"/>
          </a:bodyPr>
          <a:lstStyle/>
          <a:p>
            <a:r>
              <a:rPr lang="tr-TR" dirty="0"/>
              <a:t>Epilepsi (sara), beyindeki sinir hücrelerinin (nöronların) geçici olarak anormal ve kontrolsüz elektriksel aktivite üretmesi sonucu oluşan kronik bir nörolojik hastalıktır. Tekrarlayan nöbetlerle karakterize olan bu durumda, ani bilinç kaybı, istemsiz kasılmalar, duyusal değişiklikler veya dalıp gitme gibi durumlar görülebilir.</a:t>
            </a:r>
          </a:p>
          <a:p>
            <a:r>
              <a:rPr lang="tr-TR" dirty="0"/>
              <a:t>Beyindeki elektrik akımının kısa süreliğine "kısa devre" yapmasıdır.</a:t>
            </a:r>
          </a:p>
          <a:p>
            <a:r>
              <a:rPr lang="tr-TR" dirty="0"/>
              <a:t>Genellikle birbirini takip eden iki veya daha fazla nöbet geçirilmesi durumunda epilepsi tanısı konulur.</a:t>
            </a:r>
          </a:p>
          <a:p>
            <a:r>
              <a:rPr lang="tr-TR" dirty="0"/>
              <a:t>Nöbetin beynin hangi bölgesinde başladığına bağlı olarak kişiden kişiye değişir (sabit bakışlar, kol-bacakta kasılma, titreme vb.)</a:t>
            </a:r>
          </a:p>
          <a:p>
            <a:r>
              <a:rPr lang="tr-TR" dirty="0"/>
              <a:t>Beyin tümörleri, inme, kafa travmaları, enfeksiyonlar (menenjit) veya genetik faktörler olabilir.</a:t>
            </a:r>
          </a:p>
          <a:p>
            <a:r>
              <a:rPr lang="tr-TR" dirty="0"/>
              <a:t>Çoğu hasta anti-epileptik ilaçlar sayesinde nöbetlerini kontrol altına alarak normal bir yaşam sürebilir.</a:t>
            </a:r>
          </a:p>
        </p:txBody>
      </p:sp>
    </p:spTree>
    <p:extLst>
      <p:ext uri="{BB962C8B-B14F-4D97-AF65-F5344CB8AC3E}">
        <p14:creationId xmlns:p14="http://schemas.microsoft.com/office/powerpoint/2010/main" val="1980080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310E3BD-6038-A8EF-BC81-D1A6BDE40EEE}"/>
              </a:ext>
            </a:extLst>
          </p:cNvPr>
          <p:cNvSpPr>
            <a:spLocks noGrp="1"/>
          </p:cNvSpPr>
          <p:nvPr>
            <p:ph type="title"/>
          </p:nvPr>
        </p:nvSpPr>
        <p:spPr>
          <a:xfrm>
            <a:off x="704088" y="914400"/>
            <a:ext cx="10780776" cy="1180210"/>
          </a:xfrm>
        </p:spPr>
        <p:txBody>
          <a:bodyPr>
            <a:normAutofit/>
          </a:bodyPr>
          <a:lstStyle/>
          <a:p>
            <a:r>
              <a:rPr lang="tr-TR" dirty="0"/>
              <a:t>BEYİN İLTİHABI</a:t>
            </a:r>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BC34914B-2C20-5D67-773E-3F6E43EC4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098" y="2807885"/>
            <a:ext cx="5549902" cy="3355168"/>
          </a:xfrm>
          <a:prstGeom prst="rect">
            <a:avLst/>
          </a:prstGeom>
        </p:spPr>
      </p:pic>
      <p:sp>
        <p:nvSpPr>
          <p:cNvPr id="3" name="İçerik Yer Tutucusu 2">
            <a:extLst>
              <a:ext uri="{FF2B5EF4-FFF2-40B4-BE49-F238E27FC236}">
                <a16:creationId xmlns:a16="http://schemas.microsoft.com/office/drawing/2014/main" id="{792DF01E-3686-8839-0661-F10BC0EC2F46}"/>
              </a:ext>
            </a:extLst>
          </p:cNvPr>
          <p:cNvSpPr>
            <a:spLocks noGrp="1"/>
          </p:cNvSpPr>
          <p:nvPr>
            <p:ph idx="1"/>
          </p:nvPr>
        </p:nvSpPr>
        <p:spPr>
          <a:xfrm>
            <a:off x="6664960" y="2346960"/>
            <a:ext cx="4819903" cy="3775456"/>
          </a:xfrm>
        </p:spPr>
        <p:txBody>
          <a:bodyPr>
            <a:normAutofit/>
          </a:bodyPr>
          <a:lstStyle/>
          <a:p>
            <a:pPr>
              <a:lnSpc>
                <a:spcPct val="100000"/>
              </a:lnSpc>
            </a:pPr>
            <a:r>
              <a:rPr lang="tr-TR" sz="1000"/>
              <a:t>Beyin iltihabı (ensefalit), genellikle viral enfeksiyonlar veya bağışıklık sistemi sorunları nedeniyle beyin dokusunun iltihaplanması ve şişmesiyle ortaya çıkan ciddi, acil müdahale gerektiren bir durumdur. Ateş, baş ağrısı, kafa karışıklığı, nöbetler ve koordinasyon kaybı gibi belirtilerle seyredebilir ve hayatı tehdit edebilir. </a:t>
            </a:r>
          </a:p>
          <a:p>
            <a:pPr>
              <a:lnSpc>
                <a:spcPct val="100000"/>
              </a:lnSpc>
            </a:pPr>
            <a:r>
              <a:rPr lang="tr-TR" sz="1000"/>
              <a:t>En yaygın nedeni uçuk virüsü (Herpes </a:t>
            </a:r>
            <a:r>
              <a:rPr lang="tr-TR" sz="1000" err="1"/>
              <a:t>simpleks</a:t>
            </a:r>
            <a:r>
              <a:rPr lang="tr-TR" sz="1000"/>
              <a:t>) gibi viral enfeksiyonlardır, ancak bakteriler veya bağışıklık sisteminin beyne saldırması (otoimmün) da neden olabilir.</a:t>
            </a:r>
          </a:p>
          <a:p>
            <a:pPr>
              <a:lnSpc>
                <a:spcPct val="100000"/>
              </a:lnSpc>
            </a:pPr>
            <a:r>
              <a:rPr lang="tr-TR" sz="1000"/>
              <a:t>Hafif grip benzeri semptomlar (ateş, baş ağrısı) ile başlasa da; ciddi vakalarda kafa karışıklığı, bilinç değişikliği, nöbetler, konuşma/hareket bozuklukları ve görme/işitme sorunları görülür</a:t>
            </a:r>
          </a:p>
          <a:p>
            <a:pPr>
              <a:lnSpc>
                <a:spcPct val="100000"/>
              </a:lnSpc>
            </a:pPr>
            <a:r>
              <a:rPr lang="tr-TR" sz="1000"/>
              <a:t>Çocuklar, yaşlılar ve bağışıklık sistemi zayıf olanlar daha savunmasızdır.</a:t>
            </a:r>
          </a:p>
          <a:p>
            <a:pPr>
              <a:lnSpc>
                <a:spcPct val="100000"/>
              </a:lnSpc>
            </a:pPr>
            <a:r>
              <a:rPr lang="tr-TR" sz="1000"/>
              <a:t>Erken tanı hayati önem taşır. Tedavi genellikle antiviral ilaçlar, steroidler veya semptomları hafifletmeye yönelik destekleyici tedavileri içerir.</a:t>
            </a:r>
          </a:p>
          <a:p>
            <a:pPr>
              <a:lnSpc>
                <a:spcPct val="100000"/>
              </a:lnSpc>
            </a:pPr>
            <a:r>
              <a:rPr lang="tr-TR" sz="1000" b="1"/>
              <a:t>Menenjit ile Farkı:</a:t>
            </a:r>
            <a:r>
              <a:rPr lang="tr-TR" sz="1000"/>
              <a:t> Menenjit beyin zarlarının iltihabıyken, ensefalit doğrudan beyin dokusunun iltihaplanmasıdır. </a:t>
            </a:r>
          </a:p>
          <a:p>
            <a:pPr>
              <a:lnSpc>
                <a:spcPct val="100000"/>
              </a:lnSpc>
            </a:pPr>
            <a:r>
              <a:rPr lang="tr-TR" sz="1000" err="1"/>
              <a:t>Ensefalitli</a:t>
            </a:r>
            <a:r>
              <a:rPr lang="tr-TR" sz="1000"/>
              <a:t> hastalarda, normal beyin dalgaları yerine yavaşlamış (teta/delta dalgaları) veya epileptik aktivite (sara nöbeti benzeri) görülmesi yaygındır.</a:t>
            </a:r>
          </a:p>
        </p:txBody>
      </p:sp>
    </p:spTree>
    <p:extLst>
      <p:ext uri="{BB962C8B-B14F-4D97-AF65-F5344CB8AC3E}">
        <p14:creationId xmlns:p14="http://schemas.microsoft.com/office/powerpoint/2010/main" val="370732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C4C5DB7-41DA-CA8C-78B9-F26018128219}"/>
              </a:ext>
            </a:extLst>
          </p:cNvPr>
          <p:cNvSpPr>
            <a:spLocks noGrp="1"/>
          </p:cNvSpPr>
          <p:nvPr>
            <p:ph type="title"/>
          </p:nvPr>
        </p:nvSpPr>
        <p:spPr>
          <a:xfrm>
            <a:off x="704088" y="914400"/>
            <a:ext cx="10780776" cy="1180210"/>
          </a:xfrm>
        </p:spPr>
        <p:txBody>
          <a:bodyPr>
            <a:normAutofit/>
          </a:bodyPr>
          <a:lstStyle/>
          <a:p>
            <a:r>
              <a:rPr lang="tr-TR" dirty="0"/>
              <a:t>MİGREN</a:t>
            </a:r>
          </a:p>
        </p:txBody>
      </p:sp>
      <p:cxnSp>
        <p:nvCxnSpPr>
          <p:cNvPr id="16" name="Straight Connector 15">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Resim 8">
            <a:extLst>
              <a:ext uri="{FF2B5EF4-FFF2-40B4-BE49-F238E27FC236}">
                <a16:creationId xmlns:a16="http://schemas.microsoft.com/office/drawing/2014/main" id="{F42B7D57-262E-9B72-C32F-D882B3A44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098" y="3499101"/>
            <a:ext cx="5549902" cy="2663952"/>
          </a:xfrm>
          <a:prstGeom prst="rect">
            <a:avLst/>
          </a:prstGeom>
        </p:spPr>
      </p:pic>
      <p:sp>
        <p:nvSpPr>
          <p:cNvPr id="3" name="İçerik Yer Tutucusu 2">
            <a:extLst>
              <a:ext uri="{FF2B5EF4-FFF2-40B4-BE49-F238E27FC236}">
                <a16:creationId xmlns:a16="http://schemas.microsoft.com/office/drawing/2014/main" id="{66534886-01B5-5BF8-ECD7-24EA2DC48415}"/>
              </a:ext>
            </a:extLst>
          </p:cNvPr>
          <p:cNvSpPr>
            <a:spLocks noGrp="1"/>
          </p:cNvSpPr>
          <p:nvPr>
            <p:ph idx="1"/>
          </p:nvPr>
        </p:nvSpPr>
        <p:spPr>
          <a:xfrm>
            <a:off x="6664960" y="2346960"/>
            <a:ext cx="4819903" cy="3775456"/>
          </a:xfrm>
        </p:spPr>
        <p:txBody>
          <a:bodyPr>
            <a:normAutofit/>
          </a:bodyPr>
          <a:lstStyle/>
          <a:p>
            <a:pPr>
              <a:lnSpc>
                <a:spcPct val="100000"/>
              </a:lnSpc>
            </a:pPr>
            <a:r>
              <a:rPr lang="tr-TR" sz="800" dirty="0"/>
              <a:t>Migren, genellikle başın tek tarafında yoğunlaşan, zonklayıcı, orta veya şiddetli seviyede seyreden, saatlerce hatta günlerce sürebilen kronik bir nörolojik hastalıktır. Işık, ses ve koku hassasiyeti ile bulantı/kusmanın eşlik ettiği bu ağrılar, fiziksel aktiviteyle artabilir ve yaşam kalitesini önemli ölçüde düşürür.</a:t>
            </a:r>
          </a:p>
          <a:p>
            <a:pPr>
              <a:lnSpc>
                <a:spcPct val="100000"/>
              </a:lnSpc>
            </a:pPr>
            <a:r>
              <a:rPr lang="tr-TR" sz="800" dirty="0"/>
              <a:t>Genellikle tek taraflı ve zonklayıcıdır.</a:t>
            </a:r>
          </a:p>
          <a:p>
            <a:pPr>
              <a:lnSpc>
                <a:spcPct val="100000"/>
              </a:lnSpc>
            </a:pPr>
            <a:r>
              <a:rPr lang="tr-TR" sz="800" dirty="0"/>
              <a:t>Birkaç saatten 2-3 güne kadar sürebilir.</a:t>
            </a:r>
          </a:p>
          <a:p>
            <a:pPr>
              <a:lnSpc>
                <a:spcPct val="100000"/>
              </a:lnSpc>
            </a:pPr>
            <a:r>
              <a:rPr lang="tr-TR" sz="800" dirty="0"/>
              <a:t>Şiddetli bulantı, kusma, ışığa (fotofobi) ve sese (</a:t>
            </a:r>
            <a:r>
              <a:rPr lang="tr-TR" sz="800" dirty="0" err="1"/>
              <a:t>fonofobi</a:t>
            </a:r>
            <a:r>
              <a:rPr lang="tr-TR" sz="800" dirty="0"/>
              <a:t>) karşı aşırı hassasiyet.</a:t>
            </a:r>
          </a:p>
          <a:p>
            <a:pPr>
              <a:lnSpc>
                <a:spcPct val="100000"/>
              </a:lnSpc>
            </a:pPr>
            <a:r>
              <a:rPr lang="tr-TR" sz="800" dirty="0"/>
              <a:t>Günlük işleri engelleyecek kadar şiddetli olabilir.</a:t>
            </a:r>
          </a:p>
          <a:p>
            <a:pPr>
              <a:lnSpc>
                <a:spcPct val="100000"/>
              </a:lnSpc>
            </a:pPr>
            <a:r>
              <a:rPr lang="tr-TR" sz="800" dirty="0"/>
              <a:t>Bazı hastalarda ağrı öncesinde görme bozuklukları, ışık çakmaları veya uyuşma gibi "aura" belirtileri görülebilir.</a:t>
            </a:r>
          </a:p>
          <a:p>
            <a:pPr>
              <a:lnSpc>
                <a:spcPct val="100000"/>
              </a:lnSpc>
            </a:pPr>
            <a:r>
              <a:rPr lang="tr-TR" sz="800" dirty="0"/>
              <a:t>Stres ve stresin azalması (hafta sonu migreni), Uyku düzeninde bozukluk (az veya çok uyumak), </a:t>
            </a:r>
            <a:r>
              <a:rPr lang="tr-TR" sz="800" dirty="0" err="1"/>
              <a:t>Hormonal</a:t>
            </a:r>
            <a:r>
              <a:rPr lang="tr-TR" sz="800" dirty="0"/>
              <a:t> değişimler (adet dönemi vb.), Açlık, susuzluk veya öğün atlama, Keskin kokular, parlak ışıklar veya lodoslu hava, Bazı besinler (eski peynir, çikolata, kafein, alkol vb.)</a:t>
            </a:r>
          </a:p>
          <a:p>
            <a:pPr>
              <a:lnSpc>
                <a:spcPct val="100000"/>
              </a:lnSpc>
            </a:pPr>
            <a:r>
              <a:rPr lang="tr-TR" sz="800" dirty="0">
                <a:latin typeface="Google Sans"/>
              </a:rPr>
              <a:t>EEG (Elektroensefalografi), migren teşhisinde doğrudan birincil yöntem olmasa da, </a:t>
            </a:r>
            <a:r>
              <a:rPr lang="tr-TR" sz="800" dirty="0"/>
              <a:t>migren hastalarında beyin elektriksel aktivitesindeki bozuklukları (paroksismal aktivite) veya kortikal uyarılabilirlik artışını tespit etmek için kullanılan, ışık uyaranı (</a:t>
            </a:r>
            <a:r>
              <a:rPr lang="tr-TR" sz="800" dirty="0" err="1"/>
              <a:t>fotik</a:t>
            </a:r>
            <a:r>
              <a:rPr lang="tr-TR" sz="800" dirty="0"/>
              <a:t> stimülasyon) ile ağrı eşiği değişimlerini inceleyen güvenli bir görüntüleme yöntemidir</a:t>
            </a:r>
          </a:p>
        </p:txBody>
      </p:sp>
    </p:spTree>
    <p:extLst>
      <p:ext uri="{BB962C8B-B14F-4D97-AF65-F5344CB8AC3E}">
        <p14:creationId xmlns:p14="http://schemas.microsoft.com/office/powerpoint/2010/main" val="1801693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9AF8CAE-67A6-2964-1544-0DC3F02BBF30}"/>
              </a:ext>
            </a:extLst>
          </p:cNvPr>
          <p:cNvSpPr>
            <a:spLocks noGrp="1"/>
          </p:cNvSpPr>
          <p:nvPr>
            <p:ph type="title"/>
          </p:nvPr>
        </p:nvSpPr>
        <p:spPr>
          <a:xfrm>
            <a:off x="704088" y="914400"/>
            <a:ext cx="10687812" cy="798194"/>
          </a:xfrm>
        </p:spPr>
        <p:txBody>
          <a:bodyPr>
            <a:normAutofit/>
          </a:bodyPr>
          <a:lstStyle/>
          <a:p>
            <a:r>
              <a:rPr lang="tr-TR" dirty="0"/>
              <a:t>ALZHEİMER</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B34F5185-29D6-B406-A096-1C9445A96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974" y="2476792"/>
            <a:ext cx="5113020" cy="2884283"/>
          </a:xfrm>
          <a:prstGeom prst="rect">
            <a:avLst/>
          </a:prstGeom>
        </p:spPr>
      </p:pic>
      <p:sp>
        <p:nvSpPr>
          <p:cNvPr id="3" name="İçerik Yer Tutucusu 2">
            <a:extLst>
              <a:ext uri="{FF2B5EF4-FFF2-40B4-BE49-F238E27FC236}">
                <a16:creationId xmlns:a16="http://schemas.microsoft.com/office/drawing/2014/main" id="{731E2C36-A23C-8CFF-E8CE-1B018191FA51}"/>
              </a:ext>
            </a:extLst>
          </p:cNvPr>
          <p:cNvSpPr>
            <a:spLocks noGrp="1"/>
          </p:cNvSpPr>
          <p:nvPr>
            <p:ph idx="1"/>
          </p:nvPr>
        </p:nvSpPr>
        <p:spPr>
          <a:xfrm>
            <a:off x="6278882" y="1351281"/>
            <a:ext cx="5113019" cy="4637466"/>
          </a:xfrm>
        </p:spPr>
        <p:txBody>
          <a:bodyPr anchor="b">
            <a:normAutofit fontScale="92500" lnSpcReduction="20000"/>
          </a:bodyPr>
          <a:lstStyle/>
          <a:p>
            <a:pPr>
              <a:lnSpc>
                <a:spcPct val="100000"/>
              </a:lnSpc>
            </a:pPr>
            <a:r>
              <a:rPr lang="tr-TR" sz="1400" dirty="0"/>
              <a:t>Alzheimer, beyin hücrelerinin anormal protein birikimi nedeniyle hasar görmesi ve ölmesi sonucu ortaya çıkan, hafıza, düşünme, davranış ve günlük işlevlerde kademeli düşüşle seyreden en yaygın ilerleyici demans (bunama) türüdür. Genellikle yaşlılıkla ilişkilendirilen bu hastalık, yaşlanmanın doğal bir parçası olmayıp, geri dönüşümü olmayan bir beyin hastalığıdır.</a:t>
            </a:r>
          </a:p>
          <a:p>
            <a:pPr>
              <a:lnSpc>
                <a:spcPct val="100000"/>
              </a:lnSpc>
            </a:pPr>
            <a:r>
              <a:rPr lang="tr-TR" sz="1400" dirty="0"/>
              <a:t>Hastalık yavaş başlar ve zamanla kötüleşerek beyin dokusunun küçülmesine (atrofi) neden olur.</a:t>
            </a:r>
          </a:p>
          <a:p>
            <a:pPr>
              <a:lnSpc>
                <a:spcPct val="100000"/>
              </a:lnSpc>
            </a:pPr>
            <a:r>
              <a:rPr lang="tr-TR" sz="1400" dirty="0"/>
              <a:t>En erken belirti genellikle yakın zamandaki olayları unutmaktır. Zamanla yön bulma zorluğu, konuşma bozuklukları, kişilik değişiklikleri ve karar verme güçlüğü gelişir.</a:t>
            </a:r>
          </a:p>
          <a:p>
            <a:pPr>
              <a:lnSpc>
                <a:spcPct val="100000"/>
              </a:lnSpc>
            </a:pPr>
            <a:r>
              <a:rPr lang="tr-TR" sz="1400" dirty="0"/>
              <a:t>Beyinde beta-amiloid plakları ve </a:t>
            </a:r>
            <a:r>
              <a:rPr lang="tr-TR" sz="1400" dirty="0" err="1"/>
              <a:t>tau</a:t>
            </a:r>
            <a:r>
              <a:rPr lang="tr-TR" sz="1400" dirty="0"/>
              <a:t> yumakları adı verilen proteinlerin birikimi sinir hücreleri arasındaki iletişimi koparır ve hücre ölümüne yol açar.</a:t>
            </a:r>
          </a:p>
          <a:p>
            <a:pPr>
              <a:lnSpc>
                <a:spcPct val="100000"/>
              </a:lnSpc>
            </a:pPr>
            <a:r>
              <a:rPr lang="tr-TR" sz="1400" dirty="0"/>
              <a:t>Erken evrede hafif unutkanlık görülürken, orta evrede günlük yaşam aktiviteleri (yemek yapma, giyinme) zorlaşır, ileri evrede ise hasta tamamen bakıma muhtaç hale gelebilir. </a:t>
            </a:r>
          </a:p>
          <a:p>
            <a:pPr>
              <a:lnSpc>
                <a:spcPct val="100000"/>
              </a:lnSpc>
            </a:pPr>
            <a:r>
              <a:rPr lang="tr-TR" sz="1400" dirty="0"/>
              <a:t>EEG (elektroensefalografi), Alzheimer hastalığının (AH) erken teşhisinde ve takibinde kullanılan, beyindeki yavaş frekans aktivitesini (teta/delta) artarken hızlı frekans (alfa/beta) aktivitesini azaltan, invaziv olmayan önemli bir nörofizyolojik araçtır. Özellikle "P300" gibi olaya ilişkin potansiyellerdeki (OİP) gecikmeler ve azalma, hastalığın erken aşamalarında tanısal ipuçları sağlar.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445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AB468C3-4524-BB58-0A00-3DF939818D0A}"/>
              </a:ext>
            </a:extLst>
          </p:cNvPr>
          <p:cNvSpPr>
            <a:spLocks noGrp="1"/>
          </p:cNvSpPr>
          <p:nvPr>
            <p:ph type="title"/>
          </p:nvPr>
        </p:nvSpPr>
        <p:spPr>
          <a:xfrm>
            <a:off x="704088" y="914400"/>
            <a:ext cx="10687812" cy="798194"/>
          </a:xfrm>
        </p:spPr>
        <p:txBody>
          <a:bodyPr>
            <a:normAutofit/>
          </a:bodyPr>
          <a:lstStyle/>
          <a:p>
            <a:r>
              <a:rPr lang="tr-TR" dirty="0"/>
              <a:t>PARKİNSON</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Resim 4">
            <a:extLst>
              <a:ext uri="{FF2B5EF4-FFF2-40B4-BE49-F238E27FC236}">
                <a16:creationId xmlns:a16="http://schemas.microsoft.com/office/drawing/2014/main" id="{D54B5FB0-87B6-F788-C131-9E44BD414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2912249"/>
            <a:ext cx="6072188" cy="3096815"/>
          </a:xfrm>
          <a:prstGeom prst="rect">
            <a:avLst/>
          </a:prstGeom>
        </p:spPr>
      </p:pic>
      <p:sp>
        <p:nvSpPr>
          <p:cNvPr id="3" name="İçerik Yer Tutucusu 2">
            <a:extLst>
              <a:ext uri="{FF2B5EF4-FFF2-40B4-BE49-F238E27FC236}">
                <a16:creationId xmlns:a16="http://schemas.microsoft.com/office/drawing/2014/main" id="{4830EC88-2044-FE36-F998-FA42F305199C}"/>
              </a:ext>
            </a:extLst>
          </p:cNvPr>
          <p:cNvSpPr>
            <a:spLocks noGrp="1"/>
          </p:cNvSpPr>
          <p:nvPr>
            <p:ph idx="1"/>
          </p:nvPr>
        </p:nvSpPr>
        <p:spPr>
          <a:xfrm>
            <a:off x="7200900" y="1849121"/>
            <a:ext cx="4191001" cy="4139626"/>
          </a:xfrm>
        </p:spPr>
        <p:txBody>
          <a:bodyPr anchor="b">
            <a:normAutofit/>
          </a:bodyPr>
          <a:lstStyle/>
          <a:p>
            <a:pPr>
              <a:lnSpc>
                <a:spcPct val="100000"/>
              </a:lnSpc>
            </a:pPr>
            <a:r>
              <a:rPr lang="tr-TR" sz="1000"/>
              <a:t>Parkinson, beyinde hareketleri kontrol eden dopaminerjik nöronların kaybı sonucu oluşan, ilerleyici ve kronik bir sinir sistemi hastalığıdır. Temelinde dopamin eksikliği yatan bu rahatsızlık, genellikle istirahat halinde titreme, kas sertliği (rijidite), hareketlerde yavaşlama (</a:t>
            </a:r>
            <a:r>
              <a:rPr lang="tr-TR" sz="1000" err="1"/>
              <a:t>bradikinezi</a:t>
            </a:r>
            <a:r>
              <a:rPr lang="tr-TR" sz="1000"/>
              <a:t>) ve denge bozuklukları ile karakterizedir.</a:t>
            </a:r>
          </a:p>
          <a:p>
            <a:pPr>
              <a:lnSpc>
                <a:spcPct val="100000"/>
              </a:lnSpc>
            </a:pPr>
            <a:r>
              <a:rPr lang="tr-TR" sz="1000"/>
              <a:t>Beynin "</a:t>
            </a:r>
            <a:r>
              <a:rPr lang="tr-TR" sz="1000" err="1"/>
              <a:t>substantia</a:t>
            </a:r>
            <a:r>
              <a:rPr lang="tr-TR" sz="1000"/>
              <a:t> </a:t>
            </a:r>
            <a:r>
              <a:rPr lang="tr-TR" sz="1000" err="1"/>
              <a:t>nigra</a:t>
            </a:r>
            <a:r>
              <a:rPr lang="tr-TR" sz="1000"/>
              <a:t>" bölgesindeki hücrelerin azalmasıyla dopamin üretimi düşer.</a:t>
            </a:r>
          </a:p>
          <a:p>
            <a:pPr>
              <a:lnSpc>
                <a:spcPct val="100000"/>
              </a:lnSpc>
            </a:pPr>
            <a:r>
              <a:rPr lang="tr-TR" sz="1000"/>
              <a:t>Hareketlerde yavaşlama, ellerde/ayaklarda titreme, kaslarda sertlik, öne eğik duruş ve donuk yüz ifadesi.</a:t>
            </a:r>
          </a:p>
          <a:p>
            <a:pPr>
              <a:lnSpc>
                <a:spcPct val="100000"/>
              </a:lnSpc>
            </a:pPr>
            <a:r>
              <a:rPr lang="tr-TR" sz="1000"/>
              <a:t>Genellikle 60 yaş üstü bireylerde görülse de, 40-70 yaş aralığında daha yaygındır ve erkeklerde görülme sıklığı daha yüksektir.</a:t>
            </a:r>
          </a:p>
          <a:p>
            <a:pPr>
              <a:lnSpc>
                <a:spcPct val="100000"/>
              </a:lnSpc>
            </a:pPr>
            <a:r>
              <a:rPr lang="tr-TR" sz="1000"/>
              <a:t> Tamamen ortadan kaldıran bir tedavisi olmamakla birlikte, ilaçlar ve yaşam tarzı değişiklikleri ile belirtiler önemli ölçüde azaltılabilir.</a:t>
            </a:r>
          </a:p>
          <a:p>
            <a:pPr>
              <a:lnSpc>
                <a:spcPct val="100000"/>
              </a:lnSpc>
            </a:pPr>
            <a:r>
              <a:rPr lang="tr-TR" sz="1000"/>
              <a:t>Parkinson hastalığında EEG (elektroensefalografi), beyindeki elektriksel aktiviteyi ölçerek hastalığın teşhisi, evrelemesi ve kognitif fonksiyonların değerlendirilmesinde önemli bir araçtır. Erken evrelerde teta dalgalarında artış ve alfa/teta oranında azalma gibi yavaşlama belirtileri (aşırı teta gücü) gözlemlenirken, özellikle hastalığın ilerlemesiyle ilişkili bilişsel bozuklukların tespitinde kullanılır.</a:t>
            </a: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598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873D78A-CDFA-A165-DB13-6F1599B22B9E}"/>
              </a:ext>
            </a:extLst>
          </p:cNvPr>
          <p:cNvSpPr>
            <a:spLocks noGrp="1"/>
          </p:cNvSpPr>
          <p:nvPr>
            <p:ph type="title"/>
          </p:nvPr>
        </p:nvSpPr>
        <p:spPr>
          <a:xfrm>
            <a:off x="704088" y="914400"/>
            <a:ext cx="10687812" cy="798194"/>
          </a:xfrm>
        </p:spPr>
        <p:txBody>
          <a:bodyPr>
            <a:normAutofit/>
          </a:bodyPr>
          <a:lstStyle/>
          <a:p>
            <a:r>
              <a:rPr lang="tr-TR" dirty="0"/>
              <a:t>UYKU ANALİZİ</a:t>
            </a:r>
          </a:p>
        </p:txBody>
      </p:sp>
      <p:cxnSp>
        <p:nvCxnSpPr>
          <p:cNvPr id="26" name="Straight Connector 2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Resim 11">
            <a:extLst>
              <a:ext uri="{FF2B5EF4-FFF2-40B4-BE49-F238E27FC236}">
                <a16:creationId xmlns:a16="http://schemas.microsoft.com/office/drawing/2014/main" id="{55AD74AC-5BF6-FE8A-88FB-03D315B8D2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3231037"/>
            <a:ext cx="6072188" cy="2778026"/>
          </a:xfrm>
          <a:prstGeom prst="rect">
            <a:avLst/>
          </a:prstGeom>
        </p:spPr>
      </p:pic>
      <p:sp>
        <p:nvSpPr>
          <p:cNvPr id="3" name="İçerik Yer Tutucusu 2">
            <a:extLst>
              <a:ext uri="{FF2B5EF4-FFF2-40B4-BE49-F238E27FC236}">
                <a16:creationId xmlns:a16="http://schemas.microsoft.com/office/drawing/2014/main" id="{4B765872-F166-43FB-ECE7-7EFFD3133D08}"/>
              </a:ext>
            </a:extLst>
          </p:cNvPr>
          <p:cNvSpPr>
            <a:spLocks noGrp="1"/>
          </p:cNvSpPr>
          <p:nvPr>
            <p:ph idx="1"/>
          </p:nvPr>
        </p:nvSpPr>
        <p:spPr>
          <a:xfrm>
            <a:off x="7200900" y="1849121"/>
            <a:ext cx="4191001" cy="4139626"/>
          </a:xfrm>
        </p:spPr>
        <p:txBody>
          <a:bodyPr anchor="b">
            <a:normAutofit/>
          </a:bodyPr>
          <a:lstStyle/>
          <a:p>
            <a:pPr>
              <a:lnSpc>
                <a:spcPct val="100000"/>
              </a:lnSpc>
            </a:pPr>
            <a:r>
              <a:rPr lang="tr-TR" sz="700">
                <a:latin typeface="Google Sans"/>
              </a:rPr>
              <a:t>Uyku </a:t>
            </a:r>
            <a:r>
              <a:rPr lang="tr-TR" sz="700"/>
              <a:t>sırasında beynin elektriksel aktivitesini kaydeden, uyku bozuklukları (apne, </a:t>
            </a:r>
            <a:r>
              <a:rPr lang="tr-TR" sz="700" err="1"/>
              <a:t>parasomni</a:t>
            </a:r>
            <a:r>
              <a:rPr lang="tr-TR" sz="700"/>
              <a:t>) ve epilepsi teşhisinde kullanılır</a:t>
            </a:r>
            <a:r>
              <a:rPr lang="tr-TR" sz="700">
                <a:latin typeface="Google Sans"/>
              </a:rPr>
              <a:t>. Genellikle 1-2 saatlik veya tüm gece süren (</a:t>
            </a:r>
            <a:r>
              <a:rPr lang="tr-TR" sz="700" err="1">
                <a:latin typeface="Google Sans"/>
              </a:rPr>
              <a:t>polisomnografi</a:t>
            </a:r>
            <a:r>
              <a:rPr lang="tr-TR" sz="700">
                <a:latin typeface="Google Sans"/>
              </a:rPr>
              <a:t>) çekimlerle uyku evreleri, beyin dalgaları ve kas aktiviteleri izlenir.</a:t>
            </a:r>
            <a:endParaRPr lang="tr-TR" sz="700"/>
          </a:p>
          <a:p>
            <a:pPr>
              <a:lnSpc>
                <a:spcPct val="100000"/>
              </a:lnSpc>
            </a:pPr>
            <a:r>
              <a:rPr lang="tr-TR" sz="700"/>
              <a:t>Uyku, yaklaşık 90-110 dakikalık döngüler halinde gerçekleşen ve NREM (hafif/derin) ile REM (rüya) evrelerinden oluşan aktif bir süreçtir. Gece boyu 4-5 kez tekrarlanan bu döngü, NREM-1 (hafif), NREM-2 (orta), NREM-3 (derin/fiziksel onarım) ve REM (zihinsel onarım/rüya) aşamalarını içerir. </a:t>
            </a:r>
          </a:p>
          <a:p>
            <a:pPr>
              <a:lnSpc>
                <a:spcPct val="100000"/>
              </a:lnSpc>
            </a:pPr>
            <a:r>
              <a:rPr lang="tr-TR" sz="700" b="1"/>
              <a:t>NREM Evreleri (Derinleşme Süreci):</a:t>
            </a:r>
            <a:endParaRPr lang="tr-TR" sz="700"/>
          </a:p>
          <a:p>
            <a:pPr lvl="1">
              <a:lnSpc>
                <a:spcPct val="100000"/>
              </a:lnSpc>
            </a:pPr>
            <a:r>
              <a:rPr lang="tr-TR" sz="700" b="1"/>
              <a:t>NREM 1 (N1 - Hafif Uyku):</a:t>
            </a:r>
            <a:r>
              <a:rPr lang="tr-TR" sz="700"/>
              <a:t> Uyanıklıktan uykuya geçiş aşamasıdır. Birkaç dakika sürer, kolay uyanılabilir.</a:t>
            </a:r>
          </a:p>
          <a:p>
            <a:pPr lvl="1">
              <a:lnSpc>
                <a:spcPct val="100000"/>
              </a:lnSpc>
            </a:pPr>
            <a:r>
              <a:rPr lang="tr-TR" sz="700" b="1"/>
              <a:t>NREM 2 (N2 - Orta Uyku):</a:t>
            </a:r>
            <a:r>
              <a:rPr lang="tr-TR" sz="700"/>
              <a:t> Toplam uykunun yaklaşık yarısını oluşturur. Kalp hızı ve solunum yavaşlar, vücut sıcaklığı düşer.</a:t>
            </a:r>
          </a:p>
          <a:p>
            <a:pPr lvl="1">
              <a:lnSpc>
                <a:spcPct val="100000"/>
              </a:lnSpc>
            </a:pPr>
            <a:r>
              <a:rPr lang="tr-TR" sz="700" b="1"/>
              <a:t>NREM 3 (N3 - Derin Uyku):</a:t>
            </a:r>
            <a:r>
              <a:rPr lang="tr-TR" sz="700"/>
              <a:t> En derin uyku evresidir. Fiziksel yenilenme, doku onarımı ve büyüme hormonu salınımı bu evrede gerçekleşir.</a:t>
            </a:r>
          </a:p>
          <a:p>
            <a:pPr>
              <a:lnSpc>
                <a:spcPct val="100000"/>
              </a:lnSpc>
            </a:pPr>
            <a:r>
              <a:rPr lang="tr-TR" sz="700" b="1"/>
              <a:t>REM Uykusu (Rüya Evresi):</a:t>
            </a:r>
            <a:endParaRPr lang="tr-TR" sz="700"/>
          </a:p>
          <a:p>
            <a:pPr lvl="1">
              <a:lnSpc>
                <a:spcPct val="100000"/>
              </a:lnSpc>
            </a:pPr>
            <a:r>
              <a:rPr lang="tr-TR" sz="700"/>
              <a:t>Beyin aktivitesinin uyanıklık seviyesine çıktığı, rüyaların görüldüğü evredir. Kaslar geçici olarak felç olur (rüyanın fiziksel olarak yaşanmasını engellemek için).</a:t>
            </a:r>
          </a:p>
          <a:p>
            <a:pPr lvl="1">
              <a:lnSpc>
                <a:spcPct val="100000"/>
              </a:lnSpc>
            </a:pPr>
            <a:r>
              <a:rPr lang="tr-TR" sz="700"/>
              <a:t>Öğrenilen bilgilerin kaydedilmesi ve hafızanın işlenmesi için kritiktir.</a:t>
            </a:r>
          </a:p>
          <a:p>
            <a:pPr>
              <a:lnSpc>
                <a:spcPct val="100000"/>
              </a:lnSpc>
            </a:pPr>
            <a:r>
              <a:rPr lang="tr-TR" sz="700"/>
              <a:t>Uyku evreleri döngüsü: N1 -&gt; N2 -&gt; N3 -&gt; N2 -&gt; REM </a:t>
            </a:r>
          </a:p>
          <a:p>
            <a:pPr>
              <a:lnSpc>
                <a:spcPct val="100000"/>
              </a:lnSpc>
            </a:pPr>
            <a:endParaRPr lang="tr-TR" sz="700"/>
          </a:p>
          <a:p>
            <a:pPr>
              <a:lnSpc>
                <a:spcPct val="100000"/>
              </a:lnSpc>
            </a:pPr>
            <a:endParaRPr lang="tr-TR" sz="700"/>
          </a:p>
        </p:txBody>
      </p:sp>
      <p:cxnSp>
        <p:nvCxnSpPr>
          <p:cNvPr id="28" name="Straight Connector 2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İçerik Yer Tutucusu 2">
            <a:extLst>
              <a:ext uri="{FF2B5EF4-FFF2-40B4-BE49-F238E27FC236}">
                <a16:creationId xmlns:a16="http://schemas.microsoft.com/office/drawing/2014/main" id="{1AB885E8-AD70-803D-DC3B-F0D3B5069089}"/>
              </a:ext>
            </a:extLst>
          </p:cNvPr>
          <p:cNvSpPr txBox="1">
            <a:spLocks/>
          </p:cNvSpPr>
          <p:nvPr/>
        </p:nvSpPr>
        <p:spPr>
          <a:xfrm>
            <a:off x="6499124" y="2128586"/>
            <a:ext cx="5798488"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tr-TR" dirty="0"/>
          </a:p>
        </p:txBody>
      </p:sp>
    </p:spTree>
    <p:extLst>
      <p:ext uri="{BB962C8B-B14F-4D97-AF65-F5344CB8AC3E}">
        <p14:creationId xmlns:p14="http://schemas.microsoft.com/office/powerpoint/2010/main" val="289848028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136</TotalTime>
  <Words>2894</Words>
  <Application>Microsoft Office PowerPoint</Application>
  <PresentationFormat>Geniş ekran</PresentationFormat>
  <Paragraphs>151</Paragraphs>
  <Slides>28</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28</vt:i4>
      </vt:variant>
    </vt:vector>
  </HeadingPairs>
  <TitlesOfParts>
    <vt:vector size="33" baseType="lpstr">
      <vt:lpstr>Arial</vt:lpstr>
      <vt:lpstr>Calisto MT</vt:lpstr>
      <vt:lpstr>Google Sans</vt:lpstr>
      <vt:lpstr>Univers Condensed</vt:lpstr>
      <vt:lpstr>ChronicleVTI</vt:lpstr>
      <vt:lpstr>Elektroensefalografi</vt:lpstr>
      <vt:lpstr>ELEKTROENSEFALOGRAFİ</vt:lpstr>
      <vt:lpstr>ELEKTROENSEFALOGRAFİ</vt:lpstr>
      <vt:lpstr>EEG Aktivitesinin Hücresel Temeli</vt:lpstr>
      <vt:lpstr>Beynin bölgeleri ve işlevleri </vt:lpstr>
      <vt:lpstr>Oksipital korteks</vt:lpstr>
      <vt:lpstr>Parietal korteks</vt:lpstr>
      <vt:lpstr>Temporal korteks</vt:lpstr>
      <vt:lpstr>Ön korteks</vt:lpstr>
      <vt:lpstr>EEG DALGALARI</vt:lpstr>
      <vt:lpstr>Delta Dalgaları</vt:lpstr>
      <vt:lpstr>Teta Dalgaları  </vt:lpstr>
      <vt:lpstr>Alfa Dalgaları  </vt:lpstr>
      <vt:lpstr>Beta Dalgaları  </vt:lpstr>
      <vt:lpstr>Gama Dalgaları  </vt:lpstr>
      <vt:lpstr>MU RİTMİ</vt:lpstr>
      <vt:lpstr>EEG’nin Kaydedilmesi</vt:lpstr>
      <vt:lpstr>KAYIT</vt:lpstr>
      <vt:lpstr>ARTEFAKTLAR</vt:lpstr>
      <vt:lpstr>EEG SİNYALLERİNİN FİLTRELENMESİ</vt:lpstr>
      <vt:lpstr>DEĞERLENDİRME</vt:lpstr>
      <vt:lpstr>EEG ile Hangi Hastalıklar Teşhis Edilir? </vt:lpstr>
      <vt:lpstr>EPİLEPSİ</vt:lpstr>
      <vt:lpstr>BEYİN İLTİHABI</vt:lpstr>
      <vt:lpstr>MİGREN</vt:lpstr>
      <vt:lpstr>ALZHEİMER</vt:lpstr>
      <vt:lpstr>PARKİNSON</vt:lpstr>
      <vt:lpstr>UYKU ANALİZİ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3</cp:revision>
  <dcterms:created xsi:type="dcterms:W3CDTF">2026-04-18T19:56:05Z</dcterms:created>
  <dcterms:modified xsi:type="dcterms:W3CDTF">2026-04-20T09:59:51Z</dcterms:modified>
</cp:coreProperties>
</file>