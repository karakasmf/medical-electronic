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3" r:id="rId3"/>
    <p:sldId id="286" r:id="rId4"/>
    <p:sldId id="285" r:id="rId5"/>
    <p:sldId id="287" r:id="rId6"/>
    <p:sldId id="284" r:id="rId7"/>
    <p:sldId id="281"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6EE671-04D2-4AAE-ADA1-5F776D7F54A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5C15FE15-558A-4620-9CA0-FC976E33F86A}">
      <dgm:prSet custT="1"/>
      <dgm:spPr/>
      <dgm:t>
        <a:bodyPr/>
        <a:lstStyle/>
        <a:p>
          <a:pPr>
            <a:lnSpc>
              <a:spcPct val="100000"/>
            </a:lnSpc>
          </a:pPr>
          <a:r>
            <a:rPr lang="tr-TR" sz="1200" b="1"/>
            <a:t>Subje (Özne):</a:t>
          </a:r>
          <a:r>
            <a:rPr lang="tr-TR" sz="1200"/>
            <a:t> Üzerinde ölçüm yapılan canlı organizmadır (genellikle insan).</a:t>
          </a:r>
          <a:endParaRPr lang="en-US" sz="1200" dirty="0"/>
        </a:p>
      </dgm:t>
    </dgm:pt>
    <dgm:pt modelId="{F0E6E00B-D75F-41DD-A1C5-58F7DD7317F8}" type="parTrans" cxnId="{29FFC5CF-3B48-4B10-A617-910ED7EE508C}">
      <dgm:prSet/>
      <dgm:spPr/>
      <dgm:t>
        <a:bodyPr/>
        <a:lstStyle/>
        <a:p>
          <a:endParaRPr lang="en-US" sz="2800"/>
        </a:p>
      </dgm:t>
    </dgm:pt>
    <dgm:pt modelId="{70E277A7-1F38-43B9-A512-3572E6AEB400}" type="sibTrans" cxnId="{29FFC5CF-3B48-4B10-A617-910ED7EE508C}">
      <dgm:prSet/>
      <dgm:spPr/>
      <dgm:t>
        <a:bodyPr/>
        <a:lstStyle/>
        <a:p>
          <a:pPr>
            <a:lnSpc>
              <a:spcPct val="100000"/>
            </a:lnSpc>
          </a:pPr>
          <a:endParaRPr lang="en-US" sz="2800"/>
        </a:p>
      </dgm:t>
    </dgm:pt>
    <dgm:pt modelId="{47A135AF-C4D3-431B-A737-09E800CCEC20}">
      <dgm:prSet custT="1"/>
      <dgm:spPr/>
      <dgm:t>
        <a:bodyPr/>
        <a:lstStyle/>
        <a:p>
          <a:pPr>
            <a:lnSpc>
              <a:spcPct val="100000"/>
            </a:lnSpc>
          </a:pPr>
          <a:r>
            <a:rPr lang="tr-TR" sz="1200" b="1"/>
            <a:t>Uyarıcı (Stimulus):</a:t>
          </a:r>
          <a:r>
            <a:rPr lang="tr-TR" sz="1200"/>
            <a:t> Bazı ölçümlerde (örneğin görsel veya işitsel tepkilerin ölçülmesinde) organizmaya dışarıdan bir uyarı verilmesi gerekir. Bu ünite, gerekli uyarıyı (ışık, ses veya elektriksel uyarı) üretir ve subjeye uygular.</a:t>
          </a:r>
          <a:endParaRPr lang="en-US" sz="1200"/>
        </a:p>
      </dgm:t>
    </dgm:pt>
    <dgm:pt modelId="{01C8439B-75B3-49F1-94EA-193C1DCA63D8}" type="parTrans" cxnId="{8637FA3D-1B68-4BDB-9B94-0A2A745C3894}">
      <dgm:prSet/>
      <dgm:spPr/>
      <dgm:t>
        <a:bodyPr/>
        <a:lstStyle/>
        <a:p>
          <a:endParaRPr lang="en-US" sz="2800"/>
        </a:p>
      </dgm:t>
    </dgm:pt>
    <dgm:pt modelId="{0EFD4DE3-21EC-43B9-A61F-C49792FE1436}" type="sibTrans" cxnId="{8637FA3D-1B68-4BDB-9B94-0A2A745C3894}">
      <dgm:prSet/>
      <dgm:spPr/>
      <dgm:t>
        <a:bodyPr/>
        <a:lstStyle/>
        <a:p>
          <a:pPr>
            <a:lnSpc>
              <a:spcPct val="100000"/>
            </a:lnSpc>
          </a:pPr>
          <a:endParaRPr lang="en-US" sz="2800"/>
        </a:p>
      </dgm:t>
    </dgm:pt>
    <dgm:pt modelId="{D62C8C58-202C-41A4-8DBA-DF070D774778}">
      <dgm:prSet custT="1"/>
      <dgm:spPr/>
      <dgm:t>
        <a:bodyPr/>
        <a:lstStyle/>
        <a:p>
          <a:pPr>
            <a:lnSpc>
              <a:spcPct val="100000"/>
            </a:lnSpc>
          </a:pPr>
          <a:r>
            <a:rPr lang="tr-TR" sz="1200" b="1"/>
            <a:t>Dönüştürücü (Transducer):</a:t>
          </a:r>
          <a:r>
            <a:rPr lang="tr-TR" sz="1200"/>
            <a:t> Fizyolojik büyüklükleri (sıcaklık, basınç, akış vb.) elektriksel işaretlere çevirir. Dönüştürücü çıkışı daima elektriksel bir işarettir.</a:t>
          </a:r>
          <a:endParaRPr lang="en-US" sz="1200"/>
        </a:p>
      </dgm:t>
    </dgm:pt>
    <dgm:pt modelId="{6164B8C0-8DDF-4617-844D-478C5EA9A2A9}" type="parTrans" cxnId="{3824A173-CB62-4423-9443-0DAEF3C14104}">
      <dgm:prSet/>
      <dgm:spPr/>
      <dgm:t>
        <a:bodyPr/>
        <a:lstStyle/>
        <a:p>
          <a:endParaRPr lang="en-US" sz="2800"/>
        </a:p>
      </dgm:t>
    </dgm:pt>
    <dgm:pt modelId="{DC234E65-D136-4903-AE63-2A89EABBB4B6}" type="sibTrans" cxnId="{3824A173-CB62-4423-9443-0DAEF3C14104}">
      <dgm:prSet/>
      <dgm:spPr/>
      <dgm:t>
        <a:bodyPr/>
        <a:lstStyle/>
        <a:p>
          <a:pPr>
            <a:lnSpc>
              <a:spcPct val="100000"/>
            </a:lnSpc>
          </a:pPr>
          <a:endParaRPr lang="en-US" sz="2800"/>
        </a:p>
      </dgm:t>
    </dgm:pt>
    <dgm:pt modelId="{E7F5D164-358A-49B2-BC41-AE4CD35E1E2D}">
      <dgm:prSet custT="1"/>
      <dgm:spPr/>
      <dgm:t>
        <a:bodyPr/>
        <a:lstStyle/>
        <a:p>
          <a:pPr>
            <a:lnSpc>
              <a:spcPct val="100000"/>
            </a:lnSpc>
          </a:pPr>
          <a:r>
            <a:rPr lang="tr-TR" sz="1200" b="1"/>
            <a:t>İşaret İşleme:</a:t>
          </a:r>
          <a:r>
            <a:rPr lang="tr-TR" sz="1200"/>
            <a:t> Dönüştürücüden gelen elektriksel işareti, görüntüleme veya kaydetme ünitelerine uygun hale getirmek için işler (örneğin kuvvetlendirir).</a:t>
          </a:r>
          <a:endParaRPr lang="en-US" sz="1200"/>
        </a:p>
      </dgm:t>
    </dgm:pt>
    <dgm:pt modelId="{113E9A83-03A2-4208-91F1-CB1A1E9AC3FD}" type="parTrans" cxnId="{DD737B5D-616C-4120-806E-239EE95CECBC}">
      <dgm:prSet/>
      <dgm:spPr/>
      <dgm:t>
        <a:bodyPr/>
        <a:lstStyle/>
        <a:p>
          <a:endParaRPr lang="en-US" sz="2800"/>
        </a:p>
      </dgm:t>
    </dgm:pt>
    <dgm:pt modelId="{D4AE2210-0499-44E8-9545-608E28CEB22D}" type="sibTrans" cxnId="{DD737B5D-616C-4120-806E-239EE95CECBC}">
      <dgm:prSet/>
      <dgm:spPr/>
      <dgm:t>
        <a:bodyPr/>
        <a:lstStyle/>
        <a:p>
          <a:pPr>
            <a:lnSpc>
              <a:spcPct val="100000"/>
            </a:lnSpc>
          </a:pPr>
          <a:endParaRPr lang="en-US" sz="2800"/>
        </a:p>
      </dgm:t>
    </dgm:pt>
    <dgm:pt modelId="{2C4B9F51-BA7B-42A2-A761-224C050AB033}">
      <dgm:prSet custT="1"/>
      <dgm:spPr/>
      <dgm:t>
        <a:bodyPr/>
        <a:lstStyle/>
        <a:p>
          <a:pPr>
            <a:lnSpc>
              <a:spcPct val="100000"/>
            </a:lnSpc>
          </a:pPr>
          <a:r>
            <a:rPr lang="tr-TR" sz="1200" b="1"/>
            <a:t>Görüntüleme Ünitesi:</a:t>
          </a:r>
          <a:r>
            <a:rPr lang="tr-TR" sz="1200"/>
            <a:t> İşlenmiş işaretin anlamlı olabilmesi için ses veya görüntü şeklinde (örneğin grafik ekran) sunulduğu kısımdır.</a:t>
          </a:r>
          <a:endParaRPr lang="en-US" sz="1200"/>
        </a:p>
      </dgm:t>
    </dgm:pt>
    <dgm:pt modelId="{CB98C126-B2DE-480B-88CD-68E4BEBB08C8}" type="parTrans" cxnId="{1E633F03-F01F-4A46-993C-6F868CD9C4D5}">
      <dgm:prSet/>
      <dgm:spPr/>
      <dgm:t>
        <a:bodyPr/>
        <a:lstStyle/>
        <a:p>
          <a:endParaRPr lang="en-US" sz="2800"/>
        </a:p>
      </dgm:t>
    </dgm:pt>
    <dgm:pt modelId="{356F2C57-D1AD-4D25-98F1-823160B5E9D0}" type="sibTrans" cxnId="{1E633F03-F01F-4A46-993C-6F868CD9C4D5}">
      <dgm:prSet/>
      <dgm:spPr/>
      <dgm:t>
        <a:bodyPr/>
        <a:lstStyle/>
        <a:p>
          <a:pPr>
            <a:lnSpc>
              <a:spcPct val="100000"/>
            </a:lnSpc>
          </a:pPr>
          <a:endParaRPr lang="en-US" sz="2800"/>
        </a:p>
      </dgm:t>
    </dgm:pt>
    <dgm:pt modelId="{26C5C725-7670-4D28-973A-7A55D4A4A47A}">
      <dgm:prSet custT="1"/>
      <dgm:spPr/>
      <dgm:t>
        <a:bodyPr/>
        <a:lstStyle/>
        <a:p>
          <a:pPr>
            <a:lnSpc>
              <a:spcPct val="100000"/>
            </a:lnSpc>
          </a:pPr>
          <a:r>
            <a:rPr lang="tr-TR" sz="1200" b="1"/>
            <a:t>Kaydetme, Veri İşleme ve Gönderme:</a:t>
          </a:r>
          <a:r>
            <a:rPr lang="tr-TR" sz="1200"/>
            <a:t> Verilerin saklanmasını, analiz edilmesini veya başka bir merkeze iletilmesini sağlayan ünitedir. Bilgisayar destekli sistemlerde bu ünite hayati önem taşır.</a:t>
          </a:r>
          <a:endParaRPr lang="en-US" sz="1200"/>
        </a:p>
      </dgm:t>
    </dgm:pt>
    <dgm:pt modelId="{04A0F94E-CA17-438C-8F3A-A4B792C21B24}" type="parTrans" cxnId="{00ADC4A6-C008-4074-9B7D-4B486BFA2763}">
      <dgm:prSet/>
      <dgm:spPr/>
      <dgm:t>
        <a:bodyPr/>
        <a:lstStyle/>
        <a:p>
          <a:endParaRPr lang="en-US" sz="2800"/>
        </a:p>
      </dgm:t>
    </dgm:pt>
    <dgm:pt modelId="{7E31C337-D6A7-4847-9CBF-16B330919BA0}" type="sibTrans" cxnId="{00ADC4A6-C008-4074-9B7D-4B486BFA2763}">
      <dgm:prSet/>
      <dgm:spPr/>
      <dgm:t>
        <a:bodyPr/>
        <a:lstStyle/>
        <a:p>
          <a:endParaRPr lang="en-US" sz="2800"/>
        </a:p>
      </dgm:t>
    </dgm:pt>
    <dgm:pt modelId="{26408EA2-B8E5-436F-B330-17DECDB99E4B}" type="pres">
      <dgm:prSet presAssocID="{EF6EE671-04D2-4AAE-ADA1-5F776D7F54AE}" presName="linear" presStyleCnt="0">
        <dgm:presLayoutVars>
          <dgm:animLvl val="lvl"/>
          <dgm:resizeHandles val="exact"/>
        </dgm:presLayoutVars>
      </dgm:prSet>
      <dgm:spPr/>
    </dgm:pt>
    <dgm:pt modelId="{97231501-491A-4897-9D89-8EE58C613FFD}" type="pres">
      <dgm:prSet presAssocID="{5C15FE15-558A-4620-9CA0-FC976E33F86A}" presName="parentText" presStyleLbl="node1" presStyleIdx="0" presStyleCnt="6">
        <dgm:presLayoutVars>
          <dgm:chMax val="0"/>
          <dgm:bulletEnabled val="1"/>
        </dgm:presLayoutVars>
      </dgm:prSet>
      <dgm:spPr/>
    </dgm:pt>
    <dgm:pt modelId="{EA4B7FCF-E588-46E9-A7D9-AF1547AA7DA2}" type="pres">
      <dgm:prSet presAssocID="{70E277A7-1F38-43B9-A512-3572E6AEB400}" presName="spacer" presStyleCnt="0"/>
      <dgm:spPr/>
    </dgm:pt>
    <dgm:pt modelId="{918263E2-5B99-45D7-BC9C-8F862F7575CC}" type="pres">
      <dgm:prSet presAssocID="{47A135AF-C4D3-431B-A737-09E800CCEC20}" presName="parentText" presStyleLbl="node1" presStyleIdx="1" presStyleCnt="6">
        <dgm:presLayoutVars>
          <dgm:chMax val="0"/>
          <dgm:bulletEnabled val="1"/>
        </dgm:presLayoutVars>
      </dgm:prSet>
      <dgm:spPr/>
    </dgm:pt>
    <dgm:pt modelId="{EF695193-8AEA-4317-9A22-EB4463D9988B}" type="pres">
      <dgm:prSet presAssocID="{0EFD4DE3-21EC-43B9-A61F-C49792FE1436}" presName="spacer" presStyleCnt="0"/>
      <dgm:spPr/>
    </dgm:pt>
    <dgm:pt modelId="{6B233498-FB4A-4569-85F6-83B5F07EB43E}" type="pres">
      <dgm:prSet presAssocID="{D62C8C58-202C-41A4-8DBA-DF070D774778}" presName="parentText" presStyleLbl="node1" presStyleIdx="2" presStyleCnt="6">
        <dgm:presLayoutVars>
          <dgm:chMax val="0"/>
          <dgm:bulletEnabled val="1"/>
        </dgm:presLayoutVars>
      </dgm:prSet>
      <dgm:spPr/>
    </dgm:pt>
    <dgm:pt modelId="{7593F9BE-E954-4633-80DA-757E3C2956C8}" type="pres">
      <dgm:prSet presAssocID="{DC234E65-D136-4903-AE63-2A89EABBB4B6}" presName="spacer" presStyleCnt="0"/>
      <dgm:spPr/>
    </dgm:pt>
    <dgm:pt modelId="{748DE7E8-100E-4458-B4A9-83BB034B71C9}" type="pres">
      <dgm:prSet presAssocID="{E7F5D164-358A-49B2-BC41-AE4CD35E1E2D}" presName="parentText" presStyleLbl="node1" presStyleIdx="3" presStyleCnt="6">
        <dgm:presLayoutVars>
          <dgm:chMax val="0"/>
          <dgm:bulletEnabled val="1"/>
        </dgm:presLayoutVars>
      </dgm:prSet>
      <dgm:spPr/>
    </dgm:pt>
    <dgm:pt modelId="{9E54D1A7-820C-4DA4-9E9D-D94E009A3227}" type="pres">
      <dgm:prSet presAssocID="{D4AE2210-0499-44E8-9545-608E28CEB22D}" presName="spacer" presStyleCnt="0"/>
      <dgm:spPr/>
    </dgm:pt>
    <dgm:pt modelId="{54621999-CFB8-43DD-9389-52CBC3C31825}" type="pres">
      <dgm:prSet presAssocID="{2C4B9F51-BA7B-42A2-A761-224C050AB033}" presName="parentText" presStyleLbl="node1" presStyleIdx="4" presStyleCnt="6">
        <dgm:presLayoutVars>
          <dgm:chMax val="0"/>
          <dgm:bulletEnabled val="1"/>
        </dgm:presLayoutVars>
      </dgm:prSet>
      <dgm:spPr/>
    </dgm:pt>
    <dgm:pt modelId="{B7F9A298-4183-49E0-A69B-BA9BDC9742E4}" type="pres">
      <dgm:prSet presAssocID="{356F2C57-D1AD-4D25-98F1-823160B5E9D0}" presName="spacer" presStyleCnt="0"/>
      <dgm:spPr/>
    </dgm:pt>
    <dgm:pt modelId="{0B4206D3-23AA-4494-9E6A-F01514C896F7}" type="pres">
      <dgm:prSet presAssocID="{26C5C725-7670-4D28-973A-7A55D4A4A47A}" presName="parentText" presStyleLbl="node1" presStyleIdx="5" presStyleCnt="6">
        <dgm:presLayoutVars>
          <dgm:chMax val="0"/>
          <dgm:bulletEnabled val="1"/>
        </dgm:presLayoutVars>
      </dgm:prSet>
      <dgm:spPr/>
    </dgm:pt>
  </dgm:ptLst>
  <dgm:cxnLst>
    <dgm:cxn modelId="{1E633F03-F01F-4A46-993C-6F868CD9C4D5}" srcId="{EF6EE671-04D2-4AAE-ADA1-5F776D7F54AE}" destId="{2C4B9F51-BA7B-42A2-A761-224C050AB033}" srcOrd="4" destOrd="0" parTransId="{CB98C126-B2DE-480B-88CD-68E4BEBB08C8}" sibTransId="{356F2C57-D1AD-4D25-98F1-823160B5E9D0}"/>
    <dgm:cxn modelId="{9BCBB60D-FDA7-48A1-B072-CC27A46AF502}" type="presOf" srcId="{2C4B9F51-BA7B-42A2-A761-224C050AB033}" destId="{54621999-CFB8-43DD-9389-52CBC3C31825}" srcOrd="0" destOrd="0" presId="urn:microsoft.com/office/officeart/2005/8/layout/vList2"/>
    <dgm:cxn modelId="{8DC11038-7657-42D9-A8F1-61F774E446B3}" type="presOf" srcId="{EF6EE671-04D2-4AAE-ADA1-5F776D7F54AE}" destId="{26408EA2-B8E5-436F-B330-17DECDB99E4B}" srcOrd="0" destOrd="0" presId="urn:microsoft.com/office/officeart/2005/8/layout/vList2"/>
    <dgm:cxn modelId="{8637FA3D-1B68-4BDB-9B94-0A2A745C3894}" srcId="{EF6EE671-04D2-4AAE-ADA1-5F776D7F54AE}" destId="{47A135AF-C4D3-431B-A737-09E800CCEC20}" srcOrd="1" destOrd="0" parTransId="{01C8439B-75B3-49F1-94EA-193C1DCA63D8}" sibTransId="{0EFD4DE3-21EC-43B9-A61F-C49792FE1436}"/>
    <dgm:cxn modelId="{D06E6F5B-2D54-4120-B58D-E8CA67693D66}" type="presOf" srcId="{5C15FE15-558A-4620-9CA0-FC976E33F86A}" destId="{97231501-491A-4897-9D89-8EE58C613FFD}" srcOrd="0" destOrd="0" presId="urn:microsoft.com/office/officeart/2005/8/layout/vList2"/>
    <dgm:cxn modelId="{DD737B5D-616C-4120-806E-239EE95CECBC}" srcId="{EF6EE671-04D2-4AAE-ADA1-5F776D7F54AE}" destId="{E7F5D164-358A-49B2-BC41-AE4CD35E1E2D}" srcOrd="3" destOrd="0" parTransId="{113E9A83-03A2-4208-91F1-CB1A1E9AC3FD}" sibTransId="{D4AE2210-0499-44E8-9545-608E28CEB22D}"/>
    <dgm:cxn modelId="{72155466-3151-4B0A-828A-D26EE0E1EA69}" type="presOf" srcId="{D62C8C58-202C-41A4-8DBA-DF070D774778}" destId="{6B233498-FB4A-4569-85F6-83B5F07EB43E}" srcOrd="0" destOrd="0" presId="urn:microsoft.com/office/officeart/2005/8/layout/vList2"/>
    <dgm:cxn modelId="{3824A173-CB62-4423-9443-0DAEF3C14104}" srcId="{EF6EE671-04D2-4AAE-ADA1-5F776D7F54AE}" destId="{D62C8C58-202C-41A4-8DBA-DF070D774778}" srcOrd="2" destOrd="0" parTransId="{6164B8C0-8DDF-4617-844D-478C5EA9A2A9}" sibTransId="{DC234E65-D136-4903-AE63-2A89EABBB4B6}"/>
    <dgm:cxn modelId="{5D5CF2A1-1B42-44B8-A5D9-BCC19734C924}" type="presOf" srcId="{26C5C725-7670-4D28-973A-7A55D4A4A47A}" destId="{0B4206D3-23AA-4494-9E6A-F01514C896F7}" srcOrd="0" destOrd="0" presId="urn:microsoft.com/office/officeart/2005/8/layout/vList2"/>
    <dgm:cxn modelId="{00ADC4A6-C008-4074-9B7D-4B486BFA2763}" srcId="{EF6EE671-04D2-4AAE-ADA1-5F776D7F54AE}" destId="{26C5C725-7670-4D28-973A-7A55D4A4A47A}" srcOrd="5" destOrd="0" parTransId="{04A0F94E-CA17-438C-8F3A-A4B792C21B24}" sibTransId="{7E31C337-D6A7-4847-9CBF-16B330919BA0}"/>
    <dgm:cxn modelId="{57E8ACA7-77BF-47F8-BFAB-F0777ECA511F}" type="presOf" srcId="{E7F5D164-358A-49B2-BC41-AE4CD35E1E2D}" destId="{748DE7E8-100E-4458-B4A9-83BB034B71C9}" srcOrd="0" destOrd="0" presId="urn:microsoft.com/office/officeart/2005/8/layout/vList2"/>
    <dgm:cxn modelId="{29FFC5CF-3B48-4B10-A617-910ED7EE508C}" srcId="{EF6EE671-04D2-4AAE-ADA1-5F776D7F54AE}" destId="{5C15FE15-558A-4620-9CA0-FC976E33F86A}" srcOrd="0" destOrd="0" parTransId="{F0E6E00B-D75F-41DD-A1C5-58F7DD7317F8}" sibTransId="{70E277A7-1F38-43B9-A512-3572E6AEB400}"/>
    <dgm:cxn modelId="{971B61EA-0DF8-49F6-BEA0-AB19E6AAA885}" type="presOf" srcId="{47A135AF-C4D3-431B-A737-09E800CCEC20}" destId="{918263E2-5B99-45D7-BC9C-8F862F7575CC}" srcOrd="0" destOrd="0" presId="urn:microsoft.com/office/officeart/2005/8/layout/vList2"/>
    <dgm:cxn modelId="{1496D1CB-3BB8-430E-AC8C-5EAC14620847}" type="presParOf" srcId="{26408EA2-B8E5-436F-B330-17DECDB99E4B}" destId="{97231501-491A-4897-9D89-8EE58C613FFD}" srcOrd="0" destOrd="0" presId="urn:microsoft.com/office/officeart/2005/8/layout/vList2"/>
    <dgm:cxn modelId="{05EE1367-1508-40CE-9736-DD1802CC2145}" type="presParOf" srcId="{26408EA2-B8E5-436F-B330-17DECDB99E4B}" destId="{EA4B7FCF-E588-46E9-A7D9-AF1547AA7DA2}" srcOrd="1" destOrd="0" presId="urn:microsoft.com/office/officeart/2005/8/layout/vList2"/>
    <dgm:cxn modelId="{1D5DF6DE-A424-496B-A35A-57A84FCBCC20}" type="presParOf" srcId="{26408EA2-B8E5-436F-B330-17DECDB99E4B}" destId="{918263E2-5B99-45D7-BC9C-8F862F7575CC}" srcOrd="2" destOrd="0" presId="urn:microsoft.com/office/officeart/2005/8/layout/vList2"/>
    <dgm:cxn modelId="{AE8DFED3-3810-4B57-AF74-D477D57E49C9}" type="presParOf" srcId="{26408EA2-B8E5-436F-B330-17DECDB99E4B}" destId="{EF695193-8AEA-4317-9A22-EB4463D9988B}" srcOrd="3" destOrd="0" presId="urn:microsoft.com/office/officeart/2005/8/layout/vList2"/>
    <dgm:cxn modelId="{694CFA76-37DF-4BE0-BFF7-491A37CE0AB9}" type="presParOf" srcId="{26408EA2-B8E5-436F-B330-17DECDB99E4B}" destId="{6B233498-FB4A-4569-85F6-83B5F07EB43E}" srcOrd="4" destOrd="0" presId="urn:microsoft.com/office/officeart/2005/8/layout/vList2"/>
    <dgm:cxn modelId="{C39F705B-8C72-4A64-ADD6-1404EBB1FDF2}" type="presParOf" srcId="{26408EA2-B8E5-436F-B330-17DECDB99E4B}" destId="{7593F9BE-E954-4633-80DA-757E3C2956C8}" srcOrd="5" destOrd="0" presId="urn:microsoft.com/office/officeart/2005/8/layout/vList2"/>
    <dgm:cxn modelId="{CE2FF5B1-2603-4B80-837E-A65D63BC0E35}" type="presParOf" srcId="{26408EA2-B8E5-436F-B330-17DECDB99E4B}" destId="{748DE7E8-100E-4458-B4A9-83BB034B71C9}" srcOrd="6" destOrd="0" presId="urn:microsoft.com/office/officeart/2005/8/layout/vList2"/>
    <dgm:cxn modelId="{54FE4D17-9EA9-4528-A4FA-9DEBCE521CCE}" type="presParOf" srcId="{26408EA2-B8E5-436F-B330-17DECDB99E4B}" destId="{9E54D1A7-820C-4DA4-9E9D-D94E009A3227}" srcOrd="7" destOrd="0" presId="urn:microsoft.com/office/officeart/2005/8/layout/vList2"/>
    <dgm:cxn modelId="{557726E4-E4EC-4422-BB8C-B0E3AE046106}" type="presParOf" srcId="{26408EA2-B8E5-436F-B330-17DECDB99E4B}" destId="{54621999-CFB8-43DD-9389-52CBC3C31825}" srcOrd="8" destOrd="0" presId="urn:microsoft.com/office/officeart/2005/8/layout/vList2"/>
    <dgm:cxn modelId="{6F315B46-2691-4BF6-AF40-26FA2496574B}" type="presParOf" srcId="{26408EA2-B8E5-436F-B330-17DECDB99E4B}" destId="{B7F9A298-4183-49E0-A69B-BA9BDC9742E4}" srcOrd="9" destOrd="0" presId="urn:microsoft.com/office/officeart/2005/8/layout/vList2"/>
    <dgm:cxn modelId="{2918EE3F-09B4-4603-91BC-244B2FDA1AE6}" type="presParOf" srcId="{26408EA2-B8E5-436F-B330-17DECDB99E4B}" destId="{0B4206D3-23AA-4494-9E6A-F01514C896F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31501-491A-4897-9D89-8EE58C613FFD}">
      <dsp:nvSpPr>
        <dsp:cNvPr id="0" name=""/>
        <dsp:cNvSpPr/>
      </dsp:nvSpPr>
      <dsp:spPr>
        <a:xfrm>
          <a:off x="0" y="3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Subje (Özne):</a:t>
          </a:r>
          <a:r>
            <a:rPr lang="tr-TR" sz="1200" kern="1200"/>
            <a:t> Üzerinde ölçüm yapılan canlı organizmadır (genellikle insan).</a:t>
          </a:r>
          <a:endParaRPr lang="en-US" sz="1200" kern="1200" dirty="0"/>
        </a:p>
      </dsp:txBody>
      <dsp:txXfrm>
        <a:off x="36553" y="66594"/>
        <a:ext cx="5565892" cy="675694"/>
      </dsp:txXfrm>
    </dsp:sp>
    <dsp:sp modelId="{918263E2-5B99-45D7-BC9C-8F862F7575CC}">
      <dsp:nvSpPr>
        <dsp:cNvPr id="0" name=""/>
        <dsp:cNvSpPr/>
      </dsp:nvSpPr>
      <dsp:spPr>
        <a:xfrm>
          <a:off x="0" y="894041"/>
          <a:ext cx="5638998" cy="7488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Uyarıcı (Stimulus):</a:t>
          </a:r>
          <a:r>
            <a:rPr lang="tr-TR" sz="1200" kern="1200"/>
            <a:t> Bazı ölçümlerde (örneğin görsel veya işitsel tepkilerin ölçülmesinde) organizmaya dışarıdan bir uyarı verilmesi gerekir. Bu ünite, gerekli uyarıyı (ışık, ses veya elektriksel uyarı) üretir ve subjeye uygular.</a:t>
          </a:r>
          <a:endParaRPr lang="en-US" sz="1200" kern="1200"/>
        </a:p>
      </dsp:txBody>
      <dsp:txXfrm>
        <a:off x="36553" y="930594"/>
        <a:ext cx="5565892" cy="675694"/>
      </dsp:txXfrm>
    </dsp:sp>
    <dsp:sp modelId="{6B233498-FB4A-4569-85F6-83B5F07EB43E}">
      <dsp:nvSpPr>
        <dsp:cNvPr id="0" name=""/>
        <dsp:cNvSpPr/>
      </dsp:nvSpPr>
      <dsp:spPr>
        <a:xfrm>
          <a:off x="0" y="1758041"/>
          <a:ext cx="5638998" cy="748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Dönüştürücü (Transducer):</a:t>
          </a:r>
          <a:r>
            <a:rPr lang="tr-TR" sz="1200" kern="1200"/>
            <a:t> Fizyolojik büyüklükleri (sıcaklık, basınç, akış vb.) elektriksel işaretlere çevirir. Dönüştürücü çıkışı daima elektriksel bir işarettir.</a:t>
          </a:r>
          <a:endParaRPr lang="en-US" sz="1200" kern="1200"/>
        </a:p>
      </dsp:txBody>
      <dsp:txXfrm>
        <a:off x="36553" y="1794594"/>
        <a:ext cx="5565892" cy="675694"/>
      </dsp:txXfrm>
    </dsp:sp>
    <dsp:sp modelId="{748DE7E8-100E-4458-B4A9-83BB034B71C9}">
      <dsp:nvSpPr>
        <dsp:cNvPr id="0" name=""/>
        <dsp:cNvSpPr/>
      </dsp:nvSpPr>
      <dsp:spPr>
        <a:xfrm>
          <a:off x="0" y="2622041"/>
          <a:ext cx="5638998" cy="748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İşaret İşleme:</a:t>
          </a:r>
          <a:r>
            <a:rPr lang="tr-TR" sz="1200" kern="1200"/>
            <a:t> Dönüştürücüden gelen elektriksel işareti, görüntüleme veya kaydetme ünitelerine uygun hale getirmek için işler (örneğin kuvvetlendirir).</a:t>
          </a:r>
          <a:endParaRPr lang="en-US" sz="1200" kern="1200"/>
        </a:p>
      </dsp:txBody>
      <dsp:txXfrm>
        <a:off x="36553" y="2658594"/>
        <a:ext cx="5565892" cy="675694"/>
      </dsp:txXfrm>
    </dsp:sp>
    <dsp:sp modelId="{54621999-CFB8-43DD-9389-52CBC3C31825}">
      <dsp:nvSpPr>
        <dsp:cNvPr id="0" name=""/>
        <dsp:cNvSpPr/>
      </dsp:nvSpPr>
      <dsp:spPr>
        <a:xfrm>
          <a:off x="0" y="3486041"/>
          <a:ext cx="5638998" cy="74880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Görüntüleme Ünitesi:</a:t>
          </a:r>
          <a:r>
            <a:rPr lang="tr-TR" sz="1200" kern="1200"/>
            <a:t> İşlenmiş işaretin anlamlı olabilmesi için ses veya görüntü şeklinde (örneğin grafik ekran) sunulduğu kısımdır.</a:t>
          </a:r>
          <a:endParaRPr lang="en-US" sz="1200" kern="1200"/>
        </a:p>
      </dsp:txBody>
      <dsp:txXfrm>
        <a:off x="36553" y="3522594"/>
        <a:ext cx="5565892" cy="675694"/>
      </dsp:txXfrm>
    </dsp:sp>
    <dsp:sp modelId="{0B4206D3-23AA-4494-9E6A-F01514C896F7}">
      <dsp:nvSpPr>
        <dsp:cNvPr id="0" name=""/>
        <dsp:cNvSpPr/>
      </dsp:nvSpPr>
      <dsp:spPr>
        <a:xfrm>
          <a:off x="0" y="435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Kaydetme, Veri İşleme ve Gönderme:</a:t>
          </a:r>
          <a:r>
            <a:rPr lang="tr-TR" sz="1200" kern="1200"/>
            <a:t> Verilerin saklanmasını, analiz edilmesini veya başka bir merkeze iletilmesini sağlayan ünitedir. Bilgisayar destekli sistemlerde bu ünite hayati önem taşır.</a:t>
          </a:r>
          <a:endParaRPr lang="en-US" sz="1200" kern="1200"/>
        </a:p>
      </dsp:txBody>
      <dsp:txXfrm>
        <a:off x="36553" y="4386594"/>
        <a:ext cx="5565892" cy="6756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0EA564-7BCA-4878-AF02-A0C37433346F}" type="datetimeFigureOut">
              <a:rPr lang="tr-TR" smtClean="0"/>
              <a:t>28.03.2026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7CAEFA-0660-4588-AD92-E247035F7E05}" type="slidenum">
              <a:rPr lang="tr-TR" smtClean="0"/>
              <a:t>‹#›</a:t>
            </a:fld>
            <a:endParaRPr lang="tr-TR"/>
          </a:p>
        </p:txBody>
      </p:sp>
    </p:spTree>
    <p:extLst>
      <p:ext uri="{BB962C8B-B14F-4D97-AF65-F5344CB8AC3E}">
        <p14:creationId xmlns:p14="http://schemas.microsoft.com/office/powerpoint/2010/main" val="1192507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C9794A-0FE5-9AA1-3602-D0EBF279D662}"/>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1137CE1-490B-71D6-0AD6-3147AB5F6D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CDDDB6D-278D-65D1-05AA-ACB424E57BD8}"/>
              </a:ext>
            </a:extLst>
          </p:cNvPr>
          <p:cNvSpPr>
            <a:spLocks noGrp="1"/>
          </p:cNvSpPr>
          <p:nvPr>
            <p:ph type="dt" sz="half" idx="10"/>
          </p:nvPr>
        </p:nvSpPr>
        <p:spPr/>
        <p:txBody>
          <a:bodyPr/>
          <a:lstStyle/>
          <a:p>
            <a:fld id="{3B5C3F61-8F6C-4166-8773-4957B9671EFC}" type="datetime1">
              <a:rPr lang="tr-TR" smtClean="0"/>
              <a:t>28.03.2026</a:t>
            </a:fld>
            <a:endParaRPr lang="tr-TR"/>
          </a:p>
        </p:txBody>
      </p:sp>
      <p:sp>
        <p:nvSpPr>
          <p:cNvPr id="5" name="Alt Bilgi Yer Tutucusu 4">
            <a:extLst>
              <a:ext uri="{FF2B5EF4-FFF2-40B4-BE49-F238E27FC236}">
                <a16:creationId xmlns:a16="http://schemas.microsoft.com/office/drawing/2014/main" id="{BF5EC40A-401B-4C82-838F-3FD8E6CA7578}"/>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438EBAC1-C00C-9DD8-880A-DF26F8FFE9CB}"/>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7066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C9D0A9-AACB-DBB2-1BE9-5F89FBC597B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541E3AF-B6A6-AD23-9F62-18FB5E51B22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F922627-D6BE-D6A8-B4E3-B4AC5AD7BEEC}"/>
              </a:ext>
            </a:extLst>
          </p:cNvPr>
          <p:cNvSpPr>
            <a:spLocks noGrp="1"/>
          </p:cNvSpPr>
          <p:nvPr>
            <p:ph type="dt" sz="half" idx="10"/>
          </p:nvPr>
        </p:nvSpPr>
        <p:spPr/>
        <p:txBody>
          <a:bodyPr/>
          <a:lstStyle/>
          <a:p>
            <a:fld id="{70C1A176-CC26-4CAC-BDE1-23A442F0E3C2}" type="datetime1">
              <a:rPr lang="tr-TR" smtClean="0"/>
              <a:t>28.03.2026</a:t>
            </a:fld>
            <a:endParaRPr lang="tr-TR"/>
          </a:p>
        </p:txBody>
      </p:sp>
      <p:sp>
        <p:nvSpPr>
          <p:cNvPr id="5" name="Alt Bilgi Yer Tutucusu 4">
            <a:extLst>
              <a:ext uri="{FF2B5EF4-FFF2-40B4-BE49-F238E27FC236}">
                <a16:creationId xmlns:a16="http://schemas.microsoft.com/office/drawing/2014/main" id="{BF5FB09F-F8DF-D075-A405-983B4BDB816C}"/>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857A8138-17AF-3F65-1B09-11BB2AE3276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33619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5D86C1-CB73-36E2-38FC-5034A1C1D5C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F9DA7F3-C653-A716-D57E-A499D5CA74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79CE6FC0-624D-A341-9CF2-98D4A787440B}"/>
              </a:ext>
            </a:extLst>
          </p:cNvPr>
          <p:cNvSpPr>
            <a:spLocks noGrp="1"/>
          </p:cNvSpPr>
          <p:nvPr>
            <p:ph type="dt" sz="half" idx="10"/>
          </p:nvPr>
        </p:nvSpPr>
        <p:spPr/>
        <p:txBody>
          <a:bodyPr/>
          <a:lstStyle/>
          <a:p>
            <a:fld id="{A41DCFCF-72C4-4869-9362-AE25329AB4D6}" type="datetime1">
              <a:rPr lang="tr-TR" smtClean="0"/>
              <a:t>28.03.2026</a:t>
            </a:fld>
            <a:endParaRPr lang="tr-TR"/>
          </a:p>
        </p:txBody>
      </p:sp>
      <p:sp>
        <p:nvSpPr>
          <p:cNvPr id="5" name="Alt Bilgi Yer Tutucusu 4">
            <a:extLst>
              <a:ext uri="{FF2B5EF4-FFF2-40B4-BE49-F238E27FC236}">
                <a16:creationId xmlns:a16="http://schemas.microsoft.com/office/drawing/2014/main" id="{C685B45F-AA98-A6EC-256B-4EE2B254331A}"/>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3748CC90-56E6-90A5-FDF2-B529B81A847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5330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07A93E-2242-6AEC-CD52-B434D533EAA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A5D45BF-E715-1716-A855-F000D16BF76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FE42E72-775E-C53D-F338-020031F5BCC8}"/>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642440C8-7929-986E-B3D3-490AE8E84D05}"/>
              </a:ext>
            </a:extLst>
          </p:cNvPr>
          <p:cNvSpPr>
            <a:spLocks noGrp="1"/>
          </p:cNvSpPr>
          <p:nvPr>
            <p:ph type="dt" sz="half" idx="10"/>
          </p:nvPr>
        </p:nvSpPr>
        <p:spPr/>
        <p:txBody>
          <a:bodyPr/>
          <a:lstStyle/>
          <a:p>
            <a:fld id="{9914CF30-35B2-4C76-9963-51D8C2539E60}" type="datetime1">
              <a:rPr lang="tr-TR" smtClean="0"/>
              <a:t>28.03.2026</a:t>
            </a:fld>
            <a:endParaRPr lang="tr-TR"/>
          </a:p>
        </p:txBody>
      </p:sp>
      <p:sp>
        <p:nvSpPr>
          <p:cNvPr id="6" name="Alt Bilgi Yer Tutucusu 5">
            <a:extLst>
              <a:ext uri="{FF2B5EF4-FFF2-40B4-BE49-F238E27FC236}">
                <a16:creationId xmlns:a16="http://schemas.microsoft.com/office/drawing/2014/main" id="{E8598BEB-E0A3-D965-56E6-EA63689EB3F3}"/>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1602343B-F87C-8B5D-07C3-C6CBD5AA3CE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410584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F87BFE-AC90-DBA8-3337-4D957C8C681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F003FFF-0BCF-C154-1CE9-1DF82E77DF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8FEEA10-D6AB-627C-0E71-FA8DA84DFC1B}"/>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9C9C114A-DD9F-89EC-E34F-C6A73D0717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016DAD7-C796-0EF3-116A-F904B763009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AA17C25-7049-6146-E1E4-36D1A001E026}"/>
              </a:ext>
            </a:extLst>
          </p:cNvPr>
          <p:cNvSpPr>
            <a:spLocks noGrp="1"/>
          </p:cNvSpPr>
          <p:nvPr>
            <p:ph type="dt" sz="half" idx="10"/>
          </p:nvPr>
        </p:nvSpPr>
        <p:spPr/>
        <p:txBody>
          <a:bodyPr/>
          <a:lstStyle/>
          <a:p>
            <a:fld id="{574A1D8E-1EF4-4007-88DC-17F89BDDB10A}" type="datetime1">
              <a:rPr lang="tr-TR" smtClean="0"/>
              <a:t>28.03.2026</a:t>
            </a:fld>
            <a:endParaRPr lang="tr-TR"/>
          </a:p>
        </p:txBody>
      </p:sp>
      <p:sp>
        <p:nvSpPr>
          <p:cNvPr id="8" name="Alt Bilgi Yer Tutucusu 7">
            <a:extLst>
              <a:ext uri="{FF2B5EF4-FFF2-40B4-BE49-F238E27FC236}">
                <a16:creationId xmlns:a16="http://schemas.microsoft.com/office/drawing/2014/main" id="{9F0D8D51-FC03-8628-80E0-3FE7F2FF3A33}"/>
              </a:ext>
            </a:extLst>
          </p:cNvPr>
          <p:cNvSpPr>
            <a:spLocks noGrp="1"/>
          </p:cNvSpPr>
          <p:nvPr>
            <p:ph type="ftr" sz="quarter" idx="11"/>
          </p:nvPr>
        </p:nvSpPr>
        <p:spPr/>
        <p:txBody>
          <a:bodyPr/>
          <a:lstStyle/>
          <a:p>
            <a:r>
              <a:rPr lang="tr-TR"/>
              <a:t>MEHMET FATİH KARAKAŞ</a:t>
            </a:r>
          </a:p>
        </p:txBody>
      </p:sp>
      <p:sp>
        <p:nvSpPr>
          <p:cNvPr id="9" name="Slayt Numarası Yer Tutucusu 8">
            <a:extLst>
              <a:ext uri="{FF2B5EF4-FFF2-40B4-BE49-F238E27FC236}">
                <a16:creationId xmlns:a16="http://schemas.microsoft.com/office/drawing/2014/main" id="{A71A075E-260F-A087-B90E-695A52867809}"/>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872836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848BA3-18EC-CBCE-CE56-0E99B24BDBC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1BE5CE8-2491-55F5-AD76-E94B719065B7}"/>
              </a:ext>
            </a:extLst>
          </p:cNvPr>
          <p:cNvSpPr>
            <a:spLocks noGrp="1"/>
          </p:cNvSpPr>
          <p:nvPr>
            <p:ph type="dt" sz="half" idx="10"/>
          </p:nvPr>
        </p:nvSpPr>
        <p:spPr/>
        <p:txBody>
          <a:bodyPr/>
          <a:lstStyle/>
          <a:p>
            <a:fld id="{08590573-1768-4A83-A6BC-02158355107D}" type="datetime1">
              <a:rPr lang="tr-TR" smtClean="0"/>
              <a:t>28.03.2026</a:t>
            </a:fld>
            <a:endParaRPr lang="tr-TR"/>
          </a:p>
        </p:txBody>
      </p:sp>
      <p:sp>
        <p:nvSpPr>
          <p:cNvPr id="4" name="Alt Bilgi Yer Tutucusu 3">
            <a:extLst>
              <a:ext uri="{FF2B5EF4-FFF2-40B4-BE49-F238E27FC236}">
                <a16:creationId xmlns:a16="http://schemas.microsoft.com/office/drawing/2014/main" id="{0068ADEA-52DD-2A13-71A0-65FDE9B0B7D5}"/>
              </a:ext>
            </a:extLst>
          </p:cNvPr>
          <p:cNvSpPr>
            <a:spLocks noGrp="1"/>
          </p:cNvSpPr>
          <p:nvPr>
            <p:ph type="ftr" sz="quarter" idx="11"/>
          </p:nvPr>
        </p:nvSpPr>
        <p:spPr/>
        <p:txBody>
          <a:bodyPr/>
          <a:lstStyle/>
          <a:p>
            <a:r>
              <a:rPr lang="tr-TR"/>
              <a:t>MEHMET FATİH KARAKAŞ</a:t>
            </a:r>
          </a:p>
        </p:txBody>
      </p:sp>
      <p:sp>
        <p:nvSpPr>
          <p:cNvPr id="5" name="Slayt Numarası Yer Tutucusu 4">
            <a:extLst>
              <a:ext uri="{FF2B5EF4-FFF2-40B4-BE49-F238E27FC236}">
                <a16:creationId xmlns:a16="http://schemas.microsoft.com/office/drawing/2014/main" id="{10E0C9D4-D1BC-0068-D3D2-BAF44846D888}"/>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3059745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232E6F3-27BD-1FB2-C450-F46B83BE9A11}"/>
              </a:ext>
            </a:extLst>
          </p:cNvPr>
          <p:cNvSpPr>
            <a:spLocks noGrp="1"/>
          </p:cNvSpPr>
          <p:nvPr>
            <p:ph type="dt" sz="half" idx="10"/>
          </p:nvPr>
        </p:nvSpPr>
        <p:spPr/>
        <p:txBody>
          <a:bodyPr/>
          <a:lstStyle/>
          <a:p>
            <a:fld id="{BC6B2291-F388-4DCC-AAFF-691D0FEB5A08}" type="datetime1">
              <a:rPr lang="tr-TR" smtClean="0"/>
              <a:t>28.03.2026</a:t>
            </a:fld>
            <a:endParaRPr lang="tr-TR"/>
          </a:p>
        </p:txBody>
      </p:sp>
      <p:sp>
        <p:nvSpPr>
          <p:cNvPr id="3" name="Alt Bilgi Yer Tutucusu 2">
            <a:extLst>
              <a:ext uri="{FF2B5EF4-FFF2-40B4-BE49-F238E27FC236}">
                <a16:creationId xmlns:a16="http://schemas.microsoft.com/office/drawing/2014/main" id="{514EFA94-961C-8DF6-6826-4B6C56A0909D}"/>
              </a:ext>
            </a:extLst>
          </p:cNvPr>
          <p:cNvSpPr>
            <a:spLocks noGrp="1"/>
          </p:cNvSpPr>
          <p:nvPr>
            <p:ph type="ftr" sz="quarter" idx="11"/>
          </p:nvPr>
        </p:nvSpPr>
        <p:spPr/>
        <p:txBody>
          <a:bodyPr/>
          <a:lstStyle/>
          <a:p>
            <a:r>
              <a:rPr lang="tr-TR"/>
              <a:t>MEHMET FATİH KARAKAŞ</a:t>
            </a:r>
          </a:p>
        </p:txBody>
      </p:sp>
      <p:sp>
        <p:nvSpPr>
          <p:cNvPr id="4" name="Slayt Numarası Yer Tutucusu 3">
            <a:extLst>
              <a:ext uri="{FF2B5EF4-FFF2-40B4-BE49-F238E27FC236}">
                <a16:creationId xmlns:a16="http://schemas.microsoft.com/office/drawing/2014/main" id="{5F287FCC-76D5-A875-8A9F-16E457726E5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517495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B49344-2691-49FD-6398-6A001AB75A9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BDBE444-5739-0A65-CA19-794209642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A166A0D-DCBC-CC27-58FD-418610056F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45761B73-BBD8-2768-6190-DE606EF8F5DA}"/>
              </a:ext>
            </a:extLst>
          </p:cNvPr>
          <p:cNvSpPr>
            <a:spLocks noGrp="1"/>
          </p:cNvSpPr>
          <p:nvPr>
            <p:ph type="dt" sz="half" idx="10"/>
          </p:nvPr>
        </p:nvSpPr>
        <p:spPr/>
        <p:txBody>
          <a:bodyPr/>
          <a:lstStyle/>
          <a:p>
            <a:fld id="{081223E8-1D2E-4CAF-8A9D-49FCE58AD060}" type="datetime1">
              <a:rPr lang="tr-TR" smtClean="0"/>
              <a:t>28.03.2026</a:t>
            </a:fld>
            <a:endParaRPr lang="tr-TR"/>
          </a:p>
        </p:txBody>
      </p:sp>
      <p:sp>
        <p:nvSpPr>
          <p:cNvPr id="6" name="Alt Bilgi Yer Tutucusu 5">
            <a:extLst>
              <a:ext uri="{FF2B5EF4-FFF2-40B4-BE49-F238E27FC236}">
                <a16:creationId xmlns:a16="http://schemas.microsoft.com/office/drawing/2014/main" id="{3B286F48-1FFC-0690-2DB9-9CE4149EF8E7}"/>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33C594E3-546B-78B2-C772-0D6E969092F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59513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A88B8-25A0-F901-0BE4-FC762F3AC21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DBD2D78-9A0E-04ED-01C6-BC9C04ADD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8D7170E1-E090-498D-1565-8A123AA30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1A46890-F23B-54DA-26CF-81A6B2C51E70}"/>
              </a:ext>
            </a:extLst>
          </p:cNvPr>
          <p:cNvSpPr>
            <a:spLocks noGrp="1"/>
          </p:cNvSpPr>
          <p:nvPr>
            <p:ph type="dt" sz="half" idx="10"/>
          </p:nvPr>
        </p:nvSpPr>
        <p:spPr/>
        <p:txBody>
          <a:bodyPr/>
          <a:lstStyle/>
          <a:p>
            <a:fld id="{165594C3-E915-4EED-BADC-A7FED03E95BC}" type="datetime1">
              <a:rPr lang="tr-TR" smtClean="0"/>
              <a:t>28.03.2026</a:t>
            </a:fld>
            <a:endParaRPr lang="tr-TR"/>
          </a:p>
        </p:txBody>
      </p:sp>
      <p:sp>
        <p:nvSpPr>
          <p:cNvPr id="6" name="Alt Bilgi Yer Tutucusu 5">
            <a:extLst>
              <a:ext uri="{FF2B5EF4-FFF2-40B4-BE49-F238E27FC236}">
                <a16:creationId xmlns:a16="http://schemas.microsoft.com/office/drawing/2014/main" id="{1FB0FE56-4DC9-4AB2-A8A4-F93CB2229D04}"/>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219C2E5C-4A1F-B751-76C1-4F229520329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38765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97E1E0-4D43-8CC0-37D9-F2B6B466A894}"/>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ACCF145A-813B-DADD-A331-4E6AC8D817A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68AB813-3DF4-73C6-8898-0D0B31C6396D}"/>
              </a:ext>
            </a:extLst>
          </p:cNvPr>
          <p:cNvSpPr>
            <a:spLocks noGrp="1"/>
          </p:cNvSpPr>
          <p:nvPr>
            <p:ph type="dt" sz="half" idx="10"/>
          </p:nvPr>
        </p:nvSpPr>
        <p:spPr/>
        <p:txBody>
          <a:bodyPr/>
          <a:lstStyle/>
          <a:p>
            <a:fld id="{0D1AE85D-82F6-4128-8A62-7195E1F7E528}" type="datetime1">
              <a:rPr lang="tr-TR" smtClean="0"/>
              <a:t>28.03.2026</a:t>
            </a:fld>
            <a:endParaRPr lang="tr-TR"/>
          </a:p>
        </p:txBody>
      </p:sp>
      <p:sp>
        <p:nvSpPr>
          <p:cNvPr id="5" name="Alt Bilgi Yer Tutucusu 4">
            <a:extLst>
              <a:ext uri="{FF2B5EF4-FFF2-40B4-BE49-F238E27FC236}">
                <a16:creationId xmlns:a16="http://schemas.microsoft.com/office/drawing/2014/main" id="{5D1C218B-0D61-1912-A623-B072A2CFC179}"/>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11797633-EF81-745C-ADE1-05A93EB00BC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71005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515CA75-4DC3-C8E7-0BC2-9932AE6D1883}"/>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41F5DD9-15A5-F120-E325-87D753198D7B}"/>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AC039AE-FA51-902A-779F-57A6690A2FD5}"/>
              </a:ext>
            </a:extLst>
          </p:cNvPr>
          <p:cNvSpPr>
            <a:spLocks noGrp="1"/>
          </p:cNvSpPr>
          <p:nvPr>
            <p:ph type="dt" sz="half" idx="10"/>
          </p:nvPr>
        </p:nvSpPr>
        <p:spPr/>
        <p:txBody>
          <a:bodyPr/>
          <a:lstStyle/>
          <a:p>
            <a:fld id="{487B3D23-68F9-4111-92DE-896376746DF1}" type="datetime1">
              <a:rPr lang="tr-TR" smtClean="0"/>
              <a:t>28.03.2026</a:t>
            </a:fld>
            <a:endParaRPr lang="tr-TR"/>
          </a:p>
        </p:txBody>
      </p:sp>
      <p:sp>
        <p:nvSpPr>
          <p:cNvPr id="5" name="Alt Bilgi Yer Tutucusu 4">
            <a:extLst>
              <a:ext uri="{FF2B5EF4-FFF2-40B4-BE49-F238E27FC236}">
                <a16:creationId xmlns:a16="http://schemas.microsoft.com/office/drawing/2014/main" id="{65F473FA-67F7-1F7D-F497-FD88A54C9447}"/>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97B8BE16-CBDA-ABA8-B432-2C2068552DC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933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F16D244-0C65-92D3-FDB2-38F58333B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9BF2C09-6EBC-4351-23C4-002E1F5F1F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18D71A1-D7BD-F63D-C2D8-CE9E01022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FE0484-4E28-41A0-BDDD-D086FD1352E6}" type="datetime1">
              <a:rPr lang="tr-TR" smtClean="0"/>
              <a:t>28.03.2026</a:t>
            </a:fld>
            <a:endParaRPr lang="tr-TR"/>
          </a:p>
        </p:txBody>
      </p:sp>
      <p:sp>
        <p:nvSpPr>
          <p:cNvPr id="5" name="Alt Bilgi Yer Tutucusu 4">
            <a:extLst>
              <a:ext uri="{FF2B5EF4-FFF2-40B4-BE49-F238E27FC236}">
                <a16:creationId xmlns:a16="http://schemas.microsoft.com/office/drawing/2014/main" id="{2032AD17-E7FC-9799-B856-BD9E96CC6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tr-TR"/>
              <a:t>MEHMET FATİH KARAKAŞ</a:t>
            </a:r>
          </a:p>
        </p:txBody>
      </p:sp>
      <p:sp>
        <p:nvSpPr>
          <p:cNvPr id="6" name="Slayt Numarası Yer Tutucusu 5">
            <a:extLst>
              <a:ext uri="{FF2B5EF4-FFF2-40B4-BE49-F238E27FC236}">
                <a16:creationId xmlns:a16="http://schemas.microsoft.com/office/drawing/2014/main" id="{4A75E041-3EAE-F70F-29FA-7BB65F35D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0020F-E87F-4699-8A2C-B8684CD230C9}" type="slidenum">
              <a:rPr lang="tr-TR" smtClean="0"/>
              <a:t>‹#›</a:t>
            </a:fld>
            <a:endParaRPr lang="tr-TR"/>
          </a:p>
        </p:txBody>
      </p:sp>
    </p:spTree>
    <p:extLst>
      <p:ext uri="{BB962C8B-B14F-4D97-AF65-F5344CB8AC3E}">
        <p14:creationId xmlns:p14="http://schemas.microsoft.com/office/powerpoint/2010/main" val="1765936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Başlık 1">
            <a:extLst>
              <a:ext uri="{FF2B5EF4-FFF2-40B4-BE49-F238E27FC236}">
                <a16:creationId xmlns:a16="http://schemas.microsoft.com/office/drawing/2014/main" id="{77F3D04D-D327-CF40-BE66-5F228BADD7D8}"/>
              </a:ext>
            </a:extLst>
          </p:cNvPr>
          <p:cNvSpPr>
            <a:spLocks noGrp="1"/>
          </p:cNvSpPr>
          <p:nvPr>
            <p:ph type="ctrTitle"/>
          </p:nvPr>
        </p:nvSpPr>
        <p:spPr>
          <a:xfrm>
            <a:off x="3215729" y="1764407"/>
            <a:ext cx="5760846" cy="2310312"/>
          </a:xfrm>
        </p:spPr>
        <p:txBody>
          <a:bodyPr>
            <a:normAutofit/>
          </a:bodyPr>
          <a:lstStyle/>
          <a:p>
            <a:r>
              <a:rPr lang="tr-TR" sz="5400"/>
              <a:t>Tıbbi Elektronik</a:t>
            </a:r>
            <a:endParaRPr lang="tr-TR" sz="5200" dirty="0">
              <a:solidFill>
                <a:schemeClr val="tx2"/>
              </a:solidFill>
            </a:endParaRPr>
          </a:p>
        </p:txBody>
      </p:sp>
      <p:sp>
        <p:nvSpPr>
          <p:cNvPr id="4" name="Alt Bilgi Yer Tutucusu 3">
            <a:extLst>
              <a:ext uri="{FF2B5EF4-FFF2-40B4-BE49-F238E27FC236}">
                <a16:creationId xmlns:a16="http://schemas.microsoft.com/office/drawing/2014/main" id="{6192038A-8CE5-5D4F-2C86-15AA796A92D9}"/>
              </a:ext>
            </a:extLst>
          </p:cNvPr>
          <p:cNvSpPr>
            <a:spLocks noGrp="1"/>
          </p:cNvSpPr>
          <p:nvPr>
            <p:ph type="ftr" sz="quarter" idx="11"/>
          </p:nvPr>
        </p:nvSpPr>
        <p:spPr/>
        <p:txBody>
          <a:bodyPr/>
          <a:lstStyle/>
          <a:p>
            <a:r>
              <a:rPr lang="tr-TR"/>
              <a:t>MEHMET FATİH KARAKAŞ</a:t>
            </a:r>
          </a:p>
        </p:txBody>
      </p:sp>
      <p:sp>
        <p:nvSpPr>
          <p:cNvPr id="5" name="Metin kutusu 4">
            <a:extLst>
              <a:ext uri="{FF2B5EF4-FFF2-40B4-BE49-F238E27FC236}">
                <a16:creationId xmlns:a16="http://schemas.microsoft.com/office/drawing/2014/main" id="{6BA332A8-8882-9A75-75E3-849DAC364B18}"/>
              </a:ext>
            </a:extLst>
          </p:cNvPr>
          <p:cNvSpPr txBox="1"/>
          <p:nvPr/>
        </p:nvSpPr>
        <p:spPr>
          <a:xfrm>
            <a:off x="2241755" y="4316361"/>
            <a:ext cx="7256206" cy="1200329"/>
          </a:xfrm>
          <a:prstGeom prst="rect">
            <a:avLst/>
          </a:prstGeom>
          <a:noFill/>
        </p:spPr>
        <p:txBody>
          <a:bodyPr wrap="square" rtlCol="0">
            <a:spAutoFit/>
          </a:bodyPr>
          <a:lstStyle/>
          <a:p>
            <a:pPr algn="ctr"/>
            <a:r>
              <a:rPr lang="tr-TR"/>
              <a:t>Tıp </a:t>
            </a:r>
            <a:r>
              <a:rPr lang="tr-TR" dirty="0"/>
              <a:t>Elektroniği Tanım</a:t>
            </a:r>
          </a:p>
          <a:p>
            <a:pPr algn="ctr"/>
            <a:r>
              <a:rPr lang="tr-TR" dirty="0"/>
              <a:t>İnsan Enstrümantasyon Sistemi</a:t>
            </a:r>
          </a:p>
          <a:p>
            <a:pPr algn="ctr"/>
            <a:r>
              <a:rPr lang="tr-TR" dirty="0"/>
              <a:t>Biyolojik İşaretler</a:t>
            </a:r>
          </a:p>
          <a:p>
            <a:pPr algn="ctr"/>
            <a:r>
              <a:rPr lang="tr-TR" dirty="0"/>
              <a:t>Biyoelektrik İşaretlerin Oluşumu</a:t>
            </a:r>
          </a:p>
        </p:txBody>
      </p:sp>
    </p:spTree>
    <p:extLst>
      <p:ext uri="{BB962C8B-B14F-4D97-AF65-F5344CB8AC3E}">
        <p14:creationId xmlns:p14="http://schemas.microsoft.com/office/powerpoint/2010/main" val="119563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55BD4E-8A77-8537-44F5-99F1983865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E00D39F-A85A-1DBF-19DA-581ABB40DB47}"/>
              </a:ext>
            </a:extLst>
          </p:cNvPr>
          <p:cNvSpPr>
            <a:spLocks noGrp="1"/>
          </p:cNvSpPr>
          <p:nvPr>
            <p:ph type="title"/>
          </p:nvPr>
        </p:nvSpPr>
        <p:spPr>
          <a:xfrm>
            <a:off x="210468" y="2089289"/>
            <a:ext cx="4751150" cy="3166427"/>
          </a:xfrm>
        </p:spPr>
        <p:txBody>
          <a:bodyPr>
            <a:normAutofit/>
          </a:bodyPr>
          <a:lstStyle/>
          <a:p>
            <a:pPr algn="ctr"/>
            <a:r>
              <a:rPr lang="tr-TR" sz="3200" dirty="0"/>
              <a:t>Tıp Elektroniği</a:t>
            </a:r>
            <a:endParaRPr lang="tr-TR" sz="3200" dirty="0">
              <a:solidFill>
                <a:schemeClr val="tx2"/>
              </a:solidFill>
            </a:endParaRPr>
          </a:p>
        </p:txBody>
      </p:sp>
      <p:sp>
        <p:nvSpPr>
          <p:cNvPr id="3" name="İçerik Yer Tutucusu 2">
            <a:extLst>
              <a:ext uri="{FF2B5EF4-FFF2-40B4-BE49-F238E27FC236}">
                <a16:creationId xmlns:a16="http://schemas.microsoft.com/office/drawing/2014/main" id="{984B80CE-1525-5A5E-E22B-B39154D4DE7B}"/>
              </a:ext>
            </a:extLst>
          </p:cNvPr>
          <p:cNvSpPr>
            <a:spLocks noGrp="1"/>
          </p:cNvSpPr>
          <p:nvPr>
            <p:ph idx="1"/>
          </p:nvPr>
        </p:nvSpPr>
        <p:spPr>
          <a:xfrm>
            <a:off x="6172200" y="804672"/>
            <a:ext cx="5221224" cy="5230368"/>
          </a:xfrm>
        </p:spPr>
        <p:txBody>
          <a:bodyPr anchor="ctr">
            <a:normAutofit/>
          </a:bodyPr>
          <a:lstStyle/>
          <a:p>
            <a:r>
              <a:rPr lang="tr-TR" sz="1800" b="1" dirty="0"/>
              <a:t>Tıp Elektroniği (</a:t>
            </a:r>
            <a:r>
              <a:rPr lang="tr-TR" sz="1800" b="1" dirty="0" err="1"/>
              <a:t>Medical</a:t>
            </a:r>
            <a:r>
              <a:rPr lang="tr-TR" sz="1800" b="1" dirty="0"/>
              <a:t> </a:t>
            </a:r>
            <a:r>
              <a:rPr lang="tr-TR" sz="1800" b="1" dirty="0" err="1"/>
              <a:t>Electronics</a:t>
            </a:r>
            <a:r>
              <a:rPr lang="tr-TR" sz="1800" b="1" dirty="0"/>
              <a:t>)</a:t>
            </a:r>
            <a:r>
              <a:rPr lang="tr-TR" sz="1800" dirty="0"/>
              <a:t>, tıp ve biyoloji alanındaki problemlerin teşhis ve tedavisi için </a:t>
            </a:r>
            <a:r>
              <a:rPr lang="tr-TR" sz="1800"/>
              <a:t>elektronik prensiplerinin ve teorilerinin cihazlara </a:t>
            </a:r>
            <a:r>
              <a:rPr lang="tr-TR" sz="1800" dirty="0"/>
              <a:t>uygulanmasıdır. En basit tanımıyla; mühendislik teknolojisi ile tıp biliminin kesiştiği noktada, insan sağlığını korumak ve iyileştirmek için geliştirilen tüm elektronik sistemleri kapsar.</a:t>
            </a:r>
          </a:p>
          <a:p>
            <a:r>
              <a:rPr lang="tr-TR" sz="1800" dirty="0"/>
              <a:t>Bu alan, </a:t>
            </a:r>
            <a:r>
              <a:rPr lang="tr-TR" sz="1800" b="1" dirty="0"/>
              <a:t>Biyomedikal Mühendisliği</a:t>
            </a:r>
            <a:r>
              <a:rPr lang="tr-TR" sz="1800" dirty="0"/>
              <a:t>'nin en temel ve en geniş alt dallarından biridir.</a:t>
            </a:r>
          </a:p>
        </p:txBody>
      </p:sp>
      <p:sp>
        <p:nvSpPr>
          <p:cNvPr id="4" name="Alt Bilgi Yer Tutucusu 3">
            <a:extLst>
              <a:ext uri="{FF2B5EF4-FFF2-40B4-BE49-F238E27FC236}">
                <a16:creationId xmlns:a16="http://schemas.microsoft.com/office/drawing/2014/main" id="{87345F50-8501-6E0E-FF2D-45A43B2D3D80}"/>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863778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54C56D-3A30-7846-190C-757C1F622C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34923D1E-41B9-3ADB-3C6B-F4EE753B132D}"/>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A2B76FD0-4183-471D-1E7F-1C230140C889}"/>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Tıp elektroniği sistemleri genellikle üç ana amaca hizmet eder:</a:t>
            </a:r>
          </a:p>
          <a:p>
            <a:r>
              <a:rPr lang="tr-TR" sz="1800" b="1">
                <a:solidFill>
                  <a:schemeClr val="tx2"/>
                </a:solidFill>
              </a:rPr>
              <a:t>Teşhis (Tanı - Diagnosis):</a:t>
            </a:r>
            <a:r>
              <a:rPr lang="tr-TR" sz="1800">
                <a:solidFill>
                  <a:schemeClr val="tx2"/>
                </a:solidFill>
              </a:rPr>
              <a:t> Vücuttaki biyolojik sinyalleri (EKG, EEG, EMG gibi) algılayıp hekimin yorumlayabileceği verilere dönüştürmek.</a:t>
            </a:r>
          </a:p>
          <a:p>
            <a:r>
              <a:rPr lang="tr-TR" sz="1800" b="1">
                <a:solidFill>
                  <a:schemeClr val="tx2"/>
                </a:solidFill>
              </a:rPr>
              <a:t>Tedavi (Therapy):</a:t>
            </a:r>
            <a:r>
              <a:rPr lang="tr-TR" sz="1800">
                <a:solidFill>
                  <a:schemeClr val="tx2"/>
                </a:solidFill>
              </a:rPr>
              <a:t> Hastalığı iyileştirmek veya etkilerini azaltmak için vücuda enerji uygulamak (Defibrilatör, Diyaliz cihazı, Radyoterapi).</a:t>
            </a:r>
          </a:p>
          <a:p>
            <a:r>
              <a:rPr lang="tr-TR" sz="1800" b="1">
                <a:solidFill>
                  <a:schemeClr val="tx2"/>
                </a:solidFill>
              </a:rPr>
              <a:t>İzleme (Monitoring):</a:t>
            </a:r>
            <a:r>
              <a:rPr lang="tr-TR" sz="1800">
                <a:solidFill>
                  <a:schemeClr val="tx2"/>
                </a:solidFill>
              </a:rPr>
              <a:t> Kritik durumdaki hastaların hayati bulgularını (nabız, solunum, oksijen seviyesi) sürekli olarak takip etmek.</a:t>
            </a:r>
          </a:p>
        </p:txBody>
      </p:sp>
      <p:sp>
        <p:nvSpPr>
          <p:cNvPr id="4" name="Alt Bilgi Yer Tutucusu 3">
            <a:extLst>
              <a:ext uri="{FF2B5EF4-FFF2-40B4-BE49-F238E27FC236}">
                <a16:creationId xmlns:a16="http://schemas.microsoft.com/office/drawing/2014/main" id="{8CDB96DE-DA11-EF83-D248-EABF845D723F}"/>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45667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D1C4D-03C5-6376-72CD-D6112C1C4A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50C055FB-C824-D3AF-1273-9374774EEFE9}"/>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FB9E98FC-7233-3415-DA15-BD53B781C969}"/>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Tıp Elektroniğini Diğer Elektronik Alanlarından Ayıran Farklar</a:t>
            </a:r>
          </a:p>
          <a:p>
            <a:r>
              <a:rPr lang="tr-TR" sz="1800">
                <a:solidFill>
                  <a:schemeClr val="tx2"/>
                </a:solidFill>
              </a:rPr>
              <a:t>Bir televizyon veya bilgisayar devresi tasarlamakla, tıbbi bir cihaz tasarlamak arasında çok kritik farklar vardır:</a:t>
            </a:r>
          </a:p>
          <a:p>
            <a:r>
              <a:rPr lang="tr-TR" sz="1800" b="1">
                <a:solidFill>
                  <a:schemeClr val="tx2"/>
                </a:solidFill>
              </a:rPr>
              <a:t>Hasta Güvenliği:</a:t>
            </a:r>
            <a:r>
              <a:rPr lang="tr-TR" sz="1800">
                <a:solidFill>
                  <a:schemeClr val="tx2"/>
                </a:solidFill>
              </a:rPr>
              <a:t> Bir tıbbi cihazın hata payı sıfıra yakın olmalıdır. Özellikle "sızıntı akımları" (leakage currents) mikroamper seviyesinde tutulmalıdır, aksi halde hasta hayatını kaybedebilir.</a:t>
            </a:r>
          </a:p>
          <a:p>
            <a:r>
              <a:rPr lang="tr-TR" sz="1800" b="1">
                <a:solidFill>
                  <a:schemeClr val="tx2"/>
                </a:solidFill>
              </a:rPr>
              <a:t>Biyo-uyumluluk:</a:t>
            </a:r>
            <a:r>
              <a:rPr lang="tr-TR" sz="1800">
                <a:solidFill>
                  <a:schemeClr val="tx2"/>
                </a:solidFill>
              </a:rPr>
              <a:t> Vücuda temas eden veya içine yerleştirilen elektrot ve sensörlerin dokuya zarar vermemesi gerekir.</a:t>
            </a:r>
          </a:p>
          <a:p>
            <a:r>
              <a:rPr lang="tr-TR" sz="1800" b="1">
                <a:solidFill>
                  <a:schemeClr val="tx2"/>
                </a:solidFill>
              </a:rPr>
              <a:t>Düşük İşaret/Gürültü Oranı:</a:t>
            </a:r>
            <a:r>
              <a:rPr lang="tr-TR" sz="1800">
                <a:solidFill>
                  <a:schemeClr val="tx2"/>
                </a:solidFill>
              </a:rPr>
              <a:t> Vücuttan alınan sinyaller çok zayıftır. Bu sinyalleri çevredeki elektriksel gürültüden (örneğin odadaki lamba veya prizlerden gelen 50 Hz gürültüsü) ayıklamak yüksek mühendislik becerisi gerektirir.</a:t>
            </a:r>
          </a:p>
        </p:txBody>
      </p:sp>
      <p:sp>
        <p:nvSpPr>
          <p:cNvPr id="4" name="Alt Bilgi Yer Tutucusu 3">
            <a:extLst>
              <a:ext uri="{FF2B5EF4-FFF2-40B4-BE49-F238E27FC236}">
                <a16:creationId xmlns:a16="http://schemas.microsoft.com/office/drawing/2014/main" id="{063654CD-3094-0063-C5E9-133B7E5EB229}"/>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4445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AADA05-EE3B-84AE-7721-BD276A97D4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D536FEF6-57EF-7FF3-5891-774D0749CB54}"/>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E438015B-5D68-FBDA-9075-431EEFD7221C}"/>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Geleceğin Tıp Elektroniği</a:t>
            </a:r>
          </a:p>
          <a:p>
            <a:r>
              <a:rPr lang="tr-TR" sz="1800">
                <a:solidFill>
                  <a:schemeClr val="tx2"/>
                </a:solidFill>
              </a:rPr>
              <a:t>Günümüzde tıp elektroniği; </a:t>
            </a:r>
            <a:r>
              <a:rPr lang="tr-TR" sz="1800" b="1">
                <a:solidFill>
                  <a:schemeClr val="tx2"/>
                </a:solidFill>
              </a:rPr>
              <a:t>giyilebilir teknolojiler</a:t>
            </a:r>
            <a:r>
              <a:rPr lang="tr-TR" sz="1800">
                <a:solidFill>
                  <a:schemeClr val="tx2"/>
                </a:solidFill>
              </a:rPr>
              <a:t> (akıllı saatlerdeki EKG sensörleri), </a:t>
            </a:r>
            <a:r>
              <a:rPr lang="tr-TR" sz="1800" b="1">
                <a:solidFill>
                  <a:schemeClr val="tx2"/>
                </a:solidFill>
              </a:rPr>
              <a:t>yapay zeka destekli teşhis yazılımları</a:t>
            </a:r>
            <a:r>
              <a:rPr lang="tr-TR" sz="1800">
                <a:solidFill>
                  <a:schemeClr val="tx2"/>
                </a:solidFill>
              </a:rPr>
              <a:t> ve </a:t>
            </a:r>
            <a:r>
              <a:rPr lang="tr-TR" sz="1800" b="1">
                <a:solidFill>
                  <a:schemeClr val="tx2"/>
                </a:solidFill>
              </a:rPr>
              <a:t>uzaktan cerrahi (robotik cerrahi)</a:t>
            </a:r>
            <a:r>
              <a:rPr lang="tr-TR" sz="1800">
                <a:solidFill>
                  <a:schemeClr val="tx2"/>
                </a:solidFill>
              </a:rPr>
              <a:t> sistemlerine doğru evrilmektedir.</a:t>
            </a:r>
          </a:p>
        </p:txBody>
      </p:sp>
      <p:sp>
        <p:nvSpPr>
          <p:cNvPr id="4" name="Alt Bilgi Yer Tutucusu 3">
            <a:extLst>
              <a:ext uri="{FF2B5EF4-FFF2-40B4-BE49-F238E27FC236}">
                <a16:creationId xmlns:a16="http://schemas.microsoft.com/office/drawing/2014/main" id="{B8465241-81D9-6720-9C17-A91489B29AD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64340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59AD87-8E3E-8AC0-BCE6-4394513D45B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78824385-09EF-32EE-E05C-EC4BC6BA7F3B}"/>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İnsan-Enstrümantasyon Sistemi</a:t>
            </a:r>
          </a:p>
        </p:txBody>
      </p:sp>
      <p:sp>
        <p:nvSpPr>
          <p:cNvPr id="3" name="İçerik Yer Tutucusu 2">
            <a:extLst>
              <a:ext uri="{FF2B5EF4-FFF2-40B4-BE49-F238E27FC236}">
                <a16:creationId xmlns:a16="http://schemas.microsoft.com/office/drawing/2014/main" id="{E11F5D3E-D3EB-9238-4C6E-037FF2C181C8}"/>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İnsan-enstrümantasyon sistemi</a:t>
            </a:r>
            <a:r>
              <a:rPr lang="tr-TR" sz="1800">
                <a:solidFill>
                  <a:schemeClr val="tx2"/>
                </a:solidFill>
              </a:rPr>
              <a:t>, biyolojik bir organizma (genellikle insan) ile bu organizmadan veri almak veya ona müdahale etmek için kullanılan elektronik/mekanik cihazların bütününe verilen isimdir. Tıp elektroniği ve biyomedikal mühendisliğinin temel çalışma alanını oluşturur.</a:t>
            </a:r>
          </a:p>
          <a:p>
            <a:r>
              <a:rPr lang="tr-TR" sz="1800">
                <a:solidFill>
                  <a:schemeClr val="tx2"/>
                </a:solidFill>
              </a:rPr>
              <a:t>Bu sistem, rastgele bir ölçüm cihazından farklı olarak, canlı bir dokuyla etkileşime girdiği için kendine has zorluklara ve bileşenlere sahiptir.</a:t>
            </a:r>
          </a:p>
          <a:p>
            <a:endParaRPr lang="tr-TR" sz="1800" dirty="0">
              <a:solidFill>
                <a:schemeClr val="tx2"/>
              </a:solidFill>
            </a:endParaRPr>
          </a:p>
        </p:txBody>
      </p:sp>
      <p:sp>
        <p:nvSpPr>
          <p:cNvPr id="4" name="Alt Bilgi Yer Tutucusu 3">
            <a:extLst>
              <a:ext uri="{FF2B5EF4-FFF2-40B4-BE49-F238E27FC236}">
                <a16:creationId xmlns:a16="http://schemas.microsoft.com/office/drawing/2014/main" id="{3D723924-9105-06F9-5FE1-D6C4E3A4C57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29668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4B7BB-952B-3D04-94A3-4B1418AC2F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330F1C6-6508-0BD2-9F05-D868DE31B501}"/>
              </a:ext>
            </a:extLst>
          </p:cNvPr>
          <p:cNvSpPr>
            <a:spLocks noGrp="1"/>
          </p:cNvSpPr>
          <p:nvPr>
            <p:ph type="title"/>
          </p:nvPr>
        </p:nvSpPr>
        <p:spPr>
          <a:xfrm>
            <a:off x="518160" y="245289"/>
            <a:ext cx="11544196" cy="996782"/>
          </a:xfrm>
        </p:spPr>
        <p:txBody>
          <a:bodyPr>
            <a:normAutofit/>
          </a:bodyPr>
          <a:lstStyle/>
          <a:p>
            <a:r>
              <a:rPr lang="tr-TR" sz="3600" dirty="0"/>
              <a:t>İnsan-Enstrümantasyon Sistemi Temel Bileşenleri</a:t>
            </a:r>
            <a:endParaRPr lang="tr-TR" sz="3600" dirty="0">
              <a:solidFill>
                <a:schemeClr val="tx2"/>
              </a:solidFill>
            </a:endParaRPr>
          </a:p>
        </p:txBody>
      </p:sp>
      <p:pic>
        <p:nvPicPr>
          <p:cNvPr id="119" name="Resim 118">
            <a:extLst>
              <a:ext uri="{FF2B5EF4-FFF2-40B4-BE49-F238E27FC236}">
                <a16:creationId xmlns:a16="http://schemas.microsoft.com/office/drawing/2014/main" id="{9825F410-06C7-C16C-08D9-0CBD15C6BB43}"/>
              </a:ext>
            </a:extLst>
          </p:cNvPr>
          <p:cNvPicPr>
            <a:picLocks noChangeAspect="1"/>
          </p:cNvPicPr>
          <p:nvPr/>
        </p:nvPicPr>
        <p:blipFill>
          <a:blip r:embed="rId2"/>
          <a:stretch>
            <a:fillRect/>
          </a:stretch>
        </p:blipFill>
        <p:spPr>
          <a:xfrm>
            <a:off x="139968" y="1660605"/>
            <a:ext cx="5638998" cy="4248233"/>
          </a:xfrm>
          <a:prstGeom prst="rect">
            <a:avLst/>
          </a:prstGeom>
        </p:spPr>
      </p:pic>
      <p:graphicFrame>
        <p:nvGraphicFramePr>
          <p:cNvPr id="7" name="İçerik Yer Tutucusu 2">
            <a:extLst>
              <a:ext uri="{FF2B5EF4-FFF2-40B4-BE49-F238E27FC236}">
                <a16:creationId xmlns:a16="http://schemas.microsoft.com/office/drawing/2014/main" id="{4FD83C6B-FA38-7B55-54D2-D9E994511A5A}"/>
              </a:ext>
            </a:extLst>
          </p:cNvPr>
          <p:cNvGraphicFramePr>
            <a:graphicFrameLocks/>
          </p:cNvGraphicFramePr>
          <p:nvPr>
            <p:extLst>
              <p:ext uri="{D42A27DB-BD31-4B8C-83A1-F6EECF244321}">
                <p14:modId xmlns:p14="http://schemas.microsoft.com/office/powerpoint/2010/main" val="1507000364"/>
              </p:ext>
            </p:extLst>
          </p:nvPr>
        </p:nvGraphicFramePr>
        <p:xfrm>
          <a:off x="6296821" y="1062658"/>
          <a:ext cx="5638998" cy="5128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Alt Bilgi Yer Tutucusu 2">
            <a:extLst>
              <a:ext uri="{FF2B5EF4-FFF2-40B4-BE49-F238E27FC236}">
                <a16:creationId xmlns:a16="http://schemas.microsoft.com/office/drawing/2014/main" id="{AFC25B17-0050-F708-9E03-9BB56E058E9A}"/>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850516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6" name="Group 4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47" name="Freeform: Shape 4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8B79D4F5-B676-63AD-87FB-2E41CC6F87CC}"/>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Ölçümdeki Zorluklar ve Kısıtlamalar</a:t>
            </a:r>
            <a:endParaRPr lang="tr-TR" sz="3600">
              <a:solidFill>
                <a:schemeClr val="tx2"/>
              </a:solidFill>
            </a:endParaRPr>
          </a:p>
        </p:txBody>
      </p:sp>
      <p:sp>
        <p:nvSpPr>
          <p:cNvPr id="3" name="İçerik Yer Tutucusu 2">
            <a:extLst>
              <a:ext uri="{FF2B5EF4-FFF2-40B4-BE49-F238E27FC236}">
                <a16:creationId xmlns:a16="http://schemas.microsoft.com/office/drawing/2014/main" id="{BCF72D77-B4D9-EA9E-564D-269896FE8A6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İnsan-Enstrumantasyon sisteminde "insan", mühendislik açısından özellikleri tam bilinmeyen bir "siyah kutu" (black box) gibi davranır. Bu sistemde dikkat edilmesi gereken kritik noktalar şunlardır:</a:t>
            </a:r>
          </a:p>
          <a:p>
            <a:pPr lvl="0"/>
            <a:r>
              <a:rPr lang="tr-TR" sz="1800" b="1">
                <a:solidFill>
                  <a:schemeClr val="tx2"/>
                </a:solidFill>
              </a:rPr>
              <a:t>Karmaşıklık:</a:t>
            </a:r>
            <a:r>
              <a:rPr lang="tr-TR" sz="1800">
                <a:solidFill>
                  <a:schemeClr val="tx2"/>
                </a:solidFill>
              </a:rPr>
              <a:t> İnsan vücudu; elektrik, mekanik, kimyasal, termal ve hidrolik gibi birçok alt sistemin etkileşim halinde olduğu deterministik olmayan (sonucu kesin belirlenemeyen) karmaşık bir yapıdır.</a:t>
            </a:r>
          </a:p>
          <a:p>
            <a:pPr lvl="0"/>
            <a:r>
              <a:rPr lang="tr-TR" sz="1800" b="1">
                <a:solidFill>
                  <a:schemeClr val="tx2"/>
                </a:solidFill>
              </a:rPr>
              <a:t>Etkileşim:</a:t>
            </a:r>
            <a:r>
              <a:rPr lang="tr-TR" sz="1800">
                <a:solidFill>
                  <a:schemeClr val="tx2"/>
                </a:solidFill>
              </a:rPr>
              <a:t> Ölçüm sisteminin uygulanması, objeyi (insanı) doğal koşullarından ayırır ve ölçüm düzeninin kendisi durumu daha karmaşık hale getirebilir.</a:t>
            </a:r>
          </a:p>
          <a:p>
            <a:pPr lvl="0"/>
            <a:r>
              <a:rPr lang="tr-TR" sz="1800" b="1">
                <a:solidFill>
                  <a:schemeClr val="tx2"/>
                </a:solidFill>
              </a:rPr>
              <a:t>Güvenlik ve Konfor:</a:t>
            </a:r>
            <a:r>
              <a:rPr lang="tr-TR" sz="1800">
                <a:solidFill>
                  <a:schemeClr val="tx2"/>
                </a:solidFill>
              </a:rPr>
              <a:t> Ölçüm işlemi hastanın yaşamını tehlikeye atmamalı, acı veya rahatsızlık vermemelidir. Canlı olmayan nesnelere uygulanan yöntemler (örneğin cihazı durdurup içini açmak gibi) insana uygulanamaz.</a:t>
            </a:r>
          </a:p>
          <a:p>
            <a:endParaRPr lang="tr-TR" sz="1800">
              <a:solidFill>
                <a:schemeClr val="tx2"/>
              </a:solidFill>
            </a:endParaRPr>
          </a:p>
        </p:txBody>
      </p:sp>
      <p:sp>
        <p:nvSpPr>
          <p:cNvPr id="4" name="Alt Bilgi Yer Tutucusu 3">
            <a:extLst>
              <a:ext uri="{FF2B5EF4-FFF2-40B4-BE49-F238E27FC236}">
                <a16:creationId xmlns:a16="http://schemas.microsoft.com/office/drawing/2014/main" id="{3BC25B82-FB89-1A98-9BBC-B911078ADE56}"/>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5711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7D23D251-1E19-0066-991E-B0DEE0F34E9D}"/>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Biyolojik İşaretler</a:t>
            </a:r>
          </a:p>
        </p:txBody>
      </p:sp>
      <p:sp>
        <p:nvSpPr>
          <p:cNvPr id="3" name="İçerik Yer Tutucusu 2">
            <a:extLst>
              <a:ext uri="{FF2B5EF4-FFF2-40B4-BE49-F238E27FC236}">
                <a16:creationId xmlns:a16="http://schemas.microsoft.com/office/drawing/2014/main" id="{FCDA7F7C-E410-427D-001D-A9ACA087B580}"/>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Biyolojik işaret (biyosinyal), canlı bir organizmadan (insan, hayvan veya bitki) kaynaklanan, vücudun durumu hakkında bilgi taşıyan ve fiziksel veya kimyasal değişimler şeklinde kendini gösteren ölçülebilir büyüklüklerdir.</a:t>
            </a:r>
          </a:p>
          <a:p>
            <a:r>
              <a:rPr lang="tr-TR" sz="1800">
                <a:solidFill>
                  <a:schemeClr val="tx2"/>
                </a:solidFill>
              </a:rPr>
              <a:t>Tıp elektroniği perspektifiyle bu işaretler, vücudun karmaşık iç mekanizmalarını dış dünyaya yansıtan verilerdir.</a:t>
            </a:r>
          </a:p>
        </p:txBody>
      </p:sp>
      <p:sp>
        <p:nvSpPr>
          <p:cNvPr id="4" name="Alt Bilgi Yer Tutucusu 3">
            <a:extLst>
              <a:ext uri="{FF2B5EF4-FFF2-40B4-BE49-F238E27FC236}">
                <a16:creationId xmlns:a16="http://schemas.microsoft.com/office/drawing/2014/main" id="{A8CEBB4B-88D0-287B-0EA2-0B09B531A5C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077884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00D3BA7-DBD3-2EC1-7F49-2D738BB88647}"/>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1. Biyoelektrik İşaretler</a:t>
            </a:r>
          </a:p>
        </p:txBody>
      </p:sp>
      <p:sp>
        <p:nvSpPr>
          <p:cNvPr id="3" name="İçerik Yer Tutucusu 2">
            <a:extLst>
              <a:ext uri="{FF2B5EF4-FFF2-40B4-BE49-F238E27FC236}">
                <a16:creationId xmlns:a16="http://schemas.microsoft.com/office/drawing/2014/main" id="{C9F267FF-67B4-D16E-9162-1354269D82FF}"/>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Hücre düzeyinde iyonların (Sodyum, Potasyum, Klor) hücre zarından geçişiyle oluşan aksiyon potansiyellerinden kaynaklanır.</a:t>
            </a:r>
          </a:p>
          <a:p>
            <a:r>
              <a:rPr lang="tr-TR" sz="1800" b="1">
                <a:solidFill>
                  <a:schemeClr val="tx2"/>
                </a:solidFill>
              </a:rPr>
              <a:t>EKG (Elektrokardiyogram):</a:t>
            </a:r>
            <a:r>
              <a:rPr lang="tr-TR" sz="1800">
                <a:solidFill>
                  <a:schemeClr val="tx2"/>
                </a:solidFill>
              </a:rPr>
              <a:t> Kalbin elektriksel aktivitesi.</a:t>
            </a:r>
          </a:p>
          <a:p>
            <a:r>
              <a:rPr lang="tr-TR" sz="1800" b="1">
                <a:solidFill>
                  <a:schemeClr val="tx2"/>
                </a:solidFill>
              </a:rPr>
              <a:t>EEG (Elektroensefalogram):</a:t>
            </a:r>
            <a:r>
              <a:rPr lang="tr-TR" sz="1800">
                <a:solidFill>
                  <a:schemeClr val="tx2"/>
                </a:solidFill>
              </a:rPr>
              <a:t> Beynin elektriksel aktivitesi.</a:t>
            </a:r>
          </a:p>
          <a:p>
            <a:r>
              <a:rPr lang="tr-TR" sz="1800" b="1">
                <a:solidFill>
                  <a:schemeClr val="tx2"/>
                </a:solidFill>
              </a:rPr>
              <a:t>EMG (Elektromiyogram):</a:t>
            </a:r>
            <a:r>
              <a:rPr lang="tr-TR" sz="1800">
                <a:solidFill>
                  <a:schemeClr val="tx2"/>
                </a:solidFill>
              </a:rPr>
              <a:t> Kasların elektriksel aktivitesi.</a:t>
            </a:r>
          </a:p>
          <a:p>
            <a:r>
              <a:rPr lang="tr-TR" sz="1800" b="1">
                <a:solidFill>
                  <a:schemeClr val="tx2"/>
                </a:solidFill>
              </a:rPr>
              <a:t>ENG (Elektronörogram):</a:t>
            </a:r>
            <a:r>
              <a:rPr lang="tr-TR" sz="1800">
                <a:solidFill>
                  <a:schemeClr val="tx2"/>
                </a:solidFill>
              </a:rPr>
              <a:t> Sinir iletiminin elektriksel aktivitesi.</a:t>
            </a:r>
          </a:p>
          <a:p>
            <a:endParaRPr lang="tr-TR" sz="1800">
              <a:solidFill>
                <a:schemeClr val="tx2"/>
              </a:solidFill>
            </a:endParaRPr>
          </a:p>
          <a:p>
            <a:endParaRPr lang="tr-TR" sz="1800">
              <a:solidFill>
                <a:schemeClr val="tx2"/>
              </a:solidFill>
            </a:endParaRPr>
          </a:p>
        </p:txBody>
      </p:sp>
      <p:sp>
        <p:nvSpPr>
          <p:cNvPr id="4" name="Alt Bilgi Yer Tutucusu 3">
            <a:extLst>
              <a:ext uri="{FF2B5EF4-FFF2-40B4-BE49-F238E27FC236}">
                <a16:creationId xmlns:a16="http://schemas.microsoft.com/office/drawing/2014/main" id="{9B18EC83-5484-383F-1608-568186749B6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52567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4304D3D4-5B12-D69B-9655-274DE288BF4F}"/>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2. Biyomekanik İşaretler</a:t>
            </a:r>
            <a:endParaRPr lang="tr-TR" sz="3600">
              <a:solidFill>
                <a:schemeClr val="tx2"/>
              </a:solidFill>
            </a:endParaRPr>
          </a:p>
        </p:txBody>
      </p:sp>
      <p:sp>
        <p:nvSpPr>
          <p:cNvPr id="3" name="İçerik Yer Tutucusu 2">
            <a:extLst>
              <a:ext uri="{FF2B5EF4-FFF2-40B4-BE49-F238E27FC236}">
                <a16:creationId xmlns:a16="http://schemas.microsoft.com/office/drawing/2014/main" id="{39BD75A1-CB62-882D-3B41-8F71F8C479F4}"/>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Vücuttaki mekanik hareketlerden kaynaklanan işaretlerdir. Genellikle bir dönüştürücü (transducer) aracılığıyla elektriksel sinyale çevrilirler.</a:t>
            </a:r>
          </a:p>
          <a:p>
            <a:r>
              <a:rPr lang="tr-TR" sz="1800" b="1">
                <a:solidFill>
                  <a:schemeClr val="tx2"/>
                </a:solidFill>
              </a:rPr>
              <a:t>Kan Basıncı:</a:t>
            </a:r>
            <a:r>
              <a:rPr lang="tr-TR" sz="1800">
                <a:solidFill>
                  <a:schemeClr val="tx2"/>
                </a:solidFill>
              </a:rPr>
              <a:t> Arteriyel duvarlardaki basınç değişimleri.</a:t>
            </a:r>
          </a:p>
          <a:p>
            <a:r>
              <a:rPr lang="tr-TR" sz="1800" b="1">
                <a:solidFill>
                  <a:schemeClr val="tx2"/>
                </a:solidFill>
              </a:rPr>
              <a:t>Solunum Hacmi:</a:t>
            </a:r>
            <a:r>
              <a:rPr lang="tr-TR" sz="1800">
                <a:solidFill>
                  <a:schemeClr val="tx2"/>
                </a:solidFill>
              </a:rPr>
              <a:t> Akciğerlerin mekanik genişlemesi ve daralması.</a:t>
            </a:r>
          </a:p>
          <a:p>
            <a:r>
              <a:rPr lang="tr-TR" sz="1800" b="1">
                <a:solidFill>
                  <a:schemeClr val="tx2"/>
                </a:solidFill>
              </a:rPr>
              <a:t>Kas Kuvveti:</a:t>
            </a:r>
            <a:r>
              <a:rPr lang="tr-TR" sz="1800">
                <a:solidFill>
                  <a:schemeClr val="tx2"/>
                </a:solidFill>
              </a:rPr>
              <a:t> Kasın kasılma sırasında uyguladığı fiziksel güç.</a:t>
            </a:r>
          </a:p>
          <a:p>
            <a:endParaRPr lang="tr-TR" sz="1800">
              <a:solidFill>
                <a:schemeClr val="tx2"/>
              </a:solidFill>
            </a:endParaRPr>
          </a:p>
        </p:txBody>
      </p:sp>
      <p:sp>
        <p:nvSpPr>
          <p:cNvPr id="4" name="Alt Bilgi Yer Tutucusu 3">
            <a:extLst>
              <a:ext uri="{FF2B5EF4-FFF2-40B4-BE49-F238E27FC236}">
                <a16:creationId xmlns:a16="http://schemas.microsoft.com/office/drawing/2014/main" id="{010BA920-418C-4305-854B-B04CD4216076}"/>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37322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BA9F486-FF64-BDC2-1DFD-06C7E3033CB0}"/>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3. Biyokimyasal İşaretler</a:t>
            </a:r>
          </a:p>
        </p:txBody>
      </p:sp>
      <p:sp>
        <p:nvSpPr>
          <p:cNvPr id="3" name="İçerik Yer Tutucusu 2">
            <a:extLst>
              <a:ext uri="{FF2B5EF4-FFF2-40B4-BE49-F238E27FC236}">
                <a16:creationId xmlns:a16="http://schemas.microsoft.com/office/drawing/2014/main" id="{56A0F436-999D-3CF4-A0FB-3CBB0967CC97}"/>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 Vücut sıvılarındaki (kan, idrar, hücre içi sıvı) kimyasal maddelerin konsantrasyonu ile ilgilidir.</a:t>
            </a:r>
          </a:p>
          <a:p>
            <a:r>
              <a:rPr lang="tr-TR" sz="1800" b="1">
                <a:solidFill>
                  <a:schemeClr val="tx2"/>
                </a:solidFill>
              </a:rPr>
              <a:t>Glikoz Seviyesi:</a:t>
            </a:r>
            <a:r>
              <a:rPr lang="tr-TR" sz="1800">
                <a:solidFill>
                  <a:schemeClr val="tx2"/>
                </a:solidFill>
              </a:rPr>
              <a:t> Kandaki şeker oranı.</a:t>
            </a:r>
          </a:p>
          <a:p>
            <a:r>
              <a:rPr lang="tr-TR" sz="1800" b="1">
                <a:solidFill>
                  <a:schemeClr val="tx2"/>
                </a:solidFill>
              </a:rPr>
              <a:t>pH Değeri:</a:t>
            </a:r>
            <a:r>
              <a:rPr lang="tr-TR" sz="1800">
                <a:solidFill>
                  <a:schemeClr val="tx2"/>
                </a:solidFill>
              </a:rPr>
              <a:t> Kanın asitlik veya bazlık durumu.</a:t>
            </a:r>
          </a:p>
          <a:p>
            <a:r>
              <a:rPr lang="tr-TR" sz="1800">
                <a:solidFill>
                  <a:schemeClr val="tx2"/>
                </a:solidFill>
              </a:rPr>
              <a:t>Kandaki gaz oranları</a:t>
            </a:r>
          </a:p>
        </p:txBody>
      </p:sp>
      <p:sp>
        <p:nvSpPr>
          <p:cNvPr id="4" name="Alt Bilgi Yer Tutucusu 3">
            <a:extLst>
              <a:ext uri="{FF2B5EF4-FFF2-40B4-BE49-F238E27FC236}">
                <a16:creationId xmlns:a16="http://schemas.microsoft.com/office/drawing/2014/main" id="{FA5A617C-166E-A285-A468-B9FE7434622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657533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A3307F8-685E-E01B-BB85-BD0E478E3B07}"/>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4. </a:t>
            </a:r>
            <a:r>
              <a:rPr lang="tr-TR" sz="3600" b="1" dirty="0" err="1">
                <a:solidFill>
                  <a:schemeClr val="tx2"/>
                </a:solidFill>
              </a:rPr>
              <a:t>Biyoakustik</a:t>
            </a:r>
            <a:r>
              <a:rPr lang="tr-TR" sz="3600" b="1" dirty="0">
                <a:solidFill>
                  <a:schemeClr val="tx2"/>
                </a:solidFill>
              </a:rPr>
              <a:t> İşaretler</a:t>
            </a:r>
          </a:p>
        </p:txBody>
      </p:sp>
      <p:sp>
        <p:nvSpPr>
          <p:cNvPr id="3" name="İçerik Yer Tutucusu 2">
            <a:extLst>
              <a:ext uri="{FF2B5EF4-FFF2-40B4-BE49-F238E27FC236}">
                <a16:creationId xmlns:a16="http://schemas.microsoft.com/office/drawing/2014/main" id="{5B1CE7CB-D4E1-3907-6D27-E8734FF7A59D}"/>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 fonksiyonları sırasında oluşan ses dalgalarıdır.</a:t>
            </a:r>
          </a:p>
          <a:p>
            <a:r>
              <a:rPr lang="tr-TR" sz="1800" b="1">
                <a:solidFill>
                  <a:schemeClr val="tx2"/>
                </a:solidFill>
              </a:rPr>
              <a:t>Kalp Sesleri:</a:t>
            </a:r>
            <a:r>
              <a:rPr lang="tr-TR" sz="1800">
                <a:solidFill>
                  <a:schemeClr val="tx2"/>
                </a:solidFill>
              </a:rPr>
              <a:t> Kapakçıkların açılıp kapanma sesleri (Fonokardiyografi).</a:t>
            </a:r>
          </a:p>
          <a:p>
            <a:r>
              <a:rPr lang="tr-TR" sz="1800" b="1">
                <a:solidFill>
                  <a:schemeClr val="tx2"/>
                </a:solidFill>
              </a:rPr>
              <a:t>Solunum Sesleri:</a:t>
            </a:r>
            <a:r>
              <a:rPr lang="tr-TR" sz="1800">
                <a:solidFill>
                  <a:schemeClr val="tx2"/>
                </a:solidFill>
              </a:rPr>
              <a:t> Akciğerlerden geçen havanın yarattığı sesler.</a:t>
            </a:r>
          </a:p>
          <a:p>
            <a:endParaRPr lang="tr-TR" sz="1800">
              <a:solidFill>
                <a:schemeClr val="tx2"/>
              </a:solidFill>
            </a:endParaRPr>
          </a:p>
        </p:txBody>
      </p:sp>
      <p:sp>
        <p:nvSpPr>
          <p:cNvPr id="4" name="Alt Bilgi Yer Tutucusu 3">
            <a:extLst>
              <a:ext uri="{FF2B5EF4-FFF2-40B4-BE49-F238E27FC236}">
                <a16:creationId xmlns:a16="http://schemas.microsoft.com/office/drawing/2014/main" id="{BCF8EDC2-9833-4E7A-D680-B7B87ECBAF7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02788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007D8F8F-0B16-D7BF-EAE7-19C9C3E75CE7}"/>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5. Biyotermal İşaretler</a:t>
            </a:r>
            <a:br>
              <a:rPr lang="tr-TR" sz="3600" b="1">
                <a:solidFill>
                  <a:schemeClr val="tx2"/>
                </a:solidFill>
              </a:rPr>
            </a:br>
            <a:endParaRPr lang="tr-TR" sz="3600">
              <a:solidFill>
                <a:schemeClr val="tx2"/>
              </a:solidFill>
            </a:endParaRPr>
          </a:p>
        </p:txBody>
      </p:sp>
      <p:sp>
        <p:nvSpPr>
          <p:cNvPr id="3" name="İçerik Yer Tutucusu 2">
            <a:extLst>
              <a:ext uri="{FF2B5EF4-FFF2-40B4-BE49-F238E27FC236}">
                <a16:creationId xmlns:a16="http://schemas.microsoft.com/office/drawing/2014/main" id="{F9FB8BBE-595E-B7E7-DB91-09911C562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Vücudun metabolik faaliyetleri sonucu ortaya çıkan sıcaklık değişimleridir.</a:t>
            </a:r>
          </a:p>
          <a:p>
            <a:r>
              <a:rPr lang="tr-TR" sz="1800" b="1">
                <a:solidFill>
                  <a:schemeClr val="tx2"/>
                </a:solidFill>
              </a:rPr>
              <a:t>Vücut Isısı:</a:t>
            </a:r>
            <a:r>
              <a:rPr lang="tr-TR" sz="1800">
                <a:solidFill>
                  <a:schemeClr val="tx2"/>
                </a:solidFill>
              </a:rPr>
              <a:t> Genel veya bölgesel sıcaklık haritaları (Termografi).</a:t>
            </a:r>
          </a:p>
        </p:txBody>
      </p:sp>
      <p:sp>
        <p:nvSpPr>
          <p:cNvPr id="4" name="Alt Bilgi Yer Tutucusu 3">
            <a:extLst>
              <a:ext uri="{FF2B5EF4-FFF2-40B4-BE49-F238E27FC236}">
                <a16:creationId xmlns:a16="http://schemas.microsoft.com/office/drawing/2014/main" id="{D4584156-83E7-F087-185E-7321E1750BA3}"/>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56429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İçerik Yer Tutucusu 2">
            <a:extLst>
              <a:ext uri="{FF2B5EF4-FFF2-40B4-BE49-F238E27FC236}">
                <a16:creationId xmlns:a16="http://schemas.microsoft.com/office/drawing/2014/main" id="{A2B704ED-A192-124E-179D-702D9CD15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Mühendislik açısından bu işaretler son derece </a:t>
            </a:r>
            <a:r>
              <a:rPr lang="tr-TR" sz="1800" b="1">
                <a:solidFill>
                  <a:schemeClr val="tx2"/>
                </a:solidFill>
              </a:rPr>
              <a:t>düşük genlikli</a:t>
            </a:r>
            <a:r>
              <a:rPr lang="tr-TR" sz="1800">
                <a:solidFill>
                  <a:schemeClr val="tx2"/>
                </a:solidFill>
              </a:rPr>
              <a:t> (mikrovoltlar seviyesinde) ve </a:t>
            </a:r>
            <a:r>
              <a:rPr lang="tr-TR" sz="1800" b="1">
                <a:solidFill>
                  <a:schemeClr val="tx2"/>
                </a:solidFill>
              </a:rPr>
              <a:t>gürültülüdür.</a:t>
            </a:r>
            <a:r>
              <a:rPr lang="tr-TR" sz="1800">
                <a:solidFill>
                  <a:schemeClr val="tx2"/>
                </a:solidFill>
              </a:rPr>
              <a:t> Bu nedenle bu işaretlerin doğru şekilde algılanması için yüksek kaliteli elektrotlar, güçlü yükselticiler (amplifikatörler) ve hassas filtreleme teknikleri gereklidir. </a:t>
            </a:r>
          </a:p>
          <a:p>
            <a:r>
              <a:rPr lang="tr-TR" sz="1800">
                <a:solidFill>
                  <a:schemeClr val="tx2"/>
                </a:solidFill>
              </a:rPr>
              <a:t>Tıp elektroniğinin temel amacı bu zayıf işaretleri bozmadan elektronik sistemlere aktarmaktır.</a:t>
            </a:r>
          </a:p>
        </p:txBody>
      </p:sp>
      <p:sp>
        <p:nvSpPr>
          <p:cNvPr id="2" name="Alt Bilgi Yer Tutucusu 1">
            <a:extLst>
              <a:ext uri="{FF2B5EF4-FFF2-40B4-BE49-F238E27FC236}">
                <a16:creationId xmlns:a16="http://schemas.microsoft.com/office/drawing/2014/main" id="{4A3A97B9-1724-4B12-AC90-44DE6F14E0C1}"/>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22281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D68492-4CC5-B397-F962-0B0E2AA4531A}"/>
              </a:ext>
            </a:extLst>
          </p:cNvPr>
          <p:cNvSpPr>
            <a:spLocks noGrp="1"/>
          </p:cNvSpPr>
          <p:nvPr>
            <p:ph type="title"/>
          </p:nvPr>
        </p:nvSpPr>
        <p:spPr>
          <a:xfrm>
            <a:off x="1074763" y="278671"/>
            <a:ext cx="6758597" cy="1773936"/>
          </a:xfrm>
        </p:spPr>
        <p:txBody>
          <a:bodyPr vert="horz" lIns="91440" tIns="45720" rIns="91440" bIns="45720" rtlCol="0">
            <a:normAutofit/>
          </a:bodyPr>
          <a:lstStyle/>
          <a:p>
            <a:r>
              <a:rPr lang="en-US" sz="3600" kern="1200" dirty="0" err="1">
                <a:solidFill>
                  <a:schemeClr val="tx2"/>
                </a:solidFill>
                <a:latin typeface="+mj-lt"/>
                <a:ea typeface="+mj-ea"/>
                <a:cs typeface="+mj-cs"/>
              </a:rPr>
              <a:t>Biyoelektrik</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İşaretlerinin</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Oluşumu</a:t>
            </a:r>
            <a:endParaRPr lang="en-US" sz="3600" kern="1200" dirty="0">
              <a:solidFill>
                <a:schemeClr val="tx2"/>
              </a:solidFill>
              <a:latin typeface="+mj-lt"/>
              <a:ea typeface="+mj-ea"/>
              <a:cs typeface="+mj-cs"/>
            </a:endParaRPr>
          </a:p>
        </p:txBody>
      </p:sp>
      <p:grpSp>
        <p:nvGrpSpPr>
          <p:cNvPr id="33" name="Group 32">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34" name="Freeform: Shape 33">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İçerik Yer Tutucusu 9" descr="diyagram, kırpıntı çizim içeren bir resim&#10;&#10;Yapay zeka tarafından oluşturulmuş içerik yanlış olabilir.">
            <a:extLst>
              <a:ext uri="{FF2B5EF4-FFF2-40B4-BE49-F238E27FC236}">
                <a16:creationId xmlns:a16="http://schemas.microsoft.com/office/drawing/2014/main" id="{6B181018-B762-09D2-429A-D9C47023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41" y="2491718"/>
            <a:ext cx="4588041" cy="2695476"/>
          </a:xfrm>
          <a:prstGeom prst="rect">
            <a:avLst/>
          </a:prstGeom>
        </p:spPr>
      </p:pic>
      <p:pic>
        <p:nvPicPr>
          <p:cNvPr id="4" name="Resim 3">
            <a:extLst>
              <a:ext uri="{FF2B5EF4-FFF2-40B4-BE49-F238E27FC236}">
                <a16:creationId xmlns:a16="http://schemas.microsoft.com/office/drawing/2014/main" id="{4B8D54EC-4DF9-B7DD-EBC4-DA104D893F2A}"/>
              </a:ext>
            </a:extLst>
          </p:cNvPr>
          <p:cNvPicPr>
            <a:picLocks noChangeAspect="1"/>
          </p:cNvPicPr>
          <p:nvPr/>
        </p:nvPicPr>
        <p:blipFill>
          <a:blip r:embed="rId3"/>
          <a:stretch>
            <a:fillRect/>
          </a:stretch>
        </p:blipFill>
        <p:spPr>
          <a:xfrm>
            <a:off x="5370120" y="2946486"/>
            <a:ext cx="6308777" cy="1773936"/>
          </a:xfrm>
          <a:prstGeom prst="rect">
            <a:avLst/>
          </a:prstGeom>
        </p:spPr>
      </p:pic>
      <p:sp>
        <p:nvSpPr>
          <p:cNvPr id="3" name="Alt Bilgi Yer Tutucusu 2">
            <a:extLst>
              <a:ext uri="{FF2B5EF4-FFF2-40B4-BE49-F238E27FC236}">
                <a16:creationId xmlns:a16="http://schemas.microsoft.com/office/drawing/2014/main" id="{DDC0962D-511F-C8EF-4962-C169B5CABA0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20349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F02056-AC3F-F174-EF14-6BC5AA7AC9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B14B7BFA-2491-7CF6-7D0B-C8AB4D8538C3}"/>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Vücudumuzdaki hücrelerin tümüne yakınının zarında membran potansiyeli oluşur. Sinir ve kas hücreleri gibi hücreler ise uyarılabilme özelliğine sahiptir.</a:t>
            </a:r>
          </a:p>
          <a:p>
            <a:r>
              <a:rPr lang="tr-TR" sz="1800">
                <a:solidFill>
                  <a:schemeClr val="tx2"/>
                </a:solidFill>
              </a:rPr>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2D38DAC2-DD3F-C1AF-3E67-77AD9C3CDD22}"/>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676391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D30EA28-8842-0809-7EEC-ED64730A25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EAF7EF77-28F5-9386-6587-00E068FF9AB6}"/>
              </a:ext>
            </a:extLst>
          </p:cNvPr>
          <p:cNvSpPr>
            <a:spLocks noGrp="1"/>
          </p:cNvSpPr>
          <p:nvPr>
            <p:ph idx="1"/>
          </p:nvPr>
        </p:nvSpPr>
        <p:spPr>
          <a:xfrm>
            <a:off x="1179226" y="3329677"/>
            <a:ext cx="9833548" cy="2457269"/>
          </a:xfrm>
        </p:spPr>
        <p:txBody>
          <a:bodyPr>
            <a:normAutofit/>
          </a:bodyPr>
          <a:lstStyle/>
          <a:p>
            <a:r>
              <a:rPr lang="tr-TR" sz="1800">
                <a:solidFill>
                  <a:schemeClr val="tx2"/>
                </a:solidFill>
              </a:rPr>
              <a:t>Membran, hücrenin çevresini kaplayan bir duvar olarak hücrenin iç ve dış kısmını ayırır ve geçirgenlik (permeabilite) engeli olarak çalışır. </a:t>
            </a:r>
          </a:p>
          <a:p>
            <a:r>
              <a:rPr lang="tr-TR" sz="1800">
                <a:solidFill>
                  <a:schemeClr val="tx2"/>
                </a:solidFill>
              </a:rPr>
              <a:t>Hücreye gireni, çıkanı kontrol eder ve böylece aktif ve pasif membran iletimini gerçekleştirir. </a:t>
            </a:r>
          </a:p>
          <a:p>
            <a:r>
              <a:rPr lang="tr-TR" sz="1800">
                <a:solidFill>
                  <a:schemeClr val="tx2"/>
                </a:solidFill>
              </a:rPr>
              <a:t>Hücreye gelen tüm kimyasal (hormonal) ve elektriksel (sinirsel) enformasyon membran yolu üzerinden hücreye ulaşır.</a:t>
            </a:r>
          </a:p>
          <a:p>
            <a:r>
              <a:rPr lang="tr-TR" sz="1800">
                <a:solidFill>
                  <a:schemeClr val="tx2"/>
                </a:solidFill>
              </a:rPr>
              <a:t>Hormonlar membrandaki reseptörlere etki ederek etkilerini hücreye ulaştırırlar. Birçok ilaç etkilerini ancak membran ile temas ettikten sonra gösterir.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46E63303-BE07-05F6-19AE-3137BECF5DEC}"/>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464510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39872A3-8D03-710A-B955-DE578FFB403C}"/>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40CDA134-E734-EB82-9D2B-C71C823D56A8}"/>
              </a:ext>
            </a:extLst>
          </p:cNvPr>
          <p:cNvSpPr>
            <a:spLocks noGrp="1"/>
          </p:cNvSpPr>
          <p:nvPr>
            <p:ph idx="1"/>
          </p:nvPr>
        </p:nvSpPr>
        <p:spPr>
          <a:xfrm>
            <a:off x="1179226" y="3329677"/>
            <a:ext cx="9833548" cy="2457269"/>
          </a:xfrm>
        </p:spPr>
        <p:txBody>
          <a:bodyPr>
            <a:normAutofit/>
          </a:bodyPr>
          <a:lstStyle/>
          <a:p>
            <a:r>
              <a:rPr lang="tr-TR" sz="1800">
                <a:solidFill>
                  <a:schemeClr val="tx2"/>
                </a:solidFill>
              </a:rPr>
              <a:t>Enzimlerin çoğunun aktiviteleri membranda olmaktadır. Hücrenin davranış bozukluklarında, genellikle membranda bozulmalar olur. örneğin kanserde tümör hücresi kontakt inhibasyon kuralına uymaz. </a:t>
            </a:r>
          </a:p>
          <a:p>
            <a:r>
              <a:rPr lang="tr-TR" sz="1800">
                <a:solidFill>
                  <a:schemeClr val="tx2"/>
                </a:solidFill>
              </a:rPr>
              <a:t>Bu kurala göre birbiriyle fiziksel olarak temas eden hücreler birbirleriyle haberleşebilmekte, hareketi, büyümeyi ve üremeyi durdurabilmektedirler. Kanserli hücrelerde bu işlem gerçekleşmediğinden üreme devam eder.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8A653B45-73A5-0628-7D1E-0FD7498BC23F}"/>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91141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992910F-8568-B36D-B618-8CF8C534A804}"/>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74691F87-7B35-4D28-1A68-BC93589C0F4F}"/>
              </a:ext>
            </a:extLst>
          </p:cNvPr>
          <p:cNvSpPr>
            <a:spLocks noGrp="1"/>
          </p:cNvSpPr>
          <p:nvPr>
            <p:ph idx="1"/>
          </p:nvPr>
        </p:nvSpPr>
        <p:spPr>
          <a:xfrm>
            <a:off x="1179226" y="3329677"/>
            <a:ext cx="9833548" cy="2457269"/>
          </a:xfrm>
        </p:spPr>
        <p:txBody>
          <a:bodyPr>
            <a:normAutofit/>
          </a:bodyPr>
          <a:lstStyle/>
          <a:p>
            <a:r>
              <a:rPr lang="tr-TR" sz="1800">
                <a:solidFill>
                  <a:schemeClr val="tx2"/>
                </a:solidFill>
              </a:rPr>
              <a:t>Hücrenin elektriksel aktivitesi açısından bakıldığında hücrenin dışında ve içinde yer alan sıvı bileşimleri arasında temel fark, hücre dışında Na+ ve Cl' iyonları sayısının hücre içine nazaran fazla, K+ iyonları sayısının ise az olmasıdır. Hücre membranından çeşitli maddelerin geçmesini sağlayan iki temel mekanizma difüzyon ve aktif rransport olaylarıdır.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68DA06B1-01B5-2368-5353-9EB93174CC5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77571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F38CFAEF-0D12-4999-56A7-33048DD02EA9}"/>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9C0BD53D-9E34-76F4-048A-FF1F1DFA7269}"/>
              </a:ext>
            </a:extLst>
          </p:cNvPr>
          <p:cNvSpPr>
            <a:spLocks noGrp="1"/>
          </p:cNvSpPr>
          <p:nvPr>
            <p:ph idx="1"/>
          </p:nvPr>
        </p:nvSpPr>
        <p:spPr>
          <a:xfrm>
            <a:off x="1179226" y="3329677"/>
            <a:ext cx="9833548" cy="2457269"/>
          </a:xfrm>
        </p:spPr>
        <p:txBody>
          <a:bodyPr>
            <a:normAutofit/>
          </a:bodyPr>
          <a:lstStyle/>
          <a:p>
            <a:r>
              <a:rPr lang="tr-TR" sz="1800" b="1">
                <a:solidFill>
                  <a:schemeClr val="tx2"/>
                </a:solidFill>
              </a:rPr>
              <a:t>Difüzyon (pasif geçiş-transport): </a:t>
            </a:r>
            <a:r>
              <a:rPr lang="tr-TR" sz="1800">
                <a:solidFill>
                  <a:schemeClr val="tx2"/>
                </a:solidFill>
              </a:rPr>
              <a:t>Maddelerin yüksek konsantrasyondan alçak konsantrasyona doğru membranı geçme olayıdır. Bu olayda etkili olan sadece bahis konusu maddenin kinetik enerjisidir. </a:t>
            </a:r>
          </a:p>
          <a:p>
            <a:r>
              <a:rPr lang="tr-TR" sz="1800" b="1">
                <a:solidFill>
                  <a:schemeClr val="tx2"/>
                </a:solidFill>
              </a:rPr>
              <a:t>Aktif taşıma (aktif rransport) : </a:t>
            </a:r>
            <a:r>
              <a:rPr lang="tr-TR" sz="1800">
                <a:solidFill>
                  <a:schemeClr val="tx2"/>
                </a:solidFill>
              </a:rPr>
              <a:t>Maddelerin alçak konsantrasyondan yüksek konsantrasyona doğru membranı geçmesi olayıdır. Bu olayın olabilmesi için gerekli enerji kaynağı metabolik enerjidir. Maddeler, bir takım kimyasal reaksiyonlar yolu ile enerji tüketimi sayesinde belirli taşıyıcı maddeler tarafından taşınarak membranı geçerler.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1EFD2760-814E-398A-79B2-9E17262FC28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300364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39E232-A9FF-B48F-290F-D9EDE789EA66}"/>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FD5493EC-A15A-A6F2-8876-03AABD8C433C}"/>
              </a:ext>
            </a:extLst>
          </p:cNvPr>
          <p:cNvSpPr>
            <a:spLocks noGrp="1"/>
          </p:cNvSpPr>
          <p:nvPr>
            <p:ph idx="1"/>
          </p:nvPr>
        </p:nvSpPr>
        <p:spPr>
          <a:xfrm>
            <a:off x="1179226" y="3329677"/>
            <a:ext cx="9833548" cy="2457269"/>
          </a:xfrm>
        </p:spPr>
        <p:txBody>
          <a:bodyPr>
            <a:normAutofit/>
          </a:bodyPr>
          <a:lstStyle/>
          <a:p>
            <a:r>
              <a:rPr lang="tr-TR" sz="1800">
                <a:solidFill>
                  <a:schemeClr val="tx2"/>
                </a:solidFill>
              </a:rPr>
              <a:t>Bazı maddelerin hücre içinde daha yüksek konsantrasyonda tutulması gereklidir. Buna örnek olarak K+ iyonlarını verebiliriz. Bazı maddelerin (örneğin Na+ ) ise hücre dışındaki konsantrasyonlarının daha fazla olması gereklidir. Vücudun çeşitli bölümlerini incelediğimizde aktif transport yardımıyla hücre zarını, Na+ , K+ iyonlarına ilaveten Ca- , Fe- , H- , I- v.b. iyonlarla çeşitli şekerler ve amino asitlerin geçtiğini görürüz.</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0840FA4B-7E86-2231-6201-2A015DD4D56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78335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D6BAA740-1647-28A8-DDBE-50A77255D0D5}"/>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3B8A1C30-E351-40F3-75D3-3F857A92AC40}"/>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Vücut öz sıvısındaki en önemli iyonlar Sodyum (Na+ ), Potasyum (K+ ) ve Klor (Cl- ) iyonlarıdır. </a:t>
            </a:r>
          </a:p>
          <a:p>
            <a:r>
              <a:rPr lang="tr-TR" sz="1800">
                <a:solidFill>
                  <a:schemeClr val="tx2"/>
                </a:solidFill>
              </a:rPr>
              <a:t>Uyarılabilen hücrelerin membranları Potasyum ve Klor iyonlarının hücre içine geçmesine izin </a:t>
            </a:r>
            <a:r>
              <a:rPr lang="tr-TR" sz="1800" b="1">
                <a:solidFill>
                  <a:schemeClr val="tx2"/>
                </a:solidFill>
              </a:rPr>
              <a:t>vermesine</a:t>
            </a:r>
            <a:r>
              <a:rPr lang="tr-TR" sz="1800">
                <a:solidFill>
                  <a:schemeClr val="tx2"/>
                </a:solidFill>
              </a:rPr>
              <a:t> rağmen Sodyum iyonlarının geçişine </a:t>
            </a:r>
            <a:r>
              <a:rPr lang="tr-TR" sz="1800" b="1">
                <a:solidFill>
                  <a:schemeClr val="tx2"/>
                </a:solidFill>
              </a:rPr>
              <a:t>engel</a:t>
            </a:r>
            <a:r>
              <a:rPr lang="tr-TR" sz="1800">
                <a:solidFill>
                  <a:schemeClr val="tx2"/>
                </a:solidFill>
              </a:rPr>
              <a:t> olur. </a:t>
            </a:r>
          </a:p>
          <a:p>
            <a:r>
              <a:rPr lang="tr-TR" sz="1800">
                <a:solidFill>
                  <a:schemeClr val="tx2"/>
                </a:solidFill>
              </a:rPr>
              <a:t>Sodyumun hücre içine kolay geçememesi sonucu:</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D6B2C20D-0217-F9F8-F946-451603AC3F9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295445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1DB13FCE-9169-B9BB-D2EF-D78E0EE3FB63}"/>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Polarizasyon</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26149B82-24DF-4C49-8825-3B39EA4A06AB}"/>
              </a:ext>
            </a:extLst>
          </p:cNvPr>
          <p:cNvSpPr>
            <a:spLocks noGrp="1"/>
          </p:cNvSpPr>
          <p:nvPr>
            <p:ph idx="1"/>
          </p:nvPr>
        </p:nvSpPr>
        <p:spPr>
          <a:xfrm>
            <a:off x="1179226" y="3329677"/>
            <a:ext cx="9833548" cy="2457269"/>
          </a:xfrm>
        </p:spPr>
        <p:txBody>
          <a:bodyPr>
            <a:normAutofit/>
          </a:bodyPr>
          <a:lstStyle/>
          <a:p>
            <a:r>
              <a:rPr lang="tr-TR" sz="1100" b="1" dirty="0">
                <a:solidFill>
                  <a:schemeClr val="tx2"/>
                </a:solidFill>
              </a:rPr>
              <a:t>-Polarizasyon (kutuplaşma): </a:t>
            </a:r>
            <a:r>
              <a:rPr lang="tr-TR" sz="1100" dirty="0">
                <a:solidFill>
                  <a:schemeClr val="tx2"/>
                </a:solidFill>
              </a:rPr>
              <a:t>Uyarılmamış bir sinir hücresinde hücre dışı pozitif(+), hücre içi negatif(-) yüklüdür. Sinir hücresinin bu durumuna </a:t>
            </a:r>
            <a:r>
              <a:rPr lang="tr-TR" sz="1100" b="1" dirty="0">
                <a:solidFill>
                  <a:schemeClr val="tx2"/>
                </a:solidFill>
              </a:rPr>
              <a:t>polarizasyon (kutuplaşma)</a:t>
            </a:r>
            <a:r>
              <a:rPr lang="tr-TR" sz="1100" dirty="0">
                <a:solidFill>
                  <a:schemeClr val="tx2"/>
                </a:solidFill>
              </a:rPr>
              <a:t> denir.</a:t>
            </a:r>
          </a:p>
          <a:p>
            <a:r>
              <a:rPr lang="tr-TR" sz="1100" b="1" dirty="0">
                <a:solidFill>
                  <a:schemeClr val="tx2"/>
                </a:solidFill>
              </a:rPr>
              <a:t>-Polarizasyonun nedeni</a:t>
            </a:r>
            <a:r>
              <a:rPr lang="tr-TR" sz="1100" dirty="0">
                <a:solidFill>
                  <a:schemeClr val="tx2"/>
                </a:solidFill>
              </a:rPr>
              <a:t>: Hücre içi ile hücre dışı arasındaki iyonların derişim farklılığıdır.</a:t>
            </a:r>
          </a:p>
          <a:p>
            <a:r>
              <a:rPr lang="tr-TR" sz="1100" dirty="0">
                <a:solidFill>
                  <a:schemeClr val="tx2"/>
                </a:solidFill>
              </a:rPr>
              <a:t>-Hücre içinde K</a:t>
            </a:r>
            <a:r>
              <a:rPr lang="tr-TR" sz="1100" baseline="30000" dirty="0">
                <a:solidFill>
                  <a:schemeClr val="tx2"/>
                </a:solidFill>
              </a:rPr>
              <a:t>+</a:t>
            </a:r>
            <a:r>
              <a:rPr lang="tr-TR" sz="1100" dirty="0">
                <a:solidFill>
                  <a:schemeClr val="tx2"/>
                </a:solidFill>
              </a:rPr>
              <a:t> derişimi fazla, </a:t>
            </a:r>
            <a:r>
              <a:rPr lang="tr-TR" sz="1100" dirty="0" err="1">
                <a:solidFill>
                  <a:schemeClr val="tx2"/>
                </a:solidFill>
              </a:rPr>
              <a:t>Na</a:t>
            </a:r>
            <a:r>
              <a:rPr lang="tr-TR" sz="1100" baseline="30000" dirty="0">
                <a:solidFill>
                  <a:schemeClr val="tx2"/>
                </a:solidFill>
              </a:rPr>
              <a:t>+</a:t>
            </a:r>
            <a:r>
              <a:rPr lang="tr-TR" sz="1100" dirty="0">
                <a:solidFill>
                  <a:schemeClr val="tx2"/>
                </a:solidFill>
              </a:rPr>
              <a:t> derişimi azdır.</a:t>
            </a:r>
          </a:p>
          <a:p>
            <a:r>
              <a:rPr lang="tr-TR" sz="1100" dirty="0">
                <a:solidFill>
                  <a:schemeClr val="tx2"/>
                </a:solidFill>
              </a:rPr>
              <a:t>-Hücre dışında ise tam tersine K</a:t>
            </a:r>
            <a:r>
              <a:rPr lang="tr-TR" sz="1100" baseline="30000" dirty="0">
                <a:solidFill>
                  <a:schemeClr val="tx2"/>
                </a:solidFill>
              </a:rPr>
              <a:t>+</a:t>
            </a:r>
            <a:r>
              <a:rPr lang="tr-TR" sz="1100" dirty="0">
                <a:solidFill>
                  <a:schemeClr val="tx2"/>
                </a:solidFill>
              </a:rPr>
              <a:t> derişimi az, </a:t>
            </a:r>
            <a:r>
              <a:rPr lang="tr-TR" sz="1100" dirty="0" err="1">
                <a:solidFill>
                  <a:schemeClr val="tx2"/>
                </a:solidFill>
              </a:rPr>
              <a:t>Na</a:t>
            </a:r>
            <a:r>
              <a:rPr lang="tr-TR" sz="1100" baseline="30000" dirty="0">
                <a:solidFill>
                  <a:schemeClr val="tx2"/>
                </a:solidFill>
              </a:rPr>
              <a:t>+ </a:t>
            </a:r>
            <a:r>
              <a:rPr lang="tr-TR" sz="1100" dirty="0">
                <a:solidFill>
                  <a:schemeClr val="tx2"/>
                </a:solidFill>
              </a:rPr>
              <a:t>derişimi fazladır.</a:t>
            </a:r>
          </a:p>
          <a:p>
            <a:r>
              <a:rPr lang="tr-TR" sz="1100" b="1" dirty="0">
                <a:solidFill>
                  <a:schemeClr val="tx2"/>
                </a:solidFill>
              </a:rPr>
              <a:t>-Hücre içinin negatif olmasının nedeni ise derişimi hücre dışına göre fazla olan anyonlardan (A</a:t>
            </a:r>
            <a:r>
              <a:rPr lang="tr-TR" sz="1100" b="1" baseline="30000" dirty="0">
                <a:solidFill>
                  <a:schemeClr val="tx2"/>
                </a:solidFill>
              </a:rPr>
              <a:t>-</a:t>
            </a:r>
            <a:r>
              <a:rPr lang="tr-TR" sz="1100" b="1" dirty="0">
                <a:solidFill>
                  <a:schemeClr val="tx2"/>
                </a:solidFill>
              </a:rPr>
              <a:t>) kaynaklanır.</a:t>
            </a:r>
            <a:endParaRPr lang="tr-TR" sz="1100" dirty="0">
              <a:solidFill>
                <a:schemeClr val="tx2"/>
              </a:solidFill>
            </a:endParaRPr>
          </a:p>
          <a:p>
            <a:r>
              <a:rPr lang="tr-TR" sz="1100" dirty="0">
                <a:solidFill>
                  <a:schemeClr val="tx2"/>
                </a:solidFill>
              </a:rPr>
              <a:t>- Bunlar proteinler, amino asitler, sülfat (SO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fosfat (PO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ve diğer negatif yüklü iyonlardır.</a:t>
            </a:r>
          </a:p>
          <a:p>
            <a:pPr marL="0" indent="0">
              <a:buNone/>
            </a:pPr>
            <a:br>
              <a:rPr lang="tr-TR" sz="1100" dirty="0">
                <a:solidFill>
                  <a:schemeClr val="tx2"/>
                </a:solidFill>
              </a:rPr>
            </a:br>
            <a:endParaRPr lang="tr-TR" sz="11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376DC3BD-0EAB-0AEC-0438-9EA0EA9F794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62191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9580B5F-66DE-4276-2DF3-14E79C6C598B}"/>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Polarizasyon</a:t>
            </a:r>
          </a:p>
        </p:txBody>
      </p:sp>
      <p:sp>
        <p:nvSpPr>
          <p:cNvPr id="3" name="İçerik Yer Tutucusu 2">
            <a:extLst>
              <a:ext uri="{FF2B5EF4-FFF2-40B4-BE49-F238E27FC236}">
                <a16:creationId xmlns:a16="http://schemas.microsoft.com/office/drawing/2014/main" id="{79DEE786-BCEA-5F80-B942-953F11CD740E}"/>
              </a:ext>
            </a:extLst>
          </p:cNvPr>
          <p:cNvSpPr>
            <a:spLocks noGrp="1"/>
          </p:cNvSpPr>
          <p:nvPr>
            <p:ph idx="1"/>
          </p:nvPr>
        </p:nvSpPr>
        <p:spPr>
          <a:xfrm>
            <a:off x="804672" y="2421683"/>
            <a:ext cx="4765949" cy="3353476"/>
          </a:xfrm>
        </p:spPr>
        <p:txBody>
          <a:bodyPr anchor="t">
            <a:normAutofit/>
          </a:bodyPr>
          <a:lstStyle/>
          <a:p>
            <a:r>
              <a:rPr lang="tr-TR" sz="1300">
                <a:solidFill>
                  <a:schemeClr val="tx2"/>
                </a:solidFill>
              </a:rPr>
              <a:t>-Polarize durumundaki bir nöronda hücre içi ile hücre dışı arasında -70mV’luk bir potansiyel farkı ölçülür.</a:t>
            </a:r>
          </a:p>
          <a:p>
            <a:r>
              <a:rPr lang="tr-TR" sz="1300">
                <a:solidFill>
                  <a:schemeClr val="tx2"/>
                </a:solidFill>
              </a:rPr>
              <a:t>-Polarize durumdaki bir nöronda Na ve K kanalları kapalıdır.</a:t>
            </a:r>
          </a:p>
          <a:p>
            <a:r>
              <a:rPr lang="tr-TR" sz="1300">
                <a:solidFill>
                  <a:schemeClr val="tx2"/>
                </a:solidFill>
              </a:rPr>
              <a:t>-Polarizasyonu sağlayan hücre zarında bulunan </a:t>
            </a:r>
            <a:r>
              <a:rPr lang="tr-TR" sz="1300" b="1" u="sng">
                <a:solidFill>
                  <a:schemeClr val="tx2"/>
                </a:solidFill>
              </a:rPr>
              <a:t>Na</a:t>
            </a:r>
            <a:r>
              <a:rPr lang="tr-TR" sz="1300" b="1" u="sng" baseline="30000">
                <a:solidFill>
                  <a:schemeClr val="tx2"/>
                </a:solidFill>
              </a:rPr>
              <a:t>+</a:t>
            </a:r>
            <a:r>
              <a:rPr lang="tr-TR" sz="1300" b="1" u="sng">
                <a:solidFill>
                  <a:schemeClr val="tx2"/>
                </a:solidFill>
              </a:rPr>
              <a:t>-K</a:t>
            </a:r>
            <a:r>
              <a:rPr lang="tr-TR" sz="1300" b="1" u="sng" baseline="30000">
                <a:solidFill>
                  <a:schemeClr val="tx2"/>
                </a:solidFill>
              </a:rPr>
              <a:t>+</a:t>
            </a:r>
            <a:r>
              <a:rPr lang="tr-TR" sz="1300" b="1" u="sng">
                <a:solidFill>
                  <a:schemeClr val="tx2"/>
                </a:solidFill>
              </a:rPr>
              <a:t>ATPaz pompasıdır.</a:t>
            </a:r>
            <a:r>
              <a:rPr lang="tr-TR" sz="1300">
                <a:solidFill>
                  <a:schemeClr val="tx2"/>
                </a:solidFill>
              </a:rPr>
              <a:t> Aktif taşıma yapan bu elemanlar hücre içindeki Na</a:t>
            </a:r>
            <a:r>
              <a:rPr lang="tr-TR" sz="1300" baseline="30000">
                <a:solidFill>
                  <a:schemeClr val="tx2"/>
                </a:solidFill>
              </a:rPr>
              <a:t>+</a:t>
            </a:r>
            <a:r>
              <a:rPr lang="tr-TR" sz="1300">
                <a:solidFill>
                  <a:schemeClr val="tx2"/>
                </a:solidFill>
              </a:rPr>
              <a:t> ları dışarı atarken hücre dışındaki K</a:t>
            </a:r>
            <a:r>
              <a:rPr lang="tr-TR" sz="1300" baseline="30000">
                <a:solidFill>
                  <a:schemeClr val="tx2"/>
                </a:solidFill>
              </a:rPr>
              <a:t>+</a:t>
            </a:r>
            <a:r>
              <a:rPr lang="tr-TR" sz="1300">
                <a:solidFill>
                  <a:schemeClr val="tx2"/>
                </a:solidFill>
              </a:rPr>
              <a:t>ları hücre içine alırlar. Na-K ATPaz ile dışarı pompalanan Na</a:t>
            </a:r>
            <a:r>
              <a:rPr lang="tr-TR" sz="1300" baseline="30000">
                <a:solidFill>
                  <a:schemeClr val="tx2"/>
                </a:solidFill>
              </a:rPr>
              <a:t>+</a:t>
            </a:r>
            <a:r>
              <a:rPr lang="tr-TR" sz="1300">
                <a:solidFill>
                  <a:schemeClr val="tx2"/>
                </a:solidFill>
              </a:rPr>
              <a:t> iyonları, içeri pompalanan K</a:t>
            </a:r>
            <a:r>
              <a:rPr lang="tr-TR" sz="1300" baseline="30000">
                <a:solidFill>
                  <a:schemeClr val="tx2"/>
                </a:solidFill>
              </a:rPr>
              <a:t>+</a:t>
            </a:r>
            <a:r>
              <a:rPr lang="tr-TR" sz="1300">
                <a:solidFill>
                  <a:schemeClr val="tx2"/>
                </a:solidFill>
              </a:rPr>
              <a:t> iyonlarından fazladır. Ayrıca hücre içinde bol miktarda bulunan negatif yüklü protein anyonları büyük moleküller olduklarından zardan geçemezler ve hücre içindeki K</a:t>
            </a:r>
            <a:r>
              <a:rPr lang="tr-TR" sz="1300" baseline="30000">
                <a:solidFill>
                  <a:schemeClr val="tx2"/>
                </a:solidFill>
              </a:rPr>
              <a:t>+</a:t>
            </a:r>
            <a:r>
              <a:rPr lang="tr-TR" sz="1300">
                <a:solidFill>
                  <a:schemeClr val="tx2"/>
                </a:solidFill>
              </a:rPr>
              <a:t> iyonlarını kendilerine doğru çekerek hücre dışına çıkmasına engel olurlar. Bunun sonucunda sinir hücresinin dış kısmı pozitif, iç kısmı negatif yüke sahip olur.</a:t>
            </a:r>
          </a:p>
          <a:p>
            <a:endParaRPr lang="tr-TR" sz="130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Resim 6" descr="metin, ekran görüntüsü, renklilik içeren bir resim&#10;&#10;Yapay zeka tarafından oluşturulmuş içerik yanlış olabilir.">
            <a:extLst>
              <a:ext uri="{FF2B5EF4-FFF2-40B4-BE49-F238E27FC236}">
                <a16:creationId xmlns:a16="http://schemas.microsoft.com/office/drawing/2014/main" id="{1FA658C3-FB60-0B95-CE9B-F194F1AC2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45663"/>
            <a:ext cx="5985349" cy="2974313"/>
          </a:xfrm>
          <a:prstGeom prst="rect">
            <a:avLst/>
          </a:prstGeom>
        </p:spPr>
      </p:pic>
      <p:sp>
        <p:nvSpPr>
          <p:cNvPr id="4" name="Alt Bilgi Yer Tutucusu 3">
            <a:extLst>
              <a:ext uri="{FF2B5EF4-FFF2-40B4-BE49-F238E27FC236}">
                <a16:creationId xmlns:a16="http://schemas.microsoft.com/office/drawing/2014/main" id="{74DB5AA5-8A72-26D4-88F5-E1802FE124A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4320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AE6D7CB-E5A2-2291-EB59-CDE497DE5AD5}"/>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Depolarizasyon</a:t>
            </a:r>
          </a:p>
        </p:txBody>
      </p:sp>
      <p:sp>
        <p:nvSpPr>
          <p:cNvPr id="3" name="İçerik Yer Tutucusu 2">
            <a:extLst>
              <a:ext uri="{FF2B5EF4-FFF2-40B4-BE49-F238E27FC236}">
                <a16:creationId xmlns:a16="http://schemas.microsoft.com/office/drawing/2014/main" id="{9108E467-AD4E-14BB-FBC6-E9920F0797DA}"/>
              </a:ext>
            </a:extLst>
          </p:cNvPr>
          <p:cNvSpPr>
            <a:spLocks noGrp="1"/>
          </p:cNvSpPr>
          <p:nvPr>
            <p:ph idx="1"/>
          </p:nvPr>
        </p:nvSpPr>
        <p:spPr>
          <a:xfrm>
            <a:off x="804672" y="2421683"/>
            <a:ext cx="4765949" cy="3353476"/>
          </a:xfrm>
        </p:spPr>
        <p:txBody>
          <a:bodyPr anchor="t">
            <a:normAutofit/>
          </a:bodyPr>
          <a:lstStyle/>
          <a:p>
            <a:r>
              <a:rPr lang="tr-TR" sz="1700" b="1">
                <a:solidFill>
                  <a:schemeClr val="tx2"/>
                </a:solidFill>
              </a:rPr>
              <a:t>-Depolarizasyon (Kutuplaşmanın bozulması):</a:t>
            </a:r>
            <a:r>
              <a:rPr lang="tr-TR" sz="1700">
                <a:solidFill>
                  <a:schemeClr val="tx2"/>
                </a:solidFill>
              </a:rPr>
              <a:t> Eşik değer ve ya üzerinde bir uyarı alındığında sinir hücresinin zarında bulunan Na</a:t>
            </a:r>
            <a:r>
              <a:rPr lang="tr-TR" sz="1700" baseline="30000">
                <a:solidFill>
                  <a:schemeClr val="tx2"/>
                </a:solidFill>
              </a:rPr>
              <a:t>+</a:t>
            </a:r>
            <a:r>
              <a:rPr lang="tr-TR" sz="1700">
                <a:solidFill>
                  <a:schemeClr val="tx2"/>
                </a:solidFill>
              </a:rPr>
              <a:t> kapıları açılır (K</a:t>
            </a:r>
            <a:r>
              <a:rPr lang="tr-TR" sz="1700" baseline="30000">
                <a:solidFill>
                  <a:schemeClr val="tx2"/>
                </a:solidFill>
              </a:rPr>
              <a:t>+</a:t>
            </a:r>
            <a:r>
              <a:rPr lang="tr-TR" sz="1700">
                <a:solidFill>
                  <a:schemeClr val="tx2"/>
                </a:solidFill>
              </a:rPr>
              <a:t> kapıları kapalı kalır) ve hücre dışında daha fazla bulunan Na</a:t>
            </a:r>
            <a:r>
              <a:rPr lang="tr-TR" sz="1700" baseline="30000">
                <a:solidFill>
                  <a:schemeClr val="tx2"/>
                </a:solidFill>
              </a:rPr>
              <a:t>+</a:t>
            </a:r>
            <a:r>
              <a:rPr lang="tr-TR" sz="1700">
                <a:solidFill>
                  <a:schemeClr val="tx2"/>
                </a:solidFill>
              </a:rPr>
              <a:t>lar içeri doğru difüzyon kuralları gereğince akmaya başlar. Bu durumda hücre içinde hem Na</a:t>
            </a:r>
            <a:r>
              <a:rPr lang="tr-TR" sz="1700" baseline="30000">
                <a:solidFill>
                  <a:schemeClr val="tx2"/>
                </a:solidFill>
              </a:rPr>
              <a:t>+</a:t>
            </a:r>
            <a:r>
              <a:rPr lang="tr-TR" sz="1700">
                <a:solidFill>
                  <a:schemeClr val="tx2"/>
                </a:solidFill>
              </a:rPr>
              <a:t> hem K</a:t>
            </a:r>
            <a:r>
              <a:rPr lang="tr-TR" sz="1700" baseline="30000">
                <a:solidFill>
                  <a:schemeClr val="tx2"/>
                </a:solidFill>
              </a:rPr>
              <a:t>+</a:t>
            </a:r>
            <a:r>
              <a:rPr lang="tr-TR" sz="1700">
                <a:solidFill>
                  <a:schemeClr val="tx2"/>
                </a:solidFill>
              </a:rPr>
              <a:t> iyonları fazla duruma geldiğinden hücre içi dışarısına göre daha pozitif duruma geçer. Bu duruma </a:t>
            </a:r>
            <a:r>
              <a:rPr lang="tr-TR" sz="1700" b="1">
                <a:solidFill>
                  <a:schemeClr val="tx2"/>
                </a:solidFill>
              </a:rPr>
              <a:t>depolarizasyon </a:t>
            </a:r>
            <a:r>
              <a:rPr lang="tr-TR" sz="1700">
                <a:solidFill>
                  <a:schemeClr val="tx2"/>
                </a:solidFill>
              </a:rPr>
              <a:t>denir.</a:t>
            </a:r>
          </a:p>
          <a:p>
            <a:r>
              <a:rPr lang="tr-TR" sz="1700">
                <a:solidFill>
                  <a:schemeClr val="tx2"/>
                </a:solidFill>
              </a:rPr>
              <a:t>-Depolarize durumdaki bir sinir hücresi plazmasının hücre dışına göre elektriksel güç değeri +40 mV (milivolt) dur.</a:t>
            </a:r>
          </a:p>
          <a:p>
            <a:endParaRPr lang="tr-TR" sz="170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ekran görüntüsü, metin, renklilik içeren bir resim&#10;&#10;Yapay zeka tarafından oluşturulmuş içerik yanlış olabilir.">
            <a:extLst>
              <a:ext uri="{FF2B5EF4-FFF2-40B4-BE49-F238E27FC236}">
                <a16:creationId xmlns:a16="http://schemas.microsoft.com/office/drawing/2014/main" id="{89B97B6D-50BB-47AA-C95D-44F59B33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33655"/>
            <a:ext cx="5985349" cy="2992675"/>
          </a:xfrm>
          <a:prstGeom prst="rect">
            <a:avLst/>
          </a:prstGeom>
        </p:spPr>
      </p:pic>
      <p:sp>
        <p:nvSpPr>
          <p:cNvPr id="4" name="Alt Bilgi Yer Tutucusu 3">
            <a:extLst>
              <a:ext uri="{FF2B5EF4-FFF2-40B4-BE49-F238E27FC236}">
                <a16:creationId xmlns:a16="http://schemas.microsoft.com/office/drawing/2014/main" id="{857E61C5-E36D-2E92-134B-8CD97B519C35}"/>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77754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BD68309-67E3-DDB4-891C-F312B767318F}"/>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Repolarizasyon</a:t>
            </a:r>
          </a:p>
        </p:txBody>
      </p:sp>
      <p:sp>
        <p:nvSpPr>
          <p:cNvPr id="3" name="İçerik Yer Tutucusu 2">
            <a:extLst>
              <a:ext uri="{FF2B5EF4-FFF2-40B4-BE49-F238E27FC236}">
                <a16:creationId xmlns:a16="http://schemas.microsoft.com/office/drawing/2014/main" id="{6319E02F-419A-5382-AD45-C4FB86257D3F}"/>
              </a:ext>
            </a:extLst>
          </p:cNvPr>
          <p:cNvSpPr>
            <a:spLocks noGrp="1"/>
          </p:cNvSpPr>
          <p:nvPr>
            <p:ph idx="1"/>
          </p:nvPr>
        </p:nvSpPr>
        <p:spPr>
          <a:xfrm>
            <a:off x="804672" y="2421683"/>
            <a:ext cx="4765949" cy="3353476"/>
          </a:xfrm>
        </p:spPr>
        <p:txBody>
          <a:bodyPr anchor="t">
            <a:normAutofit/>
          </a:bodyPr>
          <a:lstStyle/>
          <a:p>
            <a:r>
              <a:rPr lang="tr-TR" sz="1500">
                <a:solidFill>
                  <a:schemeClr val="tx2"/>
                </a:solidFill>
              </a:rPr>
              <a:t>-Repolarizasyon: Depolarizasyondan sonra hücre zarında bulunan Na</a:t>
            </a:r>
            <a:r>
              <a:rPr lang="tr-TR" sz="1500" baseline="30000">
                <a:solidFill>
                  <a:schemeClr val="tx2"/>
                </a:solidFill>
              </a:rPr>
              <a:t>+</a:t>
            </a:r>
            <a:r>
              <a:rPr lang="tr-TR" sz="1500">
                <a:solidFill>
                  <a:schemeClr val="tx2"/>
                </a:solidFill>
              </a:rPr>
              <a:t> kapıları kapanır ve hücre içine Na</a:t>
            </a:r>
            <a:r>
              <a:rPr lang="tr-TR" sz="1500" baseline="30000">
                <a:solidFill>
                  <a:schemeClr val="tx2"/>
                </a:solidFill>
              </a:rPr>
              <a:t>+</a:t>
            </a:r>
            <a:r>
              <a:rPr lang="tr-TR" sz="1500">
                <a:solidFill>
                  <a:schemeClr val="tx2"/>
                </a:solidFill>
              </a:rPr>
              <a:t> girişi durdurulur. Ardından hücre zarındaki K</a:t>
            </a:r>
            <a:r>
              <a:rPr lang="tr-TR" sz="1500" baseline="30000">
                <a:solidFill>
                  <a:schemeClr val="tx2"/>
                </a:solidFill>
              </a:rPr>
              <a:t>+</a:t>
            </a:r>
            <a:r>
              <a:rPr lang="tr-TR" sz="1500">
                <a:solidFill>
                  <a:schemeClr val="tx2"/>
                </a:solidFill>
              </a:rPr>
              <a:t> kapıları açılır ve bu sefer hücre içindeki K</a:t>
            </a:r>
            <a:r>
              <a:rPr lang="tr-TR" sz="1500" baseline="30000">
                <a:solidFill>
                  <a:schemeClr val="tx2"/>
                </a:solidFill>
              </a:rPr>
              <a:t>+</a:t>
            </a:r>
            <a:r>
              <a:rPr lang="tr-TR" sz="1500">
                <a:solidFill>
                  <a:schemeClr val="tx2"/>
                </a:solidFill>
              </a:rPr>
              <a:t>’lar hücre dışına doğru akmaya başlar. Sonuç olarak repolarize durumda bir nöronda Na</a:t>
            </a:r>
            <a:r>
              <a:rPr lang="tr-TR" sz="1500" baseline="30000">
                <a:solidFill>
                  <a:schemeClr val="tx2"/>
                </a:solidFill>
              </a:rPr>
              <a:t>+</a:t>
            </a:r>
            <a:r>
              <a:rPr lang="tr-TR" sz="1500">
                <a:solidFill>
                  <a:schemeClr val="tx2"/>
                </a:solidFill>
              </a:rPr>
              <a:t> kapıları kapanmış ve K+ kapıları açılmıştır. Bu durumda hücre içinden hücre dışına çıkan K+lar nedeniyle yine hücre içi negatif (–), hücre dışı pozitif (+) yüklü duruma gelmiştir.</a:t>
            </a:r>
          </a:p>
          <a:p>
            <a:r>
              <a:rPr lang="tr-TR" sz="1500">
                <a:solidFill>
                  <a:schemeClr val="tx2"/>
                </a:solidFill>
              </a:rPr>
              <a:t>Ancak durum polarizasyondan farklıdır. Repolarize durumda bir sinir hücresinin içinde Na+ iyonları fazla, dışında ise K+ iyonları fazladır. Polarizasyondan farkı Na içerde K dışarda fazla olmasıdır.</a:t>
            </a:r>
          </a:p>
          <a:p>
            <a:endParaRPr lang="tr-TR" sz="1500">
              <a:solidFill>
                <a:schemeClr val="tx2"/>
              </a:solidFill>
            </a:endParaRP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Resim 5" descr="metin, ekran görüntüsü, renklilik içeren bir resim&#10;&#10;Yapay zeka tarafından oluşturulmuş içerik yanlış olabilir.">
            <a:extLst>
              <a:ext uri="{FF2B5EF4-FFF2-40B4-BE49-F238E27FC236}">
                <a16:creationId xmlns:a16="http://schemas.microsoft.com/office/drawing/2014/main" id="{1B440745-AF29-CE12-4D9F-35F297BE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39" y="2113280"/>
            <a:ext cx="5983985" cy="2718334"/>
          </a:xfrm>
          <a:prstGeom prst="rect">
            <a:avLst/>
          </a:prstGeom>
        </p:spPr>
      </p:pic>
      <p:sp>
        <p:nvSpPr>
          <p:cNvPr id="4" name="Alt Bilgi Yer Tutucusu 3">
            <a:extLst>
              <a:ext uri="{FF2B5EF4-FFF2-40B4-BE49-F238E27FC236}">
                <a16:creationId xmlns:a16="http://schemas.microsoft.com/office/drawing/2014/main" id="{0E321066-3DC4-1F4C-1237-533EB965D2D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013137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D2DC040-9AC7-791C-2708-430D1E704A93}"/>
              </a:ext>
            </a:extLst>
          </p:cNvPr>
          <p:cNvSpPr>
            <a:spLocks noGrp="1"/>
          </p:cNvSpPr>
          <p:nvPr>
            <p:ph type="title"/>
          </p:nvPr>
        </p:nvSpPr>
        <p:spPr>
          <a:xfrm>
            <a:off x="804672" y="802955"/>
            <a:ext cx="4766330" cy="1454051"/>
          </a:xfrm>
        </p:spPr>
        <p:txBody>
          <a:bodyPr>
            <a:normAutofit/>
          </a:bodyPr>
          <a:lstStyle/>
          <a:p>
            <a:endParaRPr lang="tr-TR" sz="3600">
              <a:solidFill>
                <a:schemeClr val="tx2"/>
              </a:solidFill>
            </a:endParaRPr>
          </a:p>
        </p:txBody>
      </p:sp>
      <p:sp>
        <p:nvSpPr>
          <p:cNvPr id="3" name="İçerik Yer Tutucusu 2">
            <a:extLst>
              <a:ext uri="{FF2B5EF4-FFF2-40B4-BE49-F238E27FC236}">
                <a16:creationId xmlns:a16="http://schemas.microsoft.com/office/drawing/2014/main" id="{55691FBF-247B-BBBD-9E6B-9A99BA6A144D}"/>
              </a:ext>
            </a:extLst>
          </p:cNvPr>
          <p:cNvSpPr>
            <a:spLocks noGrp="1"/>
          </p:cNvSpPr>
          <p:nvPr>
            <p:ph idx="1"/>
          </p:nvPr>
        </p:nvSpPr>
        <p:spPr>
          <a:xfrm>
            <a:off x="804672" y="2421683"/>
            <a:ext cx="4765949" cy="3353476"/>
          </a:xfrm>
        </p:spPr>
        <p:txBody>
          <a:bodyPr anchor="t">
            <a:normAutofit fontScale="85000" lnSpcReduction="10000"/>
          </a:bodyPr>
          <a:lstStyle/>
          <a:p>
            <a:r>
              <a:rPr lang="tr-TR" sz="1800" dirty="0">
                <a:solidFill>
                  <a:schemeClr val="tx2"/>
                </a:solidFill>
              </a:rPr>
              <a:t>-Polarize durumdan sırasıyla depolarize ve </a:t>
            </a:r>
            <a:r>
              <a:rPr lang="tr-TR" sz="1800" dirty="0" err="1">
                <a:solidFill>
                  <a:schemeClr val="tx2"/>
                </a:solidFill>
              </a:rPr>
              <a:t>repolarize</a:t>
            </a:r>
            <a:r>
              <a:rPr lang="tr-TR" sz="1800" dirty="0">
                <a:solidFill>
                  <a:schemeClr val="tx2"/>
                </a:solidFill>
              </a:rPr>
              <a:t> duruma geçmiş olan bir hücre, tekrar uyarı alıp </a:t>
            </a:r>
            <a:r>
              <a:rPr lang="tr-TR" sz="1800" dirty="0" err="1">
                <a:solidFill>
                  <a:schemeClr val="tx2"/>
                </a:solidFill>
              </a:rPr>
              <a:t>impuls</a:t>
            </a:r>
            <a:r>
              <a:rPr lang="tr-TR" sz="1800" dirty="0">
                <a:solidFill>
                  <a:schemeClr val="tx2"/>
                </a:solidFill>
              </a:rPr>
              <a:t> iletebilmek için ilk hâli olan polarizasyon durumuna dönmek zorundadır. İşte burada yukarıda anlatılan </a:t>
            </a:r>
            <a:r>
              <a:rPr lang="tr-TR" sz="1800" dirty="0" err="1">
                <a:solidFill>
                  <a:schemeClr val="tx2"/>
                </a:solidFill>
              </a:rPr>
              <a:t>Na</a:t>
            </a:r>
            <a:r>
              <a:rPr lang="tr-TR" sz="1800" baseline="30000" dirty="0">
                <a:solidFill>
                  <a:schemeClr val="tx2"/>
                </a:solidFill>
              </a:rPr>
              <a:t>+</a:t>
            </a:r>
            <a:r>
              <a:rPr lang="tr-TR" sz="1800" dirty="0">
                <a:solidFill>
                  <a:schemeClr val="tx2"/>
                </a:solidFill>
              </a:rPr>
              <a:t>-K</a:t>
            </a:r>
            <a:r>
              <a:rPr lang="tr-TR" sz="1800" baseline="30000" dirty="0">
                <a:solidFill>
                  <a:schemeClr val="tx2"/>
                </a:solidFill>
              </a:rPr>
              <a:t>+</a:t>
            </a:r>
            <a:r>
              <a:rPr lang="tr-TR" sz="1800" dirty="0">
                <a:solidFill>
                  <a:schemeClr val="tx2"/>
                </a:solidFill>
              </a:rPr>
              <a:t>/</a:t>
            </a:r>
            <a:r>
              <a:rPr lang="tr-TR" sz="1800" dirty="0" err="1">
                <a:solidFill>
                  <a:schemeClr val="tx2"/>
                </a:solidFill>
              </a:rPr>
              <a:t>ATPaz</a:t>
            </a:r>
            <a:r>
              <a:rPr lang="tr-TR" sz="1800" dirty="0">
                <a:solidFill>
                  <a:schemeClr val="tx2"/>
                </a:solidFill>
              </a:rPr>
              <a:t> pompası hücreye giren </a:t>
            </a:r>
            <a:r>
              <a:rPr lang="tr-TR" sz="1800" dirty="0" err="1">
                <a:solidFill>
                  <a:schemeClr val="tx2"/>
                </a:solidFill>
              </a:rPr>
              <a:t>Na</a:t>
            </a:r>
            <a:r>
              <a:rPr lang="tr-TR" sz="1800" baseline="30000" dirty="0">
                <a:solidFill>
                  <a:schemeClr val="tx2"/>
                </a:solidFill>
              </a:rPr>
              <a:t>+ </a:t>
            </a:r>
            <a:r>
              <a:rPr lang="tr-TR" sz="1800" dirty="0">
                <a:solidFill>
                  <a:schemeClr val="tx2"/>
                </a:solidFill>
              </a:rPr>
              <a:t>iyonlarını dışarı, hücre dışına çıkan K</a:t>
            </a:r>
            <a:r>
              <a:rPr lang="tr-TR" sz="1800" baseline="30000" dirty="0">
                <a:solidFill>
                  <a:schemeClr val="tx2"/>
                </a:solidFill>
              </a:rPr>
              <a:t>+</a:t>
            </a:r>
            <a:r>
              <a:rPr lang="tr-TR" sz="1800" dirty="0">
                <a:solidFill>
                  <a:schemeClr val="tx2"/>
                </a:solidFill>
              </a:rPr>
              <a:t> iyonlarını tekrar içeri pompalayarak bu iyonların derişimini </a:t>
            </a:r>
            <a:r>
              <a:rPr lang="tr-TR" sz="1800" dirty="0" err="1">
                <a:solidFill>
                  <a:schemeClr val="tx2"/>
                </a:solidFill>
              </a:rPr>
              <a:t>impuls</a:t>
            </a:r>
            <a:r>
              <a:rPr lang="tr-TR" sz="1800" dirty="0">
                <a:solidFill>
                  <a:schemeClr val="tx2"/>
                </a:solidFill>
              </a:rPr>
              <a:t> öncesindeki duruma getirir. Böylece hücre tekrar polarizasyon hâline gelir. Bu olay aktif taşıma ile gerçekleşir.</a:t>
            </a:r>
          </a:p>
          <a:p>
            <a:r>
              <a:rPr lang="tr-TR" sz="1800" b="1" dirty="0"/>
              <a:t>Hiperpolarizasyon:</a:t>
            </a:r>
            <a:r>
              <a:rPr lang="tr-TR" sz="1800" dirty="0"/>
              <a:t> Repolarizasyon sırasında açılan potasyum kanalları yavaş kapandığı için, hücre dışına fazla K çıkışı olur. Hücre -70 mV değerine dönmek isterken, -85 mV değere kadar düşebilir. Bu duruma </a:t>
            </a:r>
            <a:r>
              <a:rPr lang="tr-TR" sz="1800" b="1" dirty="0"/>
              <a:t>hiperpolarizasyon </a:t>
            </a:r>
            <a:r>
              <a:rPr lang="tr-TR" sz="1800" dirty="0"/>
              <a:t>denir. Yani hücrenin aşırı polarize hale gelmesidir.</a:t>
            </a:r>
          </a:p>
          <a:p>
            <a:endParaRPr lang="tr-TR"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metin, çizgi, diyagram, öykü gelişim çizgisi; kumpas; grafiğini çıkarma içeren bir resim&#10;&#10;Yapay zeka tarafından oluşturulmuş içerik yanlış olabilir.">
            <a:extLst>
              <a:ext uri="{FF2B5EF4-FFF2-40B4-BE49-F238E27FC236}">
                <a16:creationId xmlns:a16="http://schemas.microsoft.com/office/drawing/2014/main" id="{093CC2B8-4FB1-EE34-394B-0FF3A51F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821" y="1727200"/>
            <a:ext cx="5472803" cy="3480862"/>
          </a:xfrm>
          <a:prstGeom prst="rect">
            <a:avLst/>
          </a:prstGeom>
        </p:spPr>
      </p:pic>
      <p:sp>
        <p:nvSpPr>
          <p:cNvPr id="4" name="Alt Bilgi Yer Tutucusu 3">
            <a:extLst>
              <a:ext uri="{FF2B5EF4-FFF2-40B4-BE49-F238E27FC236}">
                <a16:creationId xmlns:a16="http://schemas.microsoft.com/office/drawing/2014/main" id="{B7873C97-6F51-5617-02AB-8BAAB68DCBA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92331777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2039</Words>
  <Application>Microsoft Office PowerPoint</Application>
  <PresentationFormat>Geniş ekran</PresentationFormat>
  <Paragraphs>136</Paragraphs>
  <Slides>28</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28</vt:i4>
      </vt:variant>
    </vt:vector>
  </HeadingPairs>
  <TitlesOfParts>
    <vt:vector size="32" baseType="lpstr">
      <vt:lpstr>Aptos</vt:lpstr>
      <vt:lpstr>Aptos Display</vt:lpstr>
      <vt:lpstr>Arial</vt:lpstr>
      <vt:lpstr>Office Teması</vt:lpstr>
      <vt:lpstr>Tıbbi Elektronik</vt:lpstr>
      <vt:lpstr>Tıp Elektroniği</vt:lpstr>
      <vt:lpstr>Tıp Elektroniği</vt:lpstr>
      <vt:lpstr>Tıp Elektroniği</vt:lpstr>
      <vt:lpstr>Tıp Elektroniği</vt:lpstr>
      <vt:lpstr>İnsan-Enstrümantasyon Sistemi</vt:lpstr>
      <vt:lpstr>İnsan-Enstrümantasyon Sistemi Temel Bileşenleri</vt:lpstr>
      <vt:lpstr>Ölçümdeki Zorluklar ve Kısıtlamalar</vt:lpstr>
      <vt:lpstr>Biyolojik İşaretler</vt:lpstr>
      <vt:lpstr>1. Biyoelektrik İşaretler</vt:lpstr>
      <vt:lpstr>2. Biyomekanik İşaretler</vt:lpstr>
      <vt:lpstr>3. Biyokimyasal İşaretler</vt:lpstr>
      <vt:lpstr>4. Biyoakustik İşaretler</vt:lpstr>
      <vt:lpstr>5. Biyotermal İşaretler </vt:lpstr>
      <vt:lpstr>PowerPoint Sunusu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Polarizasyon</vt:lpstr>
      <vt:lpstr>Polarizasyon</vt:lpstr>
      <vt:lpstr>Depolarizasyon</vt:lpstr>
      <vt:lpstr>Repolarizasyon</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11</cp:revision>
  <dcterms:created xsi:type="dcterms:W3CDTF">2026-02-16T08:07:51Z</dcterms:created>
  <dcterms:modified xsi:type="dcterms:W3CDTF">2026-03-28T18:01:38Z</dcterms:modified>
</cp:coreProperties>
</file>