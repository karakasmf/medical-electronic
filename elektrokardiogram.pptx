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258" r:id="rId3"/>
    <p:sldId id="260" r:id="rId4"/>
    <p:sldId id="282" r:id="rId5"/>
    <p:sldId id="261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6" r:id="rId14"/>
    <p:sldId id="291" r:id="rId15"/>
    <p:sldId id="265" r:id="rId16"/>
    <p:sldId id="292" r:id="rId17"/>
    <p:sldId id="293" r:id="rId18"/>
    <p:sldId id="29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9C4A7-B0FA-4FFF-9B29-398224F616B9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B5809-4E7C-4929-A65E-8E0446B8D4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8030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BD5047A-3301-4109-A6DC-51F5BFDD491C}" type="slidenum">
              <a:rPr lang="en-US" altLang="tr-TR" smtClean="0"/>
              <a:pPr>
                <a:spcBef>
                  <a:spcPct val="0"/>
                </a:spcBef>
              </a:pPr>
              <a:t>1</a:t>
            </a:fld>
            <a:endParaRPr lang="en-US" altLang="tr-TR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tr-T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4005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E29FFD1-7DC6-4BA1-BD1F-B1CC26B6F481}" type="slidenum">
              <a:rPr lang="en-US" altLang="tr-TR" smtClean="0"/>
              <a:pPr>
                <a:spcBef>
                  <a:spcPct val="0"/>
                </a:spcBef>
              </a:pPr>
              <a:t>2</a:t>
            </a:fld>
            <a:endParaRPr lang="en-US" altLang="tr-TR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tr-T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9180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9E1267A-B841-4463-A9CF-00DB8B7EA975}" type="slidenum">
              <a:rPr lang="en-US" altLang="tr-TR" smtClean="0"/>
              <a:pPr>
                <a:spcBef>
                  <a:spcPct val="0"/>
                </a:spcBef>
              </a:pPr>
              <a:t>15</a:t>
            </a:fld>
            <a:endParaRPr lang="en-US" altLang="tr-TR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tr-T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099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9E1267A-B841-4463-A9CF-00DB8B7EA975}" type="slidenum">
              <a:rPr lang="en-US" altLang="tr-TR" smtClean="0"/>
              <a:pPr>
                <a:spcBef>
                  <a:spcPct val="0"/>
                </a:spcBef>
              </a:pPr>
              <a:t>16</a:t>
            </a:fld>
            <a:endParaRPr lang="en-US" altLang="tr-TR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tr-T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568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9E1267A-B841-4463-A9CF-00DB8B7EA975}" type="slidenum">
              <a:rPr lang="en-US" altLang="tr-TR" smtClean="0"/>
              <a:pPr>
                <a:spcBef>
                  <a:spcPct val="0"/>
                </a:spcBef>
              </a:pPr>
              <a:t>17</a:t>
            </a:fld>
            <a:endParaRPr lang="en-US" altLang="tr-TR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tr-T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738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9E1267A-B841-4463-A9CF-00DB8B7EA975}" type="slidenum">
              <a:rPr lang="en-US" altLang="tr-TR" smtClean="0"/>
              <a:pPr>
                <a:spcBef>
                  <a:spcPct val="0"/>
                </a:spcBef>
              </a:pPr>
              <a:t>18</a:t>
            </a:fld>
            <a:endParaRPr lang="en-US" altLang="tr-TR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tr-T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637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128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7147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83895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2090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2905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12416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27217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77270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8866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8983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51363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6173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7129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0664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4874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42759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2202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DACC5FB-EE54-4401-A4A8-C65521A7135A}" type="datetimeFigureOut">
              <a:rPr lang="tr-TR" smtClean="0"/>
              <a:t>3.04.2026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42B66A8-3FC5-4468-9082-73A63719ADF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16416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313BE87B-D7FD-4BF3-A7BC-511F52252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035A481B-C639-4892-B0EF-4D8373A9B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463973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052BD58B-6284-459E-9FF4-A97F3A569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43865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4109" name="Group 4108">
            <a:extLst>
              <a:ext uri="{FF2B5EF4-FFF2-40B4-BE49-F238E27FC236}">
                <a16:creationId xmlns:a16="http://schemas.microsoft.com/office/drawing/2014/main" id="{AE589C21-CEDE-4D90-AC85-6E43B68D1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3449715"/>
            <a:ext cx="2981858" cy="3208867"/>
            <a:chOff x="9206969" y="2963333"/>
            <a:chExt cx="2981858" cy="3208867"/>
          </a:xfrm>
        </p:grpSpPr>
        <p:cxnSp>
          <p:nvCxnSpPr>
            <p:cNvPr id="4110" name="Straight Connector 4109">
              <a:extLst>
                <a:ext uri="{FF2B5EF4-FFF2-40B4-BE49-F238E27FC236}">
                  <a16:creationId xmlns:a16="http://schemas.microsoft.com/office/drawing/2014/main" id="{1F4121EC-0ADD-45C0-85F0-D49F67A3E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1" name="Straight Connector 4110">
              <a:extLst>
                <a:ext uri="{FF2B5EF4-FFF2-40B4-BE49-F238E27FC236}">
                  <a16:creationId xmlns:a16="http://schemas.microsoft.com/office/drawing/2014/main" id="{422F012F-0680-4AEC-9884-BA712ED2B9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2" name="Straight Connector 4111">
              <a:extLst>
                <a:ext uri="{FF2B5EF4-FFF2-40B4-BE49-F238E27FC236}">
                  <a16:creationId xmlns:a16="http://schemas.microsoft.com/office/drawing/2014/main" id="{FA5CEDFE-9EC8-436B-AE10-F85A84778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3" name="Straight Connector 4112">
              <a:extLst>
                <a:ext uri="{FF2B5EF4-FFF2-40B4-BE49-F238E27FC236}">
                  <a16:creationId xmlns:a16="http://schemas.microsoft.com/office/drawing/2014/main" id="{29C70031-55D8-483B-8452-A6B809D0A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4" name="Straight Connector 4113">
              <a:extLst>
                <a:ext uri="{FF2B5EF4-FFF2-40B4-BE49-F238E27FC236}">
                  <a16:creationId xmlns:a16="http://schemas.microsoft.com/office/drawing/2014/main" id="{E24F1E16-B0BE-4400-9A10-95BB1D52C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9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5116738" y="685798"/>
            <a:ext cx="6159273" cy="4495801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tr-TR" altLang="tr-TR" sz="4200">
                <a:solidFill>
                  <a:srgbClr val="FFFFFF"/>
                </a:solidFill>
              </a:rPr>
              <a:t>Elektrokardiogram</a:t>
            </a:r>
            <a:endParaRPr lang="en-US" altLang="tr-TR" sz="4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265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" name="Rectangle 6173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US" altLang="tr-TR" sz="2400">
                <a:solidFill>
                  <a:srgbClr val="FFFFFF"/>
                </a:solidFill>
              </a:rPr>
              <a:t>Anatomi</a:t>
            </a:r>
            <a:r>
              <a:rPr lang="tr-TR" altLang="tr-TR" sz="2400">
                <a:solidFill>
                  <a:srgbClr val="FFFFFF"/>
                </a:solidFill>
              </a:rPr>
              <a:t>k Yerleşim</a:t>
            </a:r>
            <a:endParaRPr lang="en-US" altLang="tr-TR" sz="2400">
              <a:solidFill>
                <a:srgbClr val="FFFFFF"/>
              </a:solidFill>
            </a:endParaRPr>
          </a:p>
        </p:txBody>
      </p:sp>
      <p:sp useBgFill="1">
        <p:nvSpPr>
          <p:cNvPr id="6176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532710" y="1822449"/>
            <a:ext cx="3479419" cy="2922591"/>
          </a:xfrm>
        </p:spPr>
        <p:txBody>
          <a:bodyPr anchor="t">
            <a:normAutofit/>
          </a:bodyPr>
          <a:lstStyle/>
          <a:p>
            <a:pPr eaLnBrk="1" hangingPunct="1"/>
            <a:r>
              <a:rPr lang="tr-TR" altLang="tr-TR" sz="1200">
                <a:solidFill>
                  <a:srgbClr val="0F496F"/>
                </a:solidFill>
              </a:rPr>
              <a:t>Kalp göğüs boşluğunda ve iki akciğerlerin arasında bulunmaktadır.Kalbin 2/3 ü akciğerler ile örtülüdür. </a:t>
            </a:r>
          </a:p>
          <a:p>
            <a:pPr eaLnBrk="1" hangingPunct="1"/>
            <a:r>
              <a:rPr lang="tr-TR" altLang="tr-TR" sz="1200">
                <a:solidFill>
                  <a:srgbClr val="0F496F"/>
                </a:solidFill>
              </a:rPr>
              <a:t>İnsanlarda, kalp yukardan aşağıya, sağdan sola ve arkadan öne doğru eğik olarak durmaktadır. Lokasyonu 2-5 interkostal aralığa denk gelmektedir. </a:t>
            </a:r>
          </a:p>
        </p:txBody>
      </p:sp>
      <p:grpSp>
        <p:nvGrpSpPr>
          <p:cNvPr id="6178" name="Group 6177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6179" name="Straight Connector 6178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0" name="Straight Connector 6179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1" name="Straight Connector 6180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2" name="Straight Connector 6181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3" name="Straight Connector 6182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Resim 2">
            <a:extLst>
              <a:ext uri="{FF2B5EF4-FFF2-40B4-BE49-F238E27FC236}">
                <a16:creationId xmlns:a16="http://schemas.microsoft.com/office/drawing/2014/main" id="{ECA765C6-B3B2-CCAB-1C5C-EE854BEC9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00" r="26051"/>
          <a:stretch>
            <a:fillRect/>
          </a:stretch>
        </p:blipFill>
        <p:spPr>
          <a:xfrm>
            <a:off x="1812660" y="827496"/>
            <a:ext cx="4318600" cy="491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85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4" name="Rectangle 9233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8" name="1 Başlık"/>
          <p:cNvSpPr>
            <a:spLocks noGrp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anchor="b">
            <a:normAutofit/>
          </a:bodyPr>
          <a:lstStyle/>
          <a:p>
            <a:r>
              <a:rPr lang="tr-TR" altLang="tr-TR" sz="2400">
                <a:solidFill>
                  <a:srgbClr val="FFFFFF"/>
                </a:solidFill>
              </a:rPr>
              <a:t>Kalbin Temel Görevleri</a:t>
            </a:r>
          </a:p>
        </p:txBody>
      </p:sp>
      <p:sp useBgFill="1">
        <p:nvSpPr>
          <p:cNvPr id="9236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8EE06F59-E7EC-FFAC-8EEC-7646A11597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084" y="1097060"/>
            <a:ext cx="4953328" cy="4334162"/>
          </a:xfrm>
          <a:prstGeom prst="rect">
            <a:avLst/>
          </a:prstGeom>
        </p:spPr>
      </p:pic>
      <p:sp>
        <p:nvSpPr>
          <p:cNvPr id="9219" name="2 İçerik Yer Tutucusu"/>
          <p:cNvSpPr>
            <a:spLocks noGrp="1"/>
          </p:cNvSpPr>
          <p:nvPr>
            <p:ph idx="1"/>
          </p:nvPr>
        </p:nvSpPr>
        <p:spPr>
          <a:xfrm>
            <a:off x="7532710" y="1822449"/>
            <a:ext cx="3479419" cy="2922591"/>
          </a:xfrm>
        </p:spPr>
        <p:txBody>
          <a:bodyPr anchor="t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altLang="tr-TR" sz="1200">
                <a:solidFill>
                  <a:srgbClr val="0F496F"/>
                </a:solidFill>
              </a:rPr>
              <a:t>Organların ve dokuların metabolik faaliyetleri için gerekli olan O</a:t>
            </a:r>
            <a:r>
              <a:rPr lang="tr-TR" altLang="tr-TR" sz="1200" baseline="-25000">
                <a:solidFill>
                  <a:srgbClr val="0F496F"/>
                </a:solidFill>
              </a:rPr>
              <a:t>2</a:t>
            </a:r>
            <a:r>
              <a:rPr lang="tr-TR" altLang="tr-TR" sz="1200">
                <a:solidFill>
                  <a:srgbClr val="0F496F"/>
                </a:solidFill>
              </a:rPr>
              <a:t> i sağlamak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altLang="tr-TR" sz="1200">
                <a:solidFill>
                  <a:srgbClr val="0F496F"/>
                </a:solidFill>
              </a:rPr>
              <a:t>Erişkinlerde;</a:t>
            </a:r>
          </a:p>
          <a:p>
            <a:pPr>
              <a:spcBef>
                <a:spcPts val="600"/>
              </a:spcBef>
              <a:buNone/>
            </a:pPr>
            <a:r>
              <a:rPr lang="tr-TR" altLang="tr-TR" sz="1200">
                <a:solidFill>
                  <a:srgbClr val="0F496F"/>
                </a:solidFill>
              </a:rPr>
              <a:t>      - Dinlenimde: 5 l/dk,</a:t>
            </a:r>
          </a:p>
          <a:p>
            <a:pPr>
              <a:spcBef>
                <a:spcPts val="600"/>
              </a:spcBef>
              <a:buNone/>
            </a:pPr>
            <a:r>
              <a:rPr lang="tr-TR" altLang="tr-TR" sz="1200">
                <a:solidFill>
                  <a:srgbClr val="0F496F"/>
                </a:solidFill>
              </a:rPr>
              <a:t>      - Egzersizde :15 l/dk</a:t>
            </a:r>
          </a:p>
          <a:p>
            <a:pPr>
              <a:spcBef>
                <a:spcPts val="600"/>
              </a:spcBef>
            </a:pPr>
            <a:r>
              <a:rPr lang="tr-TR" altLang="tr-TR" sz="1200">
                <a:solidFill>
                  <a:srgbClr val="0F496F"/>
                </a:solidFill>
              </a:rPr>
              <a:t> Yarış atlarında;</a:t>
            </a:r>
          </a:p>
          <a:p>
            <a:pPr>
              <a:spcBef>
                <a:spcPts val="600"/>
              </a:spcBef>
              <a:buNone/>
            </a:pPr>
            <a:r>
              <a:rPr lang="tr-TR" altLang="tr-TR" sz="1200">
                <a:solidFill>
                  <a:srgbClr val="0F496F"/>
                </a:solidFill>
              </a:rPr>
              <a:t>      - Dinlenimde: 30 l/dk,</a:t>
            </a:r>
          </a:p>
          <a:p>
            <a:pPr>
              <a:spcBef>
                <a:spcPts val="600"/>
              </a:spcBef>
              <a:buNone/>
            </a:pPr>
            <a:r>
              <a:rPr lang="tr-TR" altLang="tr-TR" sz="1200">
                <a:solidFill>
                  <a:srgbClr val="0F496F"/>
                </a:solidFill>
              </a:rPr>
              <a:t>      - Egzersizde:150-300 l/dk</a:t>
            </a:r>
          </a:p>
          <a:p>
            <a:pPr>
              <a:buFontTx/>
              <a:buNone/>
              <a:defRPr/>
            </a:pPr>
            <a:endParaRPr lang="tr-TR" altLang="tr-TR" sz="1200">
              <a:solidFill>
                <a:srgbClr val="0F496F"/>
              </a:solidFill>
            </a:endParaRPr>
          </a:p>
        </p:txBody>
      </p:sp>
      <p:grpSp>
        <p:nvGrpSpPr>
          <p:cNvPr id="9238" name="Group 9237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239" name="Straight Connector 9238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40" name="Straight Connector 9239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41" name="Straight Connector 9240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42" name="Straight Connector 9241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43" name="Straight Connector 9242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0337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3" name="Rectangle 9252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8" name="1 Başlık"/>
          <p:cNvSpPr>
            <a:spLocks noGrp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anchor="b">
            <a:normAutofit/>
          </a:bodyPr>
          <a:lstStyle/>
          <a:p>
            <a:r>
              <a:rPr lang="tr-TR" altLang="tr-TR" sz="2400">
                <a:solidFill>
                  <a:srgbClr val="FFFFFF"/>
                </a:solidFill>
              </a:rPr>
              <a:t>Kalbin Katmanları</a:t>
            </a:r>
          </a:p>
        </p:txBody>
      </p:sp>
      <p:sp useBgFill="1">
        <p:nvSpPr>
          <p:cNvPr id="9255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D9160EB1-BFA6-BF68-E2C5-2B9D3EBD4B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440" y="1097060"/>
            <a:ext cx="5556617" cy="4334162"/>
          </a:xfrm>
          <a:prstGeom prst="rect">
            <a:avLst/>
          </a:prstGeom>
        </p:spPr>
      </p:pic>
      <p:sp>
        <p:nvSpPr>
          <p:cNvPr id="9219" name="2 İçerik Yer Tutucusu"/>
          <p:cNvSpPr>
            <a:spLocks noGrp="1"/>
          </p:cNvSpPr>
          <p:nvPr>
            <p:ph idx="1"/>
          </p:nvPr>
        </p:nvSpPr>
        <p:spPr>
          <a:xfrm>
            <a:off x="7532710" y="1822449"/>
            <a:ext cx="3479419" cy="292259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tr-TR" altLang="tr-TR" sz="1100">
                <a:solidFill>
                  <a:srgbClr val="0F496F"/>
                </a:solidFill>
              </a:rPr>
              <a:t>Kalp üç katmandan oluşmuştur;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  <a:defRPr/>
            </a:pPr>
            <a:r>
              <a:rPr lang="tr-TR" altLang="tr-TR" sz="1100">
                <a:solidFill>
                  <a:srgbClr val="0F496F"/>
                </a:solidFill>
              </a:rPr>
              <a:t>Perikardium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r>
              <a:rPr lang="tr-TR" altLang="tr-TR" sz="1100">
                <a:solidFill>
                  <a:srgbClr val="0F496F"/>
                </a:solidFill>
              </a:rPr>
              <a:t>Kalbi aşırı genişlemekten korur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r>
              <a:rPr lang="tr-TR" altLang="tr-TR" sz="1100">
                <a:solidFill>
                  <a:srgbClr val="0F496F"/>
                </a:solidFill>
              </a:rPr>
              <a:t>Düz bir yüzey sağlar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r>
              <a:rPr lang="tr-TR" altLang="tr-TR" sz="1100">
                <a:solidFill>
                  <a:srgbClr val="0F496F"/>
                </a:solidFill>
              </a:rPr>
              <a:t>Kalbin mediastinuma tutunmasını sağlar.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r>
              <a:rPr lang="tr-TR" altLang="tr-TR" sz="1100">
                <a:solidFill>
                  <a:srgbClr val="0F496F"/>
                </a:solidFill>
              </a:rPr>
              <a:t>Perikardiyal basınç oluşturarak diyastole yardımcı olur.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ü"/>
              <a:defRPr/>
            </a:pPr>
            <a:r>
              <a:rPr lang="tr-TR" altLang="tr-TR" sz="1100">
                <a:solidFill>
                  <a:srgbClr val="0F496F"/>
                </a:solidFill>
              </a:rPr>
              <a:t>Epikardiyum-viseral perikardiyum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  <a:defRPr/>
            </a:pPr>
            <a:r>
              <a:rPr lang="tr-TR" altLang="tr-TR" sz="1100">
                <a:solidFill>
                  <a:srgbClr val="0F496F"/>
                </a:solidFill>
              </a:rPr>
              <a:t>Miyokardiyum – kalp kası liflerinden oluşmuştur.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  <a:defRPr/>
            </a:pPr>
            <a:r>
              <a:rPr lang="tr-TR" altLang="tr-TR" sz="1100">
                <a:solidFill>
                  <a:srgbClr val="0F496F"/>
                </a:solidFill>
              </a:rPr>
              <a:t>Endokardiyum –ince iç tabaka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endParaRPr lang="tr-TR" altLang="tr-TR" sz="1100">
              <a:solidFill>
                <a:srgbClr val="0F496F"/>
              </a:solidFill>
            </a:endParaRPr>
          </a:p>
        </p:txBody>
      </p:sp>
      <p:grpSp>
        <p:nvGrpSpPr>
          <p:cNvPr id="9257" name="Group 9256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258" name="Straight Connector 9257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9" name="Straight Connector 9258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0" name="Straight Connector 9259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1" name="Straight Connector 9260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2" name="Straight Connector 9261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07094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3" name="Rectangle 10262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1 Başlık"/>
          <p:cNvSpPr>
            <a:spLocks noGrp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anchor="b">
            <a:normAutofit/>
          </a:bodyPr>
          <a:lstStyle/>
          <a:p>
            <a:r>
              <a:rPr lang="tr-TR" altLang="tr-TR" sz="2400">
                <a:solidFill>
                  <a:srgbClr val="FFFFFF"/>
                </a:solidFill>
              </a:rPr>
              <a:t>Kalbin Odacıkları</a:t>
            </a:r>
          </a:p>
        </p:txBody>
      </p:sp>
      <p:sp useBgFill="1">
        <p:nvSpPr>
          <p:cNvPr id="10265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FBF8320E-61C3-FA69-9DCF-42CCAD335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59"/>
          <a:stretch>
            <a:fillRect/>
          </a:stretch>
        </p:blipFill>
        <p:spPr>
          <a:xfrm>
            <a:off x="1019690" y="1060804"/>
            <a:ext cx="5904539" cy="4717870"/>
          </a:xfrm>
          <a:prstGeom prst="rect">
            <a:avLst/>
          </a:prstGeom>
        </p:spPr>
      </p:pic>
      <p:sp>
        <p:nvSpPr>
          <p:cNvPr id="10243" name="2 İçerik Yer Tutucusu"/>
          <p:cNvSpPr>
            <a:spLocks noGrp="1"/>
          </p:cNvSpPr>
          <p:nvPr>
            <p:ph idx="1"/>
          </p:nvPr>
        </p:nvSpPr>
        <p:spPr>
          <a:xfrm>
            <a:off x="7532710" y="1822449"/>
            <a:ext cx="3479419" cy="2922591"/>
          </a:xfrm>
        </p:spPr>
        <p:txBody>
          <a:bodyPr anchor="t">
            <a:normAutofit/>
          </a:bodyPr>
          <a:lstStyle/>
          <a:p>
            <a:r>
              <a:rPr lang="tr-TR" altLang="tr-TR" sz="1200">
                <a:solidFill>
                  <a:srgbClr val="0F496F"/>
                </a:solidFill>
              </a:rPr>
              <a:t>Kalp sağ ve sol tarafta olmak üzere iki atriyum ve iki ventrikülden oluşmuştur.</a:t>
            </a:r>
          </a:p>
          <a:p>
            <a:r>
              <a:rPr lang="tr-TR" altLang="tr-TR" sz="1200">
                <a:solidFill>
                  <a:srgbClr val="0F496F"/>
                </a:solidFill>
              </a:rPr>
              <a:t>Atriyumlar en basit anlatımla ventriküllere geçiş yolaklarıdır. </a:t>
            </a:r>
          </a:p>
          <a:p>
            <a:r>
              <a:rPr lang="tr-TR" altLang="tr-TR" sz="1200">
                <a:solidFill>
                  <a:srgbClr val="0F496F"/>
                </a:solidFill>
              </a:rPr>
              <a:t>Aynı zamanda kanın ventriküllere popmpalanmasına da yardımcı olmaktadırlar. </a:t>
            </a:r>
          </a:p>
          <a:p>
            <a:r>
              <a:rPr lang="tr-TR" altLang="tr-TR" sz="1200">
                <a:solidFill>
                  <a:srgbClr val="0F496F"/>
                </a:solidFill>
              </a:rPr>
              <a:t>Ventriküller kanın akciğerlere ve periferal dolaşıma pompalanmasındaki esas görevi üstlenmektedirler.</a:t>
            </a:r>
          </a:p>
        </p:txBody>
      </p:sp>
      <p:grpSp>
        <p:nvGrpSpPr>
          <p:cNvPr id="10267" name="Group 10266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268" name="Straight Connector 10267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9" name="Straight Connector 10268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0" name="Straight Connector 10269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1" name="Straight Connector 10270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2" name="Straight Connector 10271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2521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8" name="Rectangle 10247">
            <a:extLst>
              <a:ext uri="{FF2B5EF4-FFF2-40B4-BE49-F238E27FC236}">
                <a16:creationId xmlns:a16="http://schemas.microsoft.com/office/drawing/2014/main" id="{E09CCB3F-DBCE-4964-9E34-8C5DE80EF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1 Başlık"/>
          <p:cNvSpPr>
            <a:spLocks noGrp="1"/>
          </p:cNvSpPr>
          <p:nvPr>
            <p:ph type="title"/>
          </p:nvPr>
        </p:nvSpPr>
        <p:spPr>
          <a:xfrm>
            <a:off x="7532710" y="620722"/>
            <a:ext cx="3518748" cy="1142462"/>
          </a:xfrm>
        </p:spPr>
        <p:txBody>
          <a:bodyPr anchor="b">
            <a:normAutofit/>
          </a:bodyPr>
          <a:lstStyle/>
          <a:p>
            <a:r>
              <a:rPr lang="tr-TR" altLang="tr-TR" sz="2800"/>
              <a:t>Kalbin özel ileti sistemi</a:t>
            </a:r>
          </a:p>
        </p:txBody>
      </p:sp>
      <p:sp>
        <p:nvSpPr>
          <p:cNvPr id="10250" name="Snip Diagonal Corner Rectangle 24">
            <a:extLst>
              <a:ext uri="{FF2B5EF4-FFF2-40B4-BE49-F238E27FC236}">
                <a16:creationId xmlns:a16="http://schemas.microsoft.com/office/drawing/2014/main" id="{1DFF944F-74BA-483A-82C0-64E3AAF4A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90" y="620722"/>
            <a:ext cx="6575496" cy="5286838"/>
          </a:xfrm>
          <a:prstGeom prst="snip2DiagRect">
            <a:avLst>
              <a:gd name="adj1" fmla="val 10787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5" descr="http://www.uchospitals.edu/images/gs/ei_0018.jpg">
            <a:extLst>
              <a:ext uri="{FF2B5EF4-FFF2-40B4-BE49-F238E27FC236}">
                <a16:creationId xmlns:a16="http://schemas.microsoft.com/office/drawing/2014/main" id="{00AAA9DF-095A-4A36-B9CF-1526B8FDEF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r="-2" b="12840"/>
          <a:stretch>
            <a:fillRect/>
          </a:stretch>
        </p:blipFill>
        <p:spPr bwMode="auto">
          <a:xfrm>
            <a:off x="778062" y="786117"/>
            <a:ext cx="6245352" cy="4956048"/>
          </a:xfrm>
          <a:custGeom>
            <a:avLst/>
            <a:gdLst/>
            <a:ahLst/>
            <a:cxnLst/>
            <a:rect l="l" t="t" r="r" b="b"/>
            <a:pathLst>
              <a:path w="6245352" h="4956048">
                <a:moveTo>
                  <a:pt x="534609" y="0"/>
                </a:moveTo>
                <a:lnTo>
                  <a:pt x="6245352" y="0"/>
                </a:lnTo>
                <a:lnTo>
                  <a:pt x="6245352" y="4421439"/>
                </a:lnTo>
                <a:lnTo>
                  <a:pt x="5710743" y="4956048"/>
                </a:lnTo>
                <a:lnTo>
                  <a:pt x="0" y="4956048"/>
                </a:lnTo>
                <a:lnTo>
                  <a:pt x="0" y="53460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2 İçerik Yer Tutucusu"/>
          <p:cNvSpPr>
            <a:spLocks noGrp="1"/>
          </p:cNvSpPr>
          <p:nvPr>
            <p:ph idx="1"/>
          </p:nvPr>
        </p:nvSpPr>
        <p:spPr>
          <a:xfrm>
            <a:off x="7532710" y="1822449"/>
            <a:ext cx="3479419" cy="3070226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defRPr/>
            </a:pPr>
            <a:endParaRPr lang="tr-TR" sz="1100"/>
          </a:p>
          <a:p>
            <a:pPr>
              <a:lnSpc>
                <a:spcPct val="90000"/>
              </a:lnSpc>
              <a:defRPr/>
            </a:pPr>
            <a:r>
              <a:rPr lang="tr-TR" sz="1100"/>
              <a:t>Kalbin uyarım ileti sistemi 4 yapıdan oluşmaktadır.</a:t>
            </a:r>
            <a:r>
              <a:rPr lang="en-US" sz="1100"/>
              <a:t> </a:t>
            </a:r>
            <a:endParaRPr lang="tr-TR" sz="1100"/>
          </a:p>
          <a:p>
            <a:pPr>
              <a:lnSpc>
                <a:spcPct val="90000"/>
              </a:lnSpc>
              <a:defRPr/>
            </a:pPr>
            <a:r>
              <a:rPr lang="en-US" sz="1100"/>
              <a:t>1. </a:t>
            </a:r>
            <a:r>
              <a:rPr lang="tr-TR" sz="1100"/>
              <a:t>Sinoatriyel düğüm </a:t>
            </a:r>
            <a:r>
              <a:rPr lang="en-US" sz="1100"/>
              <a:t>( SA node) </a:t>
            </a:r>
            <a:endParaRPr lang="tr-TR" sz="1100"/>
          </a:p>
          <a:p>
            <a:pPr>
              <a:lnSpc>
                <a:spcPct val="90000"/>
              </a:lnSpc>
              <a:defRPr/>
            </a:pPr>
            <a:r>
              <a:rPr lang="en-US" sz="1100"/>
              <a:t>2. </a:t>
            </a:r>
            <a:r>
              <a:rPr lang="tr-TR" sz="1100"/>
              <a:t>Atriyoventriküler düğüm </a:t>
            </a:r>
            <a:r>
              <a:rPr lang="en-US" sz="1100"/>
              <a:t>( AV node) </a:t>
            </a:r>
            <a:endParaRPr lang="tr-TR" sz="1100"/>
          </a:p>
          <a:p>
            <a:pPr>
              <a:lnSpc>
                <a:spcPct val="90000"/>
              </a:lnSpc>
              <a:defRPr/>
            </a:pPr>
            <a:r>
              <a:rPr lang="en-US" sz="1100"/>
              <a:t>3. </a:t>
            </a:r>
            <a:r>
              <a:rPr lang="tr-TR" sz="1100"/>
              <a:t>Hiss demetleri </a:t>
            </a:r>
            <a:r>
              <a:rPr lang="en-US" sz="1100"/>
              <a:t>( AV bundle) </a:t>
            </a:r>
            <a:endParaRPr lang="tr-TR" sz="1100"/>
          </a:p>
          <a:p>
            <a:pPr>
              <a:lnSpc>
                <a:spcPct val="90000"/>
              </a:lnSpc>
              <a:defRPr/>
            </a:pPr>
            <a:r>
              <a:rPr lang="en-US" sz="1100"/>
              <a:t>4. </a:t>
            </a:r>
            <a:r>
              <a:rPr lang="tr-TR" sz="1100"/>
              <a:t>Pürkince iplikçikleri</a:t>
            </a:r>
          </a:p>
          <a:p>
            <a:pPr>
              <a:lnSpc>
                <a:spcPct val="90000"/>
              </a:lnSpc>
              <a:defRPr/>
            </a:pPr>
            <a:r>
              <a:rPr lang="tr-TR" sz="1100"/>
              <a:t>Kalbin ileti sistemi uyarıları algılayan ve hızla kalp boyunca diğer hücrelere uyarıları yayabilmek için özelleşmiş; kalp kası hücreleri ve ileti liflerinden oluşmaktadır(sinir dokusu değil).</a:t>
            </a:r>
          </a:p>
          <a:p>
            <a:pPr>
              <a:lnSpc>
                <a:spcPct val="90000"/>
              </a:lnSpc>
              <a:defRPr/>
            </a:pPr>
            <a:r>
              <a:rPr lang="tr-TR" sz="1100"/>
              <a:t>Bu ileti sistemi sayesinde kalbin otomatik ve ritmik atışı sağlanmış olur.</a:t>
            </a:r>
          </a:p>
        </p:txBody>
      </p:sp>
      <p:grpSp>
        <p:nvGrpSpPr>
          <p:cNvPr id="10252" name="Group 10251">
            <a:extLst>
              <a:ext uri="{FF2B5EF4-FFF2-40B4-BE49-F238E27FC236}">
                <a16:creationId xmlns:a16="http://schemas.microsoft.com/office/drawing/2014/main" id="{A9733A91-F958-4629-801A-3F6F1E09A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253" name="Straight Connector 10252">
              <a:extLst>
                <a:ext uri="{FF2B5EF4-FFF2-40B4-BE49-F238E27FC236}">
                  <a16:creationId xmlns:a16="http://schemas.microsoft.com/office/drawing/2014/main" id="{F3812972-C68B-4C59-B3A7-4AF61E935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4" name="Straight Connector 10253">
              <a:extLst>
                <a:ext uri="{FF2B5EF4-FFF2-40B4-BE49-F238E27FC236}">
                  <a16:creationId xmlns:a16="http://schemas.microsoft.com/office/drawing/2014/main" id="{CB3F3B7C-7909-4486-AA08-5C6B625C3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5" name="Straight Connector 10254">
              <a:extLst>
                <a:ext uri="{FF2B5EF4-FFF2-40B4-BE49-F238E27FC236}">
                  <a16:creationId xmlns:a16="http://schemas.microsoft.com/office/drawing/2014/main" id="{00BD7DA8-741F-4296-9363-05EF915411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6" name="Straight Connector 10255">
              <a:extLst>
                <a:ext uri="{FF2B5EF4-FFF2-40B4-BE49-F238E27FC236}">
                  <a16:creationId xmlns:a16="http://schemas.microsoft.com/office/drawing/2014/main" id="{62068EFC-20FC-456F-839F-4BCFFCAA81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7" name="Straight Connector 10256">
              <a:extLst>
                <a:ext uri="{FF2B5EF4-FFF2-40B4-BE49-F238E27FC236}">
                  <a16:creationId xmlns:a16="http://schemas.microsoft.com/office/drawing/2014/main" id="{3251C60F-B911-433E-BF75-3BBEFD0538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144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6" name="Rectangle 10275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1 Başlık"/>
          <p:cNvSpPr>
            <a:spLocks noGrp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anchor="b">
            <a:normAutofit/>
          </a:bodyPr>
          <a:lstStyle/>
          <a:p>
            <a:r>
              <a:rPr lang="tr-TR" altLang="tr-TR" sz="2400">
                <a:solidFill>
                  <a:srgbClr val="FFFFFF"/>
                </a:solidFill>
              </a:rPr>
              <a:t>Sinoatriyel düğüm</a:t>
            </a:r>
          </a:p>
        </p:txBody>
      </p:sp>
      <p:sp useBgFill="1">
        <p:nvSpPr>
          <p:cNvPr id="10278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4C2760CB-CA8E-6E50-7BC8-22225CE60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667" y="1097060"/>
            <a:ext cx="4334162" cy="4334162"/>
          </a:xfrm>
          <a:prstGeom prst="rect">
            <a:avLst/>
          </a:prstGeom>
        </p:spPr>
      </p:pic>
      <p:sp>
        <p:nvSpPr>
          <p:cNvPr id="10243" name="2 İçerik Yer Tutucusu"/>
          <p:cNvSpPr>
            <a:spLocks noGrp="1"/>
          </p:cNvSpPr>
          <p:nvPr>
            <p:ph idx="1"/>
          </p:nvPr>
        </p:nvSpPr>
        <p:spPr>
          <a:xfrm>
            <a:off x="7532710" y="1822449"/>
            <a:ext cx="3479419" cy="2922591"/>
          </a:xfrm>
        </p:spPr>
        <p:txBody>
          <a:bodyPr anchor="t">
            <a:normAutofit/>
          </a:bodyPr>
          <a:lstStyle/>
          <a:p>
            <a:pPr>
              <a:defRPr/>
            </a:pPr>
            <a:endParaRPr lang="tr-TR" sz="1200">
              <a:solidFill>
                <a:srgbClr val="0F496F"/>
              </a:solidFill>
            </a:endParaRPr>
          </a:p>
          <a:p>
            <a:pPr>
              <a:defRPr/>
            </a:pPr>
            <a:r>
              <a:rPr lang="tr-TR" sz="1200">
                <a:solidFill>
                  <a:srgbClr val="0F496F"/>
                </a:solidFill>
              </a:rPr>
              <a:t>SA düğüm vena cava superior yakınlarında sağ atriyum duvarında bulunmaktadır.</a:t>
            </a:r>
          </a:p>
          <a:p>
            <a:pPr>
              <a:defRPr/>
            </a:pPr>
            <a:r>
              <a:rPr lang="tr-TR" sz="1200">
                <a:solidFill>
                  <a:srgbClr val="0F496F"/>
                </a:solidFill>
              </a:rPr>
              <a:t>Bu yapıyı oluşturan özelleşmiş kas lifleri sinir sisteminden gelen hiçbir uyaran olmadan sürekli ritmik olarak impulslar (kasılmak için uyarımlar) gönderebilirler..</a:t>
            </a:r>
          </a:p>
          <a:p>
            <a:pPr>
              <a:defRPr/>
            </a:pPr>
            <a:r>
              <a:rPr lang="tr-TR" sz="1200">
                <a:solidFill>
                  <a:srgbClr val="0F496F"/>
                </a:solidFill>
              </a:rPr>
              <a:t>Bu durumda SA düğümün kendi kendine uyarılabildiği söylenebilir. Bu aynı zamanda SA düğüme kalbin pacemakerı(adım attırıcı) denilmesinin sebebidir.</a:t>
            </a:r>
            <a:endParaRPr lang="tr-TR" altLang="tr-TR" sz="1200">
              <a:solidFill>
                <a:srgbClr val="0F496F"/>
              </a:solidFill>
            </a:endParaRPr>
          </a:p>
        </p:txBody>
      </p:sp>
      <p:grpSp>
        <p:nvGrpSpPr>
          <p:cNvPr id="10280" name="Group 10279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281" name="Straight Connector 10280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2" name="Straight Connector 10281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3" name="Straight Connector 10282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4" name="Straight Connector 10283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5" name="Straight Connector 10284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2774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10261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1 Başlık"/>
          <p:cNvSpPr>
            <a:spLocks noGrp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anchor="b">
            <a:normAutofit/>
          </a:bodyPr>
          <a:lstStyle/>
          <a:p>
            <a:r>
              <a:rPr lang="tr-TR" sz="2400">
                <a:solidFill>
                  <a:srgbClr val="FFFFFF"/>
                </a:solidFill>
              </a:rPr>
              <a:t>Sinoatriyel Düğüm</a:t>
            </a:r>
            <a:endParaRPr lang="tr-TR" altLang="tr-TR" sz="2400">
              <a:solidFill>
                <a:srgbClr val="FFFFFF"/>
              </a:solidFill>
            </a:endParaRPr>
          </a:p>
        </p:txBody>
      </p:sp>
      <p:sp useBgFill="1">
        <p:nvSpPr>
          <p:cNvPr id="10264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8182E95-0768-6C8C-EDC4-B895E84A0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667" y="1097060"/>
            <a:ext cx="4334162" cy="4334162"/>
          </a:xfrm>
          <a:prstGeom prst="rect">
            <a:avLst/>
          </a:prstGeom>
        </p:spPr>
      </p:pic>
      <p:sp>
        <p:nvSpPr>
          <p:cNvPr id="10243" name="2 İçerik Yer Tutucusu"/>
          <p:cNvSpPr>
            <a:spLocks noGrp="1"/>
          </p:cNvSpPr>
          <p:nvPr>
            <p:ph idx="1"/>
          </p:nvPr>
        </p:nvSpPr>
        <p:spPr>
          <a:xfrm>
            <a:off x="7532710" y="1822449"/>
            <a:ext cx="3479419" cy="2922591"/>
          </a:xfrm>
        </p:spPr>
        <p:txBody>
          <a:bodyPr anchor="t">
            <a:normAutofit/>
          </a:bodyPr>
          <a:lstStyle/>
          <a:p>
            <a:pPr>
              <a:defRPr/>
            </a:pPr>
            <a:endParaRPr lang="tr-TR" sz="1200">
              <a:solidFill>
                <a:srgbClr val="0F496F"/>
              </a:solidFill>
            </a:endParaRPr>
          </a:p>
          <a:p>
            <a:pPr>
              <a:defRPr/>
            </a:pPr>
            <a:r>
              <a:rPr lang="tr-TR" sz="1200">
                <a:solidFill>
                  <a:srgbClr val="0F496F"/>
                </a:solidFill>
              </a:rPr>
              <a:t>Hem sağ hemde sol atriyum tamamen depolarize olduğunda, simultane olarak kasılırlar.</a:t>
            </a:r>
          </a:p>
          <a:p>
            <a:pPr>
              <a:defRPr/>
            </a:pPr>
            <a:r>
              <a:rPr lang="tr-TR" sz="1200">
                <a:solidFill>
                  <a:srgbClr val="0F496F"/>
                </a:solidFill>
              </a:rPr>
              <a:t>SA düğümden gelen uyarımlar atriyumlar boyunca sağdan sola doğru iletilir.</a:t>
            </a:r>
            <a:r>
              <a:rPr lang="en-US" sz="1200">
                <a:solidFill>
                  <a:srgbClr val="0F496F"/>
                </a:solidFill>
              </a:rPr>
              <a:t> </a:t>
            </a:r>
            <a:endParaRPr lang="tr-TR" sz="1200">
              <a:solidFill>
                <a:srgbClr val="0F496F"/>
              </a:solidFill>
            </a:endParaRPr>
          </a:p>
          <a:p>
            <a:pPr>
              <a:defRPr/>
            </a:pPr>
            <a:r>
              <a:rPr lang="tr-TR" sz="1200">
                <a:solidFill>
                  <a:srgbClr val="0F496F"/>
                </a:solidFill>
              </a:rPr>
              <a:t>Bunun yanında uyarım doğrudan ventriküllere geçemez</a:t>
            </a:r>
            <a:endParaRPr lang="tr-TR" altLang="tr-TR" sz="1200">
              <a:solidFill>
                <a:srgbClr val="0F496F"/>
              </a:solidFill>
            </a:endParaRPr>
          </a:p>
        </p:txBody>
      </p:sp>
      <p:grpSp>
        <p:nvGrpSpPr>
          <p:cNvPr id="10266" name="Group 10265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267" name="Straight Connector 10266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8" name="Straight Connector 10267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9" name="Straight Connector 10268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0" name="Straight Connector 10269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1" name="Straight Connector 10270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73578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2" name="Rectangle 10261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1 Başlık"/>
          <p:cNvSpPr>
            <a:spLocks noGrp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anchor="b">
            <a:normAutofit/>
          </a:bodyPr>
          <a:lstStyle/>
          <a:p>
            <a:r>
              <a:rPr lang="tr-TR" sz="2400">
                <a:solidFill>
                  <a:srgbClr val="FFFFFF"/>
                </a:solidFill>
              </a:rPr>
              <a:t>Atriyoventriküler Düğüm</a:t>
            </a:r>
            <a:endParaRPr lang="tr-TR" altLang="tr-TR" sz="2400">
              <a:solidFill>
                <a:srgbClr val="FFFFFF"/>
              </a:solidFill>
            </a:endParaRPr>
          </a:p>
        </p:txBody>
      </p:sp>
      <p:sp useBgFill="1">
        <p:nvSpPr>
          <p:cNvPr id="10264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7414CC2B-AEF5-3636-F1E6-8172BC554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667" y="1097060"/>
            <a:ext cx="4334162" cy="4334162"/>
          </a:xfrm>
          <a:prstGeom prst="rect">
            <a:avLst/>
          </a:prstGeom>
        </p:spPr>
      </p:pic>
      <p:sp>
        <p:nvSpPr>
          <p:cNvPr id="10243" name="2 İçerik Yer Tutucusu"/>
          <p:cNvSpPr>
            <a:spLocks noGrp="1"/>
          </p:cNvSpPr>
          <p:nvPr>
            <p:ph idx="1"/>
          </p:nvPr>
        </p:nvSpPr>
        <p:spPr>
          <a:xfrm>
            <a:off x="7532710" y="1822449"/>
            <a:ext cx="3479419" cy="292259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tr-TR" sz="1200">
                <a:solidFill>
                  <a:srgbClr val="0F496F"/>
                </a:solidFill>
              </a:rPr>
              <a:t>Atriyumlar depolarize olduklarında, impuls başka bir özelleşmiş kas lifleri grubu olan atriyoventriküler düğüm tarafından alınır.</a:t>
            </a:r>
          </a:p>
          <a:p>
            <a:pPr>
              <a:lnSpc>
                <a:spcPct val="90000"/>
              </a:lnSpc>
              <a:defRPr/>
            </a:pPr>
            <a:r>
              <a:rPr lang="tr-TR" sz="1200">
                <a:solidFill>
                  <a:srgbClr val="0F496F"/>
                </a:solidFill>
              </a:rPr>
              <a:t>AV düğüm septum interatrialenin yanında sağ atriyumun tabanında bulunur.</a:t>
            </a:r>
            <a:r>
              <a:rPr lang="en-US" sz="1200">
                <a:solidFill>
                  <a:srgbClr val="0F496F"/>
                </a:solidFill>
              </a:rPr>
              <a:t> </a:t>
            </a:r>
            <a:endParaRPr lang="tr-TR" sz="1200">
              <a:solidFill>
                <a:srgbClr val="0F496F"/>
              </a:solidFill>
            </a:endParaRPr>
          </a:p>
          <a:p>
            <a:pPr>
              <a:lnSpc>
                <a:spcPct val="90000"/>
              </a:lnSpc>
              <a:defRPr/>
            </a:pPr>
            <a:r>
              <a:rPr lang="tr-TR" sz="1200">
                <a:solidFill>
                  <a:srgbClr val="0F496F"/>
                </a:solidFill>
              </a:rPr>
              <a:t>Bu lif grupları atriyum ve ventriküller arasındaki iletim için tek geçiş yoludur. Uyarım AV düğüm tarafından iletilirken hızı yavaşlatılır.</a:t>
            </a:r>
            <a:r>
              <a:rPr lang="en-US" sz="1200">
                <a:solidFill>
                  <a:srgbClr val="0F496F"/>
                </a:solidFill>
              </a:rPr>
              <a:t> </a:t>
            </a:r>
            <a:endParaRPr lang="tr-TR" sz="1200">
              <a:solidFill>
                <a:srgbClr val="0F496F"/>
              </a:solidFill>
            </a:endParaRPr>
          </a:p>
          <a:p>
            <a:pPr>
              <a:lnSpc>
                <a:spcPct val="90000"/>
              </a:lnSpc>
              <a:defRPr/>
            </a:pPr>
            <a:r>
              <a:rPr lang="tr-TR" sz="1200">
                <a:solidFill>
                  <a:srgbClr val="0F496F"/>
                </a:solidFill>
              </a:rPr>
              <a:t>Bu yavaşlama, iletim liflerinin çaplarının aşırı küçük olmasından kaynaklanmaktadır.</a:t>
            </a:r>
          </a:p>
        </p:txBody>
      </p:sp>
      <p:grpSp>
        <p:nvGrpSpPr>
          <p:cNvPr id="10266" name="Group 10265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267" name="Straight Connector 10266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8" name="Straight Connector 10267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9" name="Straight Connector 10268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0" name="Straight Connector 10269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1" name="Straight Connector 10270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6898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1" name="Rectangle 10260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1 Başlık"/>
          <p:cNvSpPr>
            <a:spLocks noGrp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anchor="b">
            <a:normAutofit/>
          </a:bodyPr>
          <a:lstStyle/>
          <a:p>
            <a:r>
              <a:rPr lang="tr-TR" sz="2400">
                <a:solidFill>
                  <a:srgbClr val="FFFFFF"/>
                </a:solidFill>
              </a:rPr>
              <a:t>Atriyoventriküler Düğüm</a:t>
            </a:r>
            <a:endParaRPr lang="tr-TR" altLang="tr-TR" sz="2400">
              <a:solidFill>
                <a:srgbClr val="FFFFFF"/>
              </a:solidFill>
            </a:endParaRPr>
          </a:p>
        </p:txBody>
      </p:sp>
      <p:sp useBgFill="1">
        <p:nvSpPr>
          <p:cNvPr id="10263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82C54978-A80F-7D87-B464-40520DE86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667" y="1097060"/>
            <a:ext cx="4334162" cy="4334162"/>
          </a:xfrm>
          <a:prstGeom prst="rect">
            <a:avLst/>
          </a:prstGeom>
        </p:spPr>
      </p:pic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5FD58C7-043F-4038-9C82-662E5CD84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710" y="1822449"/>
            <a:ext cx="3479419" cy="2922591"/>
          </a:xfrm>
        </p:spPr>
        <p:txBody>
          <a:bodyPr anchor="t">
            <a:normAutofit/>
          </a:bodyPr>
          <a:lstStyle/>
          <a:p>
            <a:r>
              <a:rPr lang="tr-TR" sz="1200">
                <a:solidFill>
                  <a:srgbClr val="0F496F"/>
                </a:solidFill>
              </a:rPr>
              <a:t>Bu atriyumlardan ventriküllere uyarım geçişinde yaşanan gecikme, atriyumların tamamen depolarize olup kasılması için gerekli süreyi sağladığı için oldukça önemlidir.</a:t>
            </a:r>
            <a:r>
              <a:rPr lang="en-US" sz="1200">
                <a:solidFill>
                  <a:srgbClr val="0F496F"/>
                </a:solidFill>
              </a:rPr>
              <a:t> </a:t>
            </a:r>
            <a:endParaRPr lang="tr-TR" sz="1200">
              <a:solidFill>
                <a:srgbClr val="0F496F"/>
              </a:solidFill>
            </a:endParaRPr>
          </a:p>
          <a:p>
            <a:r>
              <a:rPr lang="tr-TR" sz="1200">
                <a:solidFill>
                  <a:srgbClr val="0F496F"/>
                </a:solidFill>
              </a:rPr>
              <a:t>Böylece içeriklerini tamamen gevşek halde bulunan ventriküllere pompalayarak boşaltabilirler.</a:t>
            </a:r>
            <a:endParaRPr lang="en-US" sz="1200">
              <a:solidFill>
                <a:srgbClr val="0F496F"/>
              </a:solidFill>
            </a:endParaRPr>
          </a:p>
          <a:p>
            <a:endParaRPr lang="tr-TR" sz="1200">
              <a:solidFill>
                <a:srgbClr val="0F496F"/>
              </a:solidFill>
            </a:endParaRPr>
          </a:p>
        </p:txBody>
      </p:sp>
      <p:grpSp>
        <p:nvGrpSpPr>
          <p:cNvPr id="10265" name="Group 10264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266" name="Straight Connector 10265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7" name="Straight Connector 10266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8" name="Straight Connector 10267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9" name="Straight Connector 10268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0" name="Straight Connector 10269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2238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1" name="Rectangle 10260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1 Başlık"/>
          <p:cNvSpPr>
            <a:spLocks noGrp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anchor="b">
            <a:normAutofit/>
          </a:bodyPr>
          <a:lstStyle/>
          <a:p>
            <a:r>
              <a:rPr lang="tr-TR" sz="2400">
                <a:solidFill>
                  <a:srgbClr val="FFFFFF"/>
                </a:solidFill>
              </a:rPr>
              <a:t>His Demetleri</a:t>
            </a:r>
            <a:endParaRPr lang="tr-TR" altLang="tr-TR" sz="2400">
              <a:solidFill>
                <a:srgbClr val="FFFFFF"/>
              </a:solidFill>
            </a:endParaRPr>
          </a:p>
        </p:txBody>
      </p:sp>
      <p:sp useBgFill="1">
        <p:nvSpPr>
          <p:cNvPr id="10263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9AA69C74-BAEA-85B7-CC5F-1CB1442FB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667" y="1097060"/>
            <a:ext cx="4334162" cy="4334162"/>
          </a:xfrm>
          <a:prstGeom prst="rect">
            <a:avLst/>
          </a:prstGeom>
        </p:spPr>
      </p:pic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5FD58C7-043F-4038-9C82-662E5CD84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710" y="1822449"/>
            <a:ext cx="3479419" cy="2922591"/>
          </a:xfrm>
        </p:spPr>
        <p:txBody>
          <a:bodyPr anchor="t">
            <a:normAutofit/>
          </a:bodyPr>
          <a:lstStyle/>
          <a:p>
            <a:r>
              <a:rPr lang="tr-TR" sz="1200">
                <a:solidFill>
                  <a:srgbClr val="0F496F"/>
                </a:solidFill>
              </a:rPr>
              <a:t>İmpuls, Av düğümden aşağıya His demetleri yardımı ile ilerler</a:t>
            </a:r>
            <a:r>
              <a:rPr lang="en-US" sz="1200">
                <a:solidFill>
                  <a:srgbClr val="0F496F"/>
                </a:solidFill>
              </a:rPr>
              <a:t>. </a:t>
            </a:r>
            <a:endParaRPr lang="tr-TR" sz="1200">
              <a:solidFill>
                <a:srgbClr val="0F496F"/>
              </a:solidFill>
            </a:endParaRPr>
          </a:p>
          <a:p>
            <a:r>
              <a:rPr lang="tr-TR" sz="1200">
                <a:solidFill>
                  <a:srgbClr val="0F496F"/>
                </a:solidFill>
              </a:rPr>
              <a:t>His demetleri, hemen AV düğümün altında iki iletim hattına ayrılır ve bu hatlar impulsu septum interventrikülare boyunca iletir</a:t>
            </a:r>
          </a:p>
          <a:p>
            <a:r>
              <a:rPr lang="tr-TR" sz="1200">
                <a:solidFill>
                  <a:srgbClr val="0F496F"/>
                </a:solidFill>
              </a:rPr>
              <a:t>His demetlerini oluşturan lifler hakkında bir diğer önemli bilgi ise liflerin çaplarının oldukça geniş olduğudur ve böylece impuls hızı hızlanır ve bu demetlerden aşağıya oldukça hızlı olarak iletilir.</a:t>
            </a:r>
          </a:p>
        </p:txBody>
      </p:sp>
      <p:grpSp>
        <p:nvGrpSpPr>
          <p:cNvPr id="10265" name="Group 10264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266" name="Straight Connector 10265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7" name="Straight Connector 10266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8" name="Straight Connector 10267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9" name="Straight Connector 10268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0" name="Straight Connector 10269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2666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1" name="Rectangle 10260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1 Başlık"/>
          <p:cNvSpPr>
            <a:spLocks noGrp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anchor="b">
            <a:normAutofit/>
          </a:bodyPr>
          <a:lstStyle/>
          <a:p>
            <a:r>
              <a:rPr lang="tr-TR" sz="2400">
                <a:solidFill>
                  <a:srgbClr val="FFFFFF"/>
                </a:solidFill>
              </a:rPr>
              <a:t>Pürkinje İplikçikleri</a:t>
            </a:r>
            <a:endParaRPr lang="tr-TR" altLang="tr-TR" sz="2400">
              <a:solidFill>
                <a:srgbClr val="FFFFFF"/>
              </a:solidFill>
            </a:endParaRPr>
          </a:p>
        </p:txBody>
      </p:sp>
      <p:sp useBgFill="1">
        <p:nvSpPr>
          <p:cNvPr id="10263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849CACCE-81F0-51B8-FBD0-2D2A742D9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667" y="1097060"/>
            <a:ext cx="4334162" cy="4334162"/>
          </a:xfrm>
          <a:prstGeom prst="rect">
            <a:avLst/>
          </a:prstGeom>
        </p:spPr>
      </p:pic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5FD58C7-043F-4038-9C82-662E5CD84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710" y="1822449"/>
            <a:ext cx="3479419" cy="2922591"/>
          </a:xfrm>
        </p:spPr>
        <p:txBody>
          <a:bodyPr anchor="t">
            <a:normAutofit/>
          </a:bodyPr>
          <a:lstStyle/>
          <a:p>
            <a:r>
              <a:rPr lang="tr-TR" sz="1200">
                <a:solidFill>
                  <a:srgbClr val="0F496F"/>
                </a:solidFill>
              </a:rPr>
              <a:t>His demetleri, septum interventrikularenin yarısından sonra genişlemiş iletim liflerine ayrılır ki bunlar </a:t>
            </a:r>
            <a:r>
              <a:rPr lang="tr-TR" sz="1200" b="1">
                <a:solidFill>
                  <a:srgbClr val="0F496F"/>
                </a:solidFill>
              </a:rPr>
              <a:t>Pürkinje iplikçikleri </a:t>
            </a:r>
            <a:r>
              <a:rPr lang="tr-TR" sz="1200">
                <a:solidFill>
                  <a:srgbClr val="0F496F"/>
                </a:solidFill>
              </a:rPr>
              <a:t>olarak isimlendirilirler.</a:t>
            </a:r>
            <a:r>
              <a:rPr lang="en-US" sz="1200">
                <a:solidFill>
                  <a:srgbClr val="0F496F"/>
                </a:solidFill>
              </a:rPr>
              <a:t> </a:t>
            </a:r>
            <a:endParaRPr lang="tr-TR" sz="1200">
              <a:solidFill>
                <a:srgbClr val="0F496F"/>
              </a:solidFill>
            </a:endParaRPr>
          </a:p>
          <a:p>
            <a:r>
              <a:rPr lang="tr-TR" sz="1200">
                <a:solidFill>
                  <a:srgbClr val="0F496F"/>
                </a:solidFill>
              </a:rPr>
              <a:t>Bu iplikçikler her iki ventrikülün tüm alanlarına uzanırlar ve sonradan genişledikleri için iletim hızı da ekstra olarak artar. </a:t>
            </a:r>
          </a:p>
          <a:p>
            <a:r>
              <a:rPr lang="tr-TR" sz="1200">
                <a:solidFill>
                  <a:srgbClr val="0F496F"/>
                </a:solidFill>
              </a:rPr>
              <a:t>Pürkinje iplikçiklerinden impulsun geçişi tamamlandığı sırada, ventriküller tamamen depolarize olmur ve sonrasında simultane olarak kasılırlar.</a:t>
            </a:r>
          </a:p>
        </p:txBody>
      </p:sp>
      <p:grpSp>
        <p:nvGrpSpPr>
          <p:cNvPr id="10265" name="Group 10264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266" name="Straight Connector 10265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7" name="Straight Connector 10266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8" name="Straight Connector 10267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9" name="Straight Connector 10268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0" name="Straight Connector 10269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914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1" name="Rectangle 10260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1 Başlık"/>
          <p:cNvSpPr>
            <a:spLocks noGrp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anchor="b">
            <a:normAutofit/>
          </a:bodyPr>
          <a:lstStyle/>
          <a:p>
            <a:r>
              <a:rPr lang="tr-TR" altLang="tr-TR" sz="2400">
                <a:solidFill>
                  <a:srgbClr val="FFFFFF"/>
                </a:solidFill>
              </a:rPr>
              <a:t>EKG Nedir?</a:t>
            </a:r>
          </a:p>
        </p:txBody>
      </p:sp>
      <p:sp useBgFill="1">
        <p:nvSpPr>
          <p:cNvPr id="10263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F0BB0DD-CCAF-AC80-55EC-CB8CCA487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7" y="1381436"/>
            <a:ext cx="5641063" cy="3765409"/>
          </a:xfrm>
          <a:prstGeom prst="rect">
            <a:avLst/>
          </a:prstGeom>
        </p:spPr>
      </p:pic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5FD58C7-043F-4038-9C82-662E5CD84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710" y="1822449"/>
            <a:ext cx="3479419" cy="2922591"/>
          </a:xfrm>
        </p:spPr>
        <p:txBody>
          <a:bodyPr anchor="t">
            <a:normAutofit/>
          </a:bodyPr>
          <a:lstStyle/>
          <a:p>
            <a:r>
              <a:rPr lang="tr-TR" sz="1200" b="1">
                <a:solidFill>
                  <a:srgbClr val="0F496F"/>
                </a:solidFill>
              </a:rPr>
              <a:t>Elektrokardiyograf</a:t>
            </a:r>
            <a:r>
              <a:rPr lang="en-US" sz="1200" b="1">
                <a:solidFill>
                  <a:srgbClr val="0F496F"/>
                </a:solidFill>
              </a:rPr>
              <a:t> </a:t>
            </a:r>
            <a:r>
              <a:rPr lang="en-US" sz="1200">
                <a:solidFill>
                  <a:srgbClr val="0F496F"/>
                </a:solidFill>
              </a:rPr>
              <a:t>(</a:t>
            </a:r>
            <a:r>
              <a:rPr lang="tr-TR" sz="1200">
                <a:solidFill>
                  <a:srgbClr val="0F496F"/>
                </a:solidFill>
              </a:rPr>
              <a:t>EKG Cihazı</a:t>
            </a:r>
            <a:r>
              <a:rPr lang="en-US" sz="1200">
                <a:solidFill>
                  <a:srgbClr val="0F496F"/>
                </a:solidFill>
              </a:rPr>
              <a:t>) </a:t>
            </a:r>
            <a:r>
              <a:rPr lang="tr-TR" sz="1200">
                <a:solidFill>
                  <a:srgbClr val="0F496F"/>
                </a:solidFill>
              </a:rPr>
              <a:t>pozitif ve negatif elektrodu arasında kalbin değişen elektriksel aktivitesini kaydeden bir voltmetredir(yada galvanometre).</a:t>
            </a:r>
            <a:r>
              <a:rPr lang="en-US" sz="1200">
                <a:solidFill>
                  <a:srgbClr val="0F496F"/>
                </a:solidFill>
              </a:rPr>
              <a:t> </a:t>
            </a:r>
            <a:endParaRPr lang="tr-TR" sz="1200">
              <a:solidFill>
                <a:srgbClr val="0F496F"/>
              </a:solidFill>
            </a:endParaRPr>
          </a:p>
          <a:p>
            <a:endParaRPr lang="tr-TR" sz="1200">
              <a:solidFill>
                <a:srgbClr val="0F496F"/>
              </a:solidFill>
            </a:endParaRPr>
          </a:p>
          <a:p>
            <a:r>
              <a:rPr lang="tr-TR" sz="1200" b="1">
                <a:solidFill>
                  <a:srgbClr val="0F496F"/>
                </a:solidFill>
              </a:rPr>
              <a:t>Elektrokardiyografi: </a:t>
            </a:r>
            <a:r>
              <a:rPr lang="tr-TR" sz="1200">
                <a:solidFill>
                  <a:srgbClr val="0F496F"/>
                </a:solidFill>
              </a:rPr>
              <a:t>Bu elektriksel değişimleri kayıt etme işlemidir.</a:t>
            </a:r>
          </a:p>
          <a:p>
            <a:endParaRPr lang="tr-TR" sz="1200">
              <a:solidFill>
                <a:srgbClr val="0F496F"/>
              </a:solidFill>
            </a:endParaRPr>
          </a:p>
          <a:p>
            <a:r>
              <a:rPr lang="tr-TR" sz="1200" b="1">
                <a:solidFill>
                  <a:srgbClr val="0F496F"/>
                </a:solidFill>
              </a:rPr>
              <a:t>Elektrokardiyogram: </a:t>
            </a:r>
            <a:r>
              <a:rPr lang="tr-TR" sz="1200">
                <a:solidFill>
                  <a:srgbClr val="0F496F"/>
                </a:solidFill>
              </a:rPr>
              <a:t>Kayıt edilen elektriksel değişimlerin yazdırıldığı trasedir.</a:t>
            </a:r>
            <a:endParaRPr lang="tr-TR" sz="1200" b="1">
              <a:solidFill>
                <a:srgbClr val="0F496F"/>
              </a:solidFill>
            </a:endParaRPr>
          </a:p>
        </p:txBody>
      </p:sp>
      <p:grpSp>
        <p:nvGrpSpPr>
          <p:cNvPr id="10265" name="Group 10264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266" name="Straight Connector 10265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7" name="Straight Connector 10266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8" name="Straight Connector 10267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9" name="Straight Connector 10268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0" name="Straight Connector 10269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6239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1" name="Rectangle 10260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1 Başlık"/>
          <p:cNvSpPr>
            <a:spLocks noGrp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anchor="b">
            <a:normAutofit/>
          </a:bodyPr>
          <a:lstStyle/>
          <a:p>
            <a:r>
              <a:rPr lang="tr-TR" altLang="tr-TR" sz="2400">
                <a:solidFill>
                  <a:srgbClr val="FFFFFF"/>
                </a:solidFill>
              </a:rPr>
              <a:t>EKG Nedir?</a:t>
            </a:r>
          </a:p>
        </p:txBody>
      </p:sp>
      <p:sp useBgFill="1">
        <p:nvSpPr>
          <p:cNvPr id="10263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4BC59B44-132D-64F5-37E3-E4ECB75FC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217" y="1381436"/>
            <a:ext cx="5641063" cy="3765409"/>
          </a:xfrm>
          <a:prstGeom prst="rect">
            <a:avLst/>
          </a:prstGeom>
        </p:spPr>
      </p:pic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95FD58C7-043F-4038-9C82-662E5CD84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710" y="1822449"/>
            <a:ext cx="3479419" cy="2922591"/>
          </a:xfrm>
        </p:spPr>
        <p:txBody>
          <a:bodyPr anchor="t">
            <a:normAutofit/>
          </a:bodyPr>
          <a:lstStyle/>
          <a:p>
            <a:r>
              <a:rPr lang="tr-TR" sz="1200" b="1" u="sng">
                <a:solidFill>
                  <a:srgbClr val="0F496F"/>
                </a:solidFill>
              </a:rPr>
              <a:t>EKG ile belirlenebilecekler:</a:t>
            </a:r>
          </a:p>
          <a:p>
            <a:pPr marL="0" indent="0">
              <a:buNone/>
            </a:pPr>
            <a:endParaRPr lang="tr-TR" sz="1200" b="1">
              <a:solidFill>
                <a:srgbClr val="0F496F"/>
              </a:solidFill>
            </a:endParaRPr>
          </a:p>
          <a:p>
            <a:r>
              <a:rPr lang="tr-TR" sz="1200">
                <a:solidFill>
                  <a:srgbClr val="0F496F"/>
                </a:solidFill>
              </a:rPr>
              <a:t>Aritmiler</a:t>
            </a:r>
          </a:p>
          <a:p>
            <a:r>
              <a:rPr lang="tr-TR" sz="1200">
                <a:solidFill>
                  <a:srgbClr val="0F496F"/>
                </a:solidFill>
              </a:rPr>
              <a:t>Myokard iskemisi ve enfarktı</a:t>
            </a:r>
          </a:p>
          <a:p>
            <a:r>
              <a:rPr lang="tr-TR" sz="1200">
                <a:solidFill>
                  <a:srgbClr val="0F496F"/>
                </a:solidFill>
              </a:rPr>
              <a:t>Perikardit </a:t>
            </a:r>
          </a:p>
          <a:p>
            <a:r>
              <a:rPr lang="tr-TR" sz="1200">
                <a:solidFill>
                  <a:srgbClr val="0F496F"/>
                </a:solidFill>
              </a:rPr>
              <a:t>Odacık hipertrofileri</a:t>
            </a:r>
          </a:p>
          <a:p>
            <a:r>
              <a:rPr lang="tr-TR" sz="1200">
                <a:solidFill>
                  <a:srgbClr val="0F496F"/>
                </a:solidFill>
              </a:rPr>
              <a:t>Elektrolit dengesizlikleri (Ör: hiperkalemi, hipokalemi) </a:t>
            </a:r>
          </a:p>
          <a:p>
            <a:r>
              <a:rPr lang="tr-TR" sz="1200">
                <a:solidFill>
                  <a:srgbClr val="0F496F"/>
                </a:solidFill>
              </a:rPr>
              <a:t>İlaç zehirlenmeleri (Ör: digoxin ve QT aralığını uzatan diğer ilaçlar)</a:t>
            </a:r>
            <a:endParaRPr lang="tr-TR" altLang="tr-TR" sz="1200">
              <a:solidFill>
                <a:srgbClr val="0F496F"/>
              </a:solidFill>
            </a:endParaRPr>
          </a:p>
        </p:txBody>
      </p:sp>
      <p:grpSp>
        <p:nvGrpSpPr>
          <p:cNvPr id="10265" name="Group 10264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0266" name="Straight Connector 10265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7" name="Straight Connector 10266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8" name="Straight Connector 10267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9" name="Straight Connector 10268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0" name="Straight Connector 10269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9975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86" name="Group 15367">
            <a:extLst>
              <a:ext uri="{FF2B5EF4-FFF2-40B4-BE49-F238E27FC236}">
                <a16:creationId xmlns:a16="http://schemas.microsoft.com/office/drawing/2014/main" id="{62CE031E-EE35-4AA7-9784-805093327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5369" name="Straight Connector 15368">
              <a:extLst>
                <a:ext uri="{FF2B5EF4-FFF2-40B4-BE49-F238E27FC236}">
                  <a16:creationId xmlns:a16="http://schemas.microsoft.com/office/drawing/2014/main" id="{118D62D3-5800-4F4A-95BE-C1A2BB8B2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0" name="Straight Connector 15369">
              <a:extLst>
                <a:ext uri="{FF2B5EF4-FFF2-40B4-BE49-F238E27FC236}">
                  <a16:creationId xmlns:a16="http://schemas.microsoft.com/office/drawing/2014/main" id="{4C9E4F52-5D94-4242-AC69-EE6A23FAB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1" name="Straight Connector 15370">
              <a:extLst>
                <a:ext uri="{FF2B5EF4-FFF2-40B4-BE49-F238E27FC236}">
                  <a16:creationId xmlns:a16="http://schemas.microsoft.com/office/drawing/2014/main" id="{322CC7C0-D1D6-4FF0-A60C-1AEB9C873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2" name="Straight Connector 15371">
              <a:extLst>
                <a:ext uri="{FF2B5EF4-FFF2-40B4-BE49-F238E27FC236}">
                  <a16:creationId xmlns:a16="http://schemas.microsoft.com/office/drawing/2014/main" id="{99B43E48-8275-4871-8745-F5CB75CFD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3" name="Straight Connector 15372">
              <a:extLst>
                <a:ext uri="{FF2B5EF4-FFF2-40B4-BE49-F238E27FC236}">
                  <a16:creationId xmlns:a16="http://schemas.microsoft.com/office/drawing/2014/main" id="{E87ED701-F942-4771-8F92-6EFCC2E8E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87" name="Rectangle 15374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EKG nin Temel Kuralları</a:t>
            </a:r>
            <a:endParaRPr lang="en-US" altLang="tr-TR" sz="2400">
              <a:solidFill>
                <a:srgbClr val="FFFFFF"/>
              </a:solidFill>
            </a:endParaRPr>
          </a:p>
        </p:txBody>
      </p:sp>
      <p:sp useBgFill="1">
        <p:nvSpPr>
          <p:cNvPr id="15388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CA7A7257-C1DC-4A2F-B91F-D29623F28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217" y="1839772"/>
            <a:ext cx="5641063" cy="2848737"/>
          </a:xfrm>
          <a:prstGeom prst="rect">
            <a:avLst/>
          </a:prstGeom>
        </p:spPr>
      </p:pic>
      <p:sp>
        <p:nvSpPr>
          <p:cNvPr id="1536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7532710" y="1822449"/>
            <a:ext cx="3479419" cy="2922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solidFill>
                  <a:srgbClr val="0F496F"/>
                </a:solidFill>
              </a:rPr>
              <a:t>Devrede pozitif elektroda doğru ilerleyen depolarizasyon dalgası, pozitif bir defleksiyon olarak kaydedilir. </a:t>
            </a:r>
          </a:p>
          <a:p>
            <a:r>
              <a:rPr lang="en-US" sz="1200">
                <a:solidFill>
                  <a:srgbClr val="0F496F"/>
                </a:solidFill>
              </a:rPr>
              <a:t>Pozitif elektrottan uzaklaşan depolarizasyon dalgası, negatif bir defleksiyon olarak kaydedilir.</a:t>
            </a:r>
          </a:p>
          <a:p>
            <a:r>
              <a:rPr lang="en-US" sz="1200">
                <a:solidFill>
                  <a:srgbClr val="0F496F"/>
                </a:solidFill>
              </a:rPr>
              <a:t>Pozitif elektrottan uzaklaşan bir repolarizasyon dalgası, pozitif bir defleksiyon olarak kaydedilir.</a:t>
            </a:r>
            <a:endParaRPr lang="en-US" altLang="tr-TR" sz="1200">
              <a:solidFill>
                <a:srgbClr val="0F496F"/>
              </a:solidFill>
            </a:endParaRPr>
          </a:p>
        </p:txBody>
      </p:sp>
      <p:grpSp>
        <p:nvGrpSpPr>
          <p:cNvPr id="15389" name="Group 15378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5380" name="Straight Connector 15379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1" name="Straight Connector 15380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2" name="Straight Connector 15381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3" name="Straight Connector 15382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4" name="Straight Connector 15383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82869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8" name="Group 15367">
            <a:extLst>
              <a:ext uri="{FF2B5EF4-FFF2-40B4-BE49-F238E27FC236}">
                <a16:creationId xmlns:a16="http://schemas.microsoft.com/office/drawing/2014/main" id="{62CE031E-EE35-4AA7-9784-805093327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5369" name="Straight Connector 15368">
              <a:extLst>
                <a:ext uri="{FF2B5EF4-FFF2-40B4-BE49-F238E27FC236}">
                  <a16:creationId xmlns:a16="http://schemas.microsoft.com/office/drawing/2014/main" id="{118D62D3-5800-4F4A-95BE-C1A2BB8B2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0" name="Straight Connector 15369">
              <a:extLst>
                <a:ext uri="{FF2B5EF4-FFF2-40B4-BE49-F238E27FC236}">
                  <a16:creationId xmlns:a16="http://schemas.microsoft.com/office/drawing/2014/main" id="{4C9E4F52-5D94-4242-AC69-EE6A23FAB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1" name="Straight Connector 15370">
              <a:extLst>
                <a:ext uri="{FF2B5EF4-FFF2-40B4-BE49-F238E27FC236}">
                  <a16:creationId xmlns:a16="http://schemas.microsoft.com/office/drawing/2014/main" id="{322CC7C0-D1D6-4FF0-A60C-1AEB9C873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2" name="Straight Connector 15371">
              <a:extLst>
                <a:ext uri="{FF2B5EF4-FFF2-40B4-BE49-F238E27FC236}">
                  <a16:creationId xmlns:a16="http://schemas.microsoft.com/office/drawing/2014/main" id="{99B43E48-8275-4871-8745-F5CB75CFD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3" name="Straight Connector 15372">
              <a:extLst>
                <a:ext uri="{FF2B5EF4-FFF2-40B4-BE49-F238E27FC236}">
                  <a16:creationId xmlns:a16="http://schemas.microsoft.com/office/drawing/2014/main" id="{E87ED701-F942-4771-8F92-6EFCC2E8E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75" name="Rectangle 15374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EKG Elektrotları</a:t>
            </a:r>
            <a:endParaRPr lang="en-US" altLang="tr-TR" sz="2400">
              <a:solidFill>
                <a:srgbClr val="FFFFFF"/>
              </a:solidFill>
            </a:endParaRPr>
          </a:p>
        </p:txBody>
      </p:sp>
      <p:sp useBgFill="1">
        <p:nvSpPr>
          <p:cNvPr id="15377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E49642C7-BEB9-43F4-B7D0-3022EAF282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23" b="14930"/>
          <a:stretch/>
        </p:blipFill>
        <p:spPr>
          <a:xfrm>
            <a:off x="1101217" y="1677600"/>
            <a:ext cx="5641063" cy="3173082"/>
          </a:xfrm>
          <a:prstGeom prst="rect">
            <a:avLst/>
          </a:prstGeom>
        </p:spPr>
      </p:pic>
      <p:sp>
        <p:nvSpPr>
          <p:cNvPr id="1536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7532710" y="1822449"/>
            <a:ext cx="3479419" cy="2922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solidFill>
                  <a:srgbClr val="0F496F"/>
                </a:solidFill>
              </a:rPr>
              <a:t>Kalbin elektriksel potansiyellerini algılayan elektrotlar cilt üzerine yerleştirilir.</a:t>
            </a:r>
          </a:p>
          <a:p>
            <a:r>
              <a:rPr lang="en-US" sz="1200">
                <a:solidFill>
                  <a:srgbClr val="0F496F"/>
                </a:solidFill>
              </a:rPr>
              <a:t>Deri direncini azaltmak için cilt ve elektrot arasına EKG jeli uygulanmalıdır. </a:t>
            </a:r>
          </a:p>
          <a:p>
            <a:r>
              <a:rPr lang="en-US" sz="1200">
                <a:solidFill>
                  <a:srgbClr val="0F496F"/>
                </a:solidFill>
              </a:rPr>
              <a:t>Elektrotlar cilde kauçuk bantlarla, klipslerle, Emici vantuzlarla, yada tek kullanımlık yapışkan elektrotlar ile sabitlenir.</a:t>
            </a:r>
            <a:endParaRPr lang="en-US" altLang="tr-TR" sz="1200">
              <a:solidFill>
                <a:srgbClr val="0F496F"/>
              </a:solidFill>
            </a:endParaRPr>
          </a:p>
        </p:txBody>
      </p:sp>
      <p:grpSp>
        <p:nvGrpSpPr>
          <p:cNvPr id="15379" name="Group 15378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5380" name="Straight Connector 15379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1" name="Straight Connector 15380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2" name="Straight Connector 15381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3" name="Straight Connector 15382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4" name="Straight Connector 15383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5185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8" name="Group 15367">
            <a:extLst>
              <a:ext uri="{FF2B5EF4-FFF2-40B4-BE49-F238E27FC236}">
                <a16:creationId xmlns:a16="http://schemas.microsoft.com/office/drawing/2014/main" id="{62CE031E-EE35-4AA7-9784-805093327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5369" name="Straight Connector 15368">
              <a:extLst>
                <a:ext uri="{FF2B5EF4-FFF2-40B4-BE49-F238E27FC236}">
                  <a16:creationId xmlns:a16="http://schemas.microsoft.com/office/drawing/2014/main" id="{118D62D3-5800-4F4A-95BE-C1A2BB8B2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0" name="Straight Connector 15369">
              <a:extLst>
                <a:ext uri="{FF2B5EF4-FFF2-40B4-BE49-F238E27FC236}">
                  <a16:creationId xmlns:a16="http://schemas.microsoft.com/office/drawing/2014/main" id="{4C9E4F52-5D94-4242-AC69-EE6A23FAB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1" name="Straight Connector 15370">
              <a:extLst>
                <a:ext uri="{FF2B5EF4-FFF2-40B4-BE49-F238E27FC236}">
                  <a16:creationId xmlns:a16="http://schemas.microsoft.com/office/drawing/2014/main" id="{322CC7C0-D1D6-4FF0-A60C-1AEB9C873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2" name="Straight Connector 15371">
              <a:extLst>
                <a:ext uri="{FF2B5EF4-FFF2-40B4-BE49-F238E27FC236}">
                  <a16:creationId xmlns:a16="http://schemas.microsoft.com/office/drawing/2014/main" id="{99B43E48-8275-4871-8745-F5CB75CFD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3" name="Straight Connector 15372">
              <a:extLst>
                <a:ext uri="{FF2B5EF4-FFF2-40B4-BE49-F238E27FC236}">
                  <a16:creationId xmlns:a16="http://schemas.microsoft.com/office/drawing/2014/main" id="{E87ED701-F942-4771-8F92-6EFCC2E8E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75" name="Rectangle 15374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Einthoven Üçgeni ve Derivasyonlar</a:t>
            </a:r>
            <a:endParaRPr lang="en-US" altLang="tr-TR" sz="2400">
              <a:solidFill>
                <a:srgbClr val="FFFFFF"/>
              </a:solidFill>
            </a:endParaRPr>
          </a:p>
        </p:txBody>
      </p:sp>
      <p:sp useBgFill="1">
        <p:nvSpPr>
          <p:cNvPr id="15377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D99702BF-3EF0-4C3F-AE3A-29E3025B3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236" y="1097060"/>
            <a:ext cx="4345024" cy="4334162"/>
          </a:xfrm>
          <a:prstGeom prst="rect">
            <a:avLst/>
          </a:prstGeom>
        </p:spPr>
      </p:pic>
      <p:sp>
        <p:nvSpPr>
          <p:cNvPr id="1536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7532710" y="1822449"/>
            <a:ext cx="3479419" cy="2922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>
                <a:solidFill>
                  <a:srgbClr val="0F496F"/>
                </a:solidFill>
              </a:rPr>
              <a:t>Eğer kollarını iki yana açmış ve iki bileğine ve sol ayak bileğine elektrotlar bağlanmış bir insan hayal ederseniz bir eşkenar üçken olan </a:t>
            </a:r>
            <a:r>
              <a:rPr lang="en-US" sz="1200" b="1">
                <a:solidFill>
                  <a:srgbClr val="0F496F"/>
                </a:solidFill>
              </a:rPr>
              <a:t>Einthoven üçkenini </a:t>
            </a:r>
            <a:r>
              <a:rPr lang="en-US" sz="1200">
                <a:solidFill>
                  <a:srgbClr val="0F496F"/>
                </a:solidFill>
              </a:rPr>
              <a:t>oluşturmuş olursunuz.</a:t>
            </a:r>
          </a:p>
          <a:p>
            <a:endParaRPr lang="en-US" sz="1200">
              <a:solidFill>
                <a:srgbClr val="0F496F"/>
              </a:solidFill>
            </a:endParaRPr>
          </a:p>
          <a:p>
            <a:r>
              <a:rPr lang="en-US" sz="1200">
                <a:solidFill>
                  <a:srgbClr val="0F496F"/>
                </a:solidFill>
              </a:rPr>
              <a:t>Kalp neredeyse bu üçgenin merkezindedir.</a:t>
            </a:r>
          </a:p>
          <a:p>
            <a:endParaRPr lang="en-US" sz="1200">
              <a:solidFill>
                <a:srgbClr val="0F496F"/>
              </a:solidFill>
            </a:endParaRPr>
          </a:p>
          <a:p>
            <a:r>
              <a:rPr lang="en-US" sz="1200">
                <a:solidFill>
                  <a:srgbClr val="0F496F"/>
                </a:solidFill>
              </a:rPr>
              <a:t>İki elektrot arasında meydana gelen potansilyeller, derivasyonlar olarak isimlendirilirler ve şekilde Roma rakamları ile I, II ve III olarak gösterilmiştir.</a:t>
            </a:r>
          </a:p>
        </p:txBody>
      </p:sp>
      <p:grpSp>
        <p:nvGrpSpPr>
          <p:cNvPr id="15379" name="Group 15378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5380" name="Straight Connector 15379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1" name="Straight Connector 15380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2" name="Straight Connector 15381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3" name="Straight Connector 15382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4" name="Straight Connector 15383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3727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7" name="Group 15366">
            <a:extLst>
              <a:ext uri="{FF2B5EF4-FFF2-40B4-BE49-F238E27FC236}">
                <a16:creationId xmlns:a16="http://schemas.microsoft.com/office/drawing/2014/main" id="{62CE031E-EE35-4AA7-9784-805093327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5368" name="Straight Connector 15367">
              <a:extLst>
                <a:ext uri="{FF2B5EF4-FFF2-40B4-BE49-F238E27FC236}">
                  <a16:creationId xmlns:a16="http://schemas.microsoft.com/office/drawing/2014/main" id="{118D62D3-5800-4F4A-95BE-C1A2BB8B2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69" name="Straight Connector 15368">
              <a:extLst>
                <a:ext uri="{FF2B5EF4-FFF2-40B4-BE49-F238E27FC236}">
                  <a16:creationId xmlns:a16="http://schemas.microsoft.com/office/drawing/2014/main" id="{4C9E4F52-5D94-4242-AC69-EE6A23FAB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0" name="Straight Connector 15369">
              <a:extLst>
                <a:ext uri="{FF2B5EF4-FFF2-40B4-BE49-F238E27FC236}">
                  <a16:creationId xmlns:a16="http://schemas.microsoft.com/office/drawing/2014/main" id="{322CC7C0-D1D6-4FF0-A60C-1AEB9C873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1" name="Straight Connector 15370">
              <a:extLst>
                <a:ext uri="{FF2B5EF4-FFF2-40B4-BE49-F238E27FC236}">
                  <a16:creationId xmlns:a16="http://schemas.microsoft.com/office/drawing/2014/main" id="{99B43E48-8275-4871-8745-F5CB75CFD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2" name="Straight Connector 15371">
              <a:extLst>
                <a:ext uri="{FF2B5EF4-FFF2-40B4-BE49-F238E27FC236}">
                  <a16:creationId xmlns:a16="http://schemas.microsoft.com/office/drawing/2014/main" id="{E87ED701-F942-4771-8F92-6EFCC2E8E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74" name="Rectangle 15373">
            <a:extLst>
              <a:ext uri="{FF2B5EF4-FFF2-40B4-BE49-F238E27FC236}">
                <a16:creationId xmlns:a16="http://schemas.microsoft.com/office/drawing/2014/main" id="{D6F819BF-BEC4-454B-82CF-C7F192640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7532710" y="620722"/>
            <a:ext cx="3382941" cy="114246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tr-TR" sz="2400">
                <a:solidFill>
                  <a:srgbClr val="FFFFFF"/>
                </a:solidFill>
              </a:rPr>
              <a:t>Unipolar ve Bipolar Derivasyonlar</a:t>
            </a:r>
          </a:p>
        </p:txBody>
      </p:sp>
      <p:sp useBgFill="1">
        <p:nvSpPr>
          <p:cNvPr id="15376" name="Snip Diagonal Corner Rectangle 21">
            <a:extLst>
              <a:ext uri="{FF2B5EF4-FFF2-40B4-BE49-F238E27FC236}">
                <a16:creationId xmlns:a16="http://schemas.microsoft.com/office/drawing/2014/main" id="{79D5C3D0-88DD-405B-A549-4B5C3712E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212" y="641648"/>
            <a:ext cx="6575496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483993CF-AC17-4F76-AF30-6868A3B71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395" y="1097060"/>
            <a:ext cx="5154707" cy="4334162"/>
          </a:xfrm>
          <a:prstGeom prst="rect">
            <a:avLst/>
          </a:prstGeom>
        </p:spPr>
      </p:pic>
      <p:sp>
        <p:nvSpPr>
          <p:cNvPr id="3" name="Metin kutusu 2"/>
          <p:cNvSpPr txBox="1"/>
          <p:nvPr/>
        </p:nvSpPr>
        <p:spPr>
          <a:xfrm>
            <a:off x="7532710" y="1822449"/>
            <a:ext cx="3479419" cy="29225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286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200">
                <a:solidFill>
                  <a:srgbClr val="0F496F"/>
                </a:solidFill>
              </a:rPr>
              <a:t>Bipolar ekstremite derivasyonlarında iki farklı ekstremite elektrotu arasında oluşan potansiyel farklar kaydedilir.</a:t>
            </a:r>
          </a:p>
          <a:p>
            <a:pPr marL="2286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endParaRPr lang="en-US" sz="1200">
              <a:solidFill>
                <a:srgbClr val="0F496F"/>
              </a:solidFill>
            </a:endParaRPr>
          </a:p>
          <a:p>
            <a:pPr marL="2286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1200">
                <a:solidFill>
                  <a:srgbClr val="0F496F"/>
                </a:solidFill>
              </a:rPr>
              <a:t>Unipolar ekstremite derivasyonlarında, araştırıcı bir elektrot bir ekstremiteye diğeri ise diğer ekstremitelerdeki elektrotların birleştirildiği referans bir noktaya bağlanarak elektrotlar arasında oluşan farklar kaydedilir</a:t>
            </a:r>
          </a:p>
        </p:txBody>
      </p:sp>
      <p:grpSp>
        <p:nvGrpSpPr>
          <p:cNvPr id="15378" name="Group 15377">
            <a:extLst>
              <a:ext uri="{FF2B5EF4-FFF2-40B4-BE49-F238E27FC236}">
                <a16:creationId xmlns:a16="http://schemas.microsoft.com/office/drawing/2014/main" id="{B29E1950-A366-48B7-8DAB-726C0DE58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5379" name="Straight Connector 15378">
              <a:extLst>
                <a:ext uri="{FF2B5EF4-FFF2-40B4-BE49-F238E27FC236}">
                  <a16:creationId xmlns:a16="http://schemas.microsoft.com/office/drawing/2014/main" id="{624123CD-2156-4134-A3FB-C82036B5F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0" name="Straight Connector 15379">
              <a:extLst>
                <a:ext uri="{FF2B5EF4-FFF2-40B4-BE49-F238E27FC236}">
                  <a16:creationId xmlns:a16="http://schemas.microsoft.com/office/drawing/2014/main" id="{282DAEA8-4DC7-4972-8972-06976C61D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1" name="Straight Connector 15380">
              <a:extLst>
                <a:ext uri="{FF2B5EF4-FFF2-40B4-BE49-F238E27FC236}">
                  <a16:creationId xmlns:a16="http://schemas.microsoft.com/office/drawing/2014/main" id="{C33B16A3-1C35-4E6B-88DA-2A2550F94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2" name="Straight Connector 15381">
              <a:extLst>
                <a:ext uri="{FF2B5EF4-FFF2-40B4-BE49-F238E27FC236}">
                  <a16:creationId xmlns:a16="http://schemas.microsoft.com/office/drawing/2014/main" id="{106381D1-240B-4A28-88D3-6ACC575DC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3" name="Straight Connector 15382">
              <a:extLst>
                <a:ext uri="{FF2B5EF4-FFF2-40B4-BE49-F238E27FC236}">
                  <a16:creationId xmlns:a16="http://schemas.microsoft.com/office/drawing/2014/main" id="{7C8CFC7B-B818-47F0-AE87-6B34B07D1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24495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lim">
  <a:themeElements>
    <a:clrScheme name="Dilim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Dilim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lim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632</TotalTime>
  <Words>835</Words>
  <Application>Microsoft Office PowerPoint</Application>
  <PresentationFormat>Geniş ekran</PresentationFormat>
  <Paragraphs>101</Paragraphs>
  <Slides>18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4" baseType="lpstr">
      <vt:lpstr>Arial</vt:lpstr>
      <vt:lpstr>Calibri</vt:lpstr>
      <vt:lpstr>Century Gothic</vt:lpstr>
      <vt:lpstr>Wingdings</vt:lpstr>
      <vt:lpstr>Wingdings 3</vt:lpstr>
      <vt:lpstr>Dilim</vt:lpstr>
      <vt:lpstr>Elektrokardiogram</vt:lpstr>
      <vt:lpstr>Anatomik Yerleşim</vt:lpstr>
      <vt:lpstr>Kalbin Temel Görevleri</vt:lpstr>
      <vt:lpstr>Kalbin Katmanları</vt:lpstr>
      <vt:lpstr>Kalbin Odacıkları</vt:lpstr>
      <vt:lpstr>Kalbin özel ileti sistemi</vt:lpstr>
      <vt:lpstr>Sinoatriyel düğüm</vt:lpstr>
      <vt:lpstr>Sinoatriyel Düğüm</vt:lpstr>
      <vt:lpstr>Atriyoventriküler Düğüm</vt:lpstr>
      <vt:lpstr>Atriyoventriküler Düğüm</vt:lpstr>
      <vt:lpstr>His Demetleri</vt:lpstr>
      <vt:lpstr>Pürkinje İplikçikleri</vt:lpstr>
      <vt:lpstr>EKG Nedir?</vt:lpstr>
      <vt:lpstr>EKG Nedir?</vt:lpstr>
      <vt:lpstr>EKG nin Temel Kuralları</vt:lpstr>
      <vt:lpstr>EKG Elektrotları</vt:lpstr>
      <vt:lpstr>Einthoven Üçgeni ve Derivasyonlar</vt:lpstr>
      <vt:lpstr>Unipolar ve Bipolar Derivasyonlar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Fizyolab1</dc:creator>
  <cp:lastModifiedBy>Mehmet Fatih KARAKAŞ</cp:lastModifiedBy>
  <cp:revision>53</cp:revision>
  <dcterms:created xsi:type="dcterms:W3CDTF">2017-11-03T09:33:25Z</dcterms:created>
  <dcterms:modified xsi:type="dcterms:W3CDTF">2026-04-03T06:46:40Z</dcterms:modified>
</cp:coreProperties>
</file>