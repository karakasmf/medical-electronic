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61" r:id="rId4"/>
    <p:sldId id="262" r:id="rId5"/>
    <p:sldId id="265" r:id="rId6"/>
    <p:sldId id="263" r:id="rId7"/>
    <p:sldId id="264" r:id="rId8"/>
    <p:sldId id="260" r:id="rId9"/>
    <p:sldId id="266" r:id="rId10"/>
    <p:sldId id="267" r:id="rId11"/>
    <p:sldId id="268" r:id="rId12"/>
    <p:sldId id="269" r:id="rId13"/>
    <p:sldId id="270" r:id="rId14"/>
    <p:sldId id="271" r:id="rId15"/>
    <p:sldId id="272" r:id="rId16"/>
    <p:sldId id="273" r:id="rId17"/>
    <p:sldId id="274" r:id="rId18"/>
    <p:sldId id="25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8442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2341790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930079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8FAD37E2-8215-47E5-BDA5-AEF570CF0355}" type="datetimeFigureOut">
              <a:rPr lang="tr-TR" smtClean="0"/>
              <a:t>28.03.2026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2425979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8FAD37E2-8215-47E5-BDA5-AEF570CF0355}" type="datetimeFigureOut">
              <a:rPr lang="tr-TR" smtClean="0"/>
              <a:t>28.03.2026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612615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8FAD37E2-8215-47E5-BDA5-AEF570CF0355}" type="datetimeFigureOut">
              <a:rPr lang="tr-TR" smtClean="0"/>
              <a:t>28.03.2026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786105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D37E2-8215-47E5-BDA5-AEF570CF0355}" type="datetimeFigureOut">
              <a:rPr lang="tr-TR" smtClean="0"/>
              <a:t>28.03.2026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2196413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FAD37E2-8215-47E5-BDA5-AEF570CF0355}" type="datetimeFigureOut">
              <a:rPr lang="tr-TR" smtClean="0"/>
              <a:t>28.03.2026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3102567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8FAD37E2-8215-47E5-BDA5-AEF570CF0355}" type="datetimeFigureOut">
              <a:rPr lang="tr-TR" smtClean="0"/>
              <a:t>28.03.2026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67355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8FAD37E2-8215-47E5-BDA5-AEF570CF0355}" type="datetimeFigureOut">
              <a:rPr lang="tr-TR" smtClean="0"/>
              <a:t>28.03.2026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315470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3922739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48625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6591152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345155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2561004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27714968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8FAD37E2-8215-47E5-BDA5-AEF570CF0355}" type="datetimeFigureOut">
              <a:rPr lang="tr-TR" smtClean="0"/>
              <a:t>28.03.2026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087825C-929F-4A5C-9950-06F3090A4A0B}" type="slidenum">
              <a:rPr lang="tr-TR" smtClean="0"/>
              <a:t>‹#›</a:t>
            </a:fld>
            <a:endParaRPr lang="tr-TR"/>
          </a:p>
        </p:txBody>
      </p:sp>
    </p:spTree>
    <p:extLst>
      <p:ext uri="{BB962C8B-B14F-4D97-AF65-F5344CB8AC3E}">
        <p14:creationId xmlns:p14="http://schemas.microsoft.com/office/powerpoint/2010/main" val="2372460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8FAD37E2-8215-47E5-BDA5-AEF570CF0355}" type="datetimeFigureOut">
              <a:rPr lang="tr-TR" smtClean="0"/>
              <a:t>28.03.2026</a:t>
            </a:fld>
            <a:endParaRPr lang="tr-TR"/>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tr-TR"/>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087825C-929F-4A5C-9950-06F3090A4A0B}" type="slidenum">
              <a:rPr lang="tr-TR" smtClean="0"/>
              <a:t>‹#›</a:t>
            </a:fld>
            <a:endParaRPr lang="tr-TR"/>
          </a:p>
        </p:txBody>
      </p:sp>
    </p:spTree>
    <p:extLst>
      <p:ext uri="{BB962C8B-B14F-4D97-AF65-F5344CB8AC3E}">
        <p14:creationId xmlns:p14="http://schemas.microsoft.com/office/powerpoint/2010/main" val="349492525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97986E7-0E3C-4F64-886E-935DDCB83A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73033" y="1420238"/>
            <a:ext cx="4415786" cy="4751961"/>
            <a:chOff x="9206969" y="2963333"/>
            <a:chExt cx="2981858" cy="3208867"/>
          </a:xfrm>
        </p:grpSpPr>
        <p:cxnSp>
          <p:nvCxnSpPr>
            <p:cNvPr id="11" name="Straight Connector 10">
              <a:extLst>
                <a:ext uri="{FF2B5EF4-FFF2-40B4-BE49-F238E27FC236}">
                  <a16:creationId xmlns:a16="http://schemas.microsoft.com/office/drawing/2014/main" id="{B903D17F-F79E-40E5-9563-A1CFFCC06A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A5D5775-627F-4588-82B3-905EDF2313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D7F2A20-5DE4-4BC0-91EA-5FFE33A4D3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D536BA0-56C7-429C-B41E-B5724F0CD4C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F15726F-71BE-4007-B9B6-0A1AA0D520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2" name="Başlık 1">
            <a:extLst>
              <a:ext uri="{FF2B5EF4-FFF2-40B4-BE49-F238E27FC236}">
                <a16:creationId xmlns:a16="http://schemas.microsoft.com/office/drawing/2014/main" id="{91587B6F-4152-B440-9437-A14C438BDEE5}"/>
              </a:ext>
            </a:extLst>
          </p:cNvPr>
          <p:cNvSpPr>
            <a:spLocks noGrp="1"/>
          </p:cNvSpPr>
          <p:nvPr>
            <p:ph type="ctrTitle"/>
          </p:nvPr>
        </p:nvSpPr>
        <p:spPr>
          <a:xfrm>
            <a:off x="684211" y="685799"/>
            <a:ext cx="8420877" cy="2971801"/>
          </a:xfrm>
        </p:spPr>
        <p:txBody>
          <a:bodyPr>
            <a:normAutofit/>
          </a:bodyPr>
          <a:lstStyle/>
          <a:p>
            <a:r>
              <a:rPr lang="tr-TR" dirty="0" err="1"/>
              <a:t>Elektromiyogram</a:t>
            </a:r>
            <a:endParaRPr lang="tr-TR" dirty="0"/>
          </a:p>
        </p:txBody>
      </p:sp>
    </p:spTree>
    <p:extLst>
      <p:ext uri="{BB962C8B-B14F-4D97-AF65-F5344CB8AC3E}">
        <p14:creationId xmlns:p14="http://schemas.microsoft.com/office/powerpoint/2010/main" val="262110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454695E-5EEA-1D1B-B0DB-427BB2254E17}"/>
              </a:ext>
            </a:extLst>
          </p:cNvPr>
          <p:cNvSpPr>
            <a:spLocks noGrp="1"/>
          </p:cNvSpPr>
          <p:nvPr>
            <p:ph type="title"/>
          </p:nvPr>
        </p:nvSpPr>
        <p:spPr>
          <a:xfrm>
            <a:off x="684212" y="485244"/>
            <a:ext cx="8534400" cy="1507067"/>
          </a:xfrm>
        </p:spPr>
        <p:txBody>
          <a:bodyPr>
            <a:normAutofit/>
          </a:bodyPr>
          <a:lstStyle/>
          <a:p>
            <a:r>
              <a:rPr lang="tr-TR" dirty="0"/>
              <a:t>EMG</a:t>
            </a:r>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FF14E90F-A441-3B8B-4D80-3EA006E36410}"/>
              </a:ext>
            </a:extLst>
          </p:cNvPr>
          <p:cNvSpPr>
            <a:spLocks noGrp="1"/>
          </p:cNvSpPr>
          <p:nvPr>
            <p:ph idx="1"/>
          </p:nvPr>
        </p:nvSpPr>
        <p:spPr>
          <a:xfrm>
            <a:off x="684212" y="2068511"/>
            <a:ext cx="8534400" cy="3615267"/>
          </a:xfrm>
        </p:spPr>
        <p:txBody>
          <a:bodyPr>
            <a:normAutofit/>
          </a:bodyPr>
          <a:lstStyle/>
          <a:p>
            <a:r>
              <a:rPr lang="tr-TR" dirty="0" err="1">
                <a:solidFill>
                  <a:schemeClr val="tx1"/>
                </a:solidFill>
              </a:rPr>
              <a:t>Elektromiyogram</a:t>
            </a:r>
            <a:r>
              <a:rPr lang="tr-TR" dirty="0">
                <a:solidFill>
                  <a:schemeClr val="tx1"/>
                </a:solidFill>
              </a:rPr>
              <a:t>, kasların dinlenme ve kasılma durumlarında üzerlerinde oluşan elektriksel aktivite olarak tanımlanır. Bu aktiviteyi kaydeden sisteme </a:t>
            </a:r>
            <a:r>
              <a:rPr lang="tr-TR" dirty="0" err="1">
                <a:solidFill>
                  <a:schemeClr val="tx1"/>
                </a:solidFill>
              </a:rPr>
              <a:t>elektromiyograf</a:t>
            </a:r>
            <a:r>
              <a:rPr lang="tr-TR" dirty="0">
                <a:solidFill>
                  <a:schemeClr val="tx1"/>
                </a:solidFill>
              </a:rPr>
              <a:t> ve bu işleme de elektromiyografi (EMG) denir. </a:t>
            </a:r>
          </a:p>
          <a:p>
            <a:endParaRPr lang="tr-TR" dirty="0">
              <a:solidFill>
                <a:schemeClr val="tx1"/>
              </a:solidFill>
            </a:endParaRPr>
          </a:p>
        </p:txBody>
      </p:sp>
    </p:spTree>
    <p:extLst>
      <p:ext uri="{BB962C8B-B14F-4D97-AF65-F5344CB8AC3E}">
        <p14:creationId xmlns:p14="http://schemas.microsoft.com/office/powerpoint/2010/main" val="221404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F4E830A-06F9-4EAA-9E65-110CF2421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r iskelet 'in radiologic rakamı">
            <a:extLst>
              <a:ext uri="{FF2B5EF4-FFF2-40B4-BE49-F238E27FC236}">
                <a16:creationId xmlns:a16="http://schemas.microsoft.com/office/drawing/2014/main" id="{121F6C49-F8F5-7054-58A1-BFDDD3BF3EE3}"/>
              </a:ext>
            </a:extLst>
          </p:cNvPr>
          <p:cNvPicPr>
            <a:picLocks noChangeAspect="1"/>
          </p:cNvPicPr>
          <p:nvPr/>
        </p:nvPicPr>
        <p:blipFill>
          <a:blip r:embed="rId2">
            <a:alphaModFix amt="35000"/>
          </a:blip>
          <a:srcRect t="7547" b="7547"/>
          <a:stretch>
            <a:fillRect/>
          </a:stretch>
        </p:blipFill>
        <p:spPr>
          <a:xfrm>
            <a:off x="3174" y="10"/>
            <a:ext cx="12192000" cy="6857990"/>
          </a:xfrm>
          <a:prstGeom prst="rect">
            <a:avLst/>
          </a:prstGeom>
        </p:spPr>
      </p:pic>
      <p:sp>
        <p:nvSpPr>
          <p:cNvPr id="3" name="İçerik Yer Tutucusu 2">
            <a:extLst>
              <a:ext uri="{FF2B5EF4-FFF2-40B4-BE49-F238E27FC236}">
                <a16:creationId xmlns:a16="http://schemas.microsoft.com/office/drawing/2014/main" id="{69821646-B27C-8BBF-3B39-BC19CDF320EA}"/>
              </a:ext>
            </a:extLst>
          </p:cNvPr>
          <p:cNvSpPr>
            <a:spLocks noGrp="1"/>
          </p:cNvSpPr>
          <p:nvPr>
            <p:ph idx="1"/>
          </p:nvPr>
        </p:nvSpPr>
        <p:spPr>
          <a:xfrm>
            <a:off x="684212" y="685800"/>
            <a:ext cx="8534400" cy="3615267"/>
          </a:xfrm>
        </p:spPr>
        <p:txBody>
          <a:bodyPr>
            <a:normAutofit/>
          </a:bodyPr>
          <a:lstStyle/>
          <a:p>
            <a:pPr>
              <a:lnSpc>
                <a:spcPct val="90000"/>
              </a:lnSpc>
            </a:pPr>
            <a:r>
              <a:rPr lang="tr-TR" altLang="tr-TR">
                <a:solidFill>
                  <a:schemeClr val="tx1"/>
                </a:solidFill>
              </a:rPr>
              <a:t>Üç tip kas vardır ve bunlar </a:t>
            </a:r>
            <a:r>
              <a:rPr lang="tr-TR" altLang="tr-TR" b="1" u="sng">
                <a:solidFill>
                  <a:schemeClr val="tx1"/>
                </a:solidFill>
              </a:rPr>
              <a:t>çizgili kaslar</a:t>
            </a:r>
            <a:r>
              <a:rPr lang="tr-TR" altLang="tr-TR">
                <a:solidFill>
                  <a:schemeClr val="tx1"/>
                </a:solidFill>
              </a:rPr>
              <a:t>, </a:t>
            </a:r>
            <a:r>
              <a:rPr lang="tr-TR" altLang="tr-TR" b="1" u="sng">
                <a:solidFill>
                  <a:schemeClr val="tx1"/>
                </a:solidFill>
              </a:rPr>
              <a:t>düz kaslar</a:t>
            </a:r>
            <a:r>
              <a:rPr lang="tr-TR" altLang="tr-TR">
                <a:solidFill>
                  <a:schemeClr val="tx1"/>
                </a:solidFill>
              </a:rPr>
              <a:t> ve </a:t>
            </a:r>
            <a:r>
              <a:rPr lang="tr-TR" altLang="tr-TR" b="1" u="sng">
                <a:solidFill>
                  <a:schemeClr val="tx1"/>
                </a:solidFill>
              </a:rPr>
              <a:t>kalp kasları</a:t>
            </a:r>
            <a:r>
              <a:rPr lang="tr-TR" altLang="tr-TR">
                <a:solidFill>
                  <a:schemeClr val="tx1"/>
                </a:solidFill>
              </a:rPr>
              <a:t> olarak adlandırılır .</a:t>
            </a:r>
            <a:endParaRPr lang="en-US" altLang="tr-TR">
              <a:solidFill>
                <a:schemeClr val="tx1"/>
              </a:solidFill>
            </a:endParaRPr>
          </a:p>
          <a:p>
            <a:pPr lvl="1">
              <a:lnSpc>
                <a:spcPct val="90000"/>
              </a:lnSpc>
              <a:spcBef>
                <a:spcPct val="50000"/>
              </a:spcBef>
            </a:pPr>
            <a:r>
              <a:rPr lang="tr-TR" altLang="tr-TR">
                <a:solidFill>
                  <a:schemeClr val="tx1"/>
                </a:solidFill>
              </a:rPr>
              <a:t>Çizgili kaslar, insan vücudunda, istemli hareketlerin gerçekleşmesini sağlayan iskelet kaslarıdır</a:t>
            </a:r>
            <a:r>
              <a:rPr lang="en-US" altLang="tr-TR">
                <a:solidFill>
                  <a:schemeClr val="tx1"/>
                </a:solidFill>
              </a:rPr>
              <a:t> </a:t>
            </a:r>
            <a:r>
              <a:rPr lang="tr-TR" altLang="tr-TR">
                <a:solidFill>
                  <a:schemeClr val="tx1"/>
                </a:solidFill>
              </a:rPr>
              <a:t>.</a:t>
            </a:r>
          </a:p>
          <a:p>
            <a:pPr lvl="1">
              <a:lnSpc>
                <a:spcPct val="90000"/>
              </a:lnSpc>
              <a:spcBef>
                <a:spcPct val="50000"/>
              </a:spcBef>
            </a:pPr>
            <a:r>
              <a:rPr lang="tr-TR" altLang="tr-TR">
                <a:solidFill>
                  <a:schemeClr val="tx1"/>
                </a:solidFill>
              </a:rPr>
              <a:t>Düz ve kalp kasları ise istemsiz hareket kaslarıdır.</a:t>
            </a:r>
          </a:p>
          <a:p>
            <a:pPr>
              <a:lnSpc>
                <a:spcPct val="90000"/>
              </a:lnSpc>
            </a:pPr>
            <a:r>
              <a:rPr lang="tr-TR" altLang="tr-TR">
                <a:solidFill>
                  <a:schemeClr val="tx1"/>
                </a:solidFill>
              </a:rPr>
              <a:t>İstemli kas hareketleri, beyinde oluşturulan elektriksel uyarıların sinirler vasıtasıyla kaslara iletilmesi sonucunda meydana gelir. Kas liflerinin kasılmalarına sinirlerden gelen elektriksel uyarılar sebep olduğu gibi, kasların kasılması da yine elektriksel bir işaretin ortaya çıkmasına sebep olur. Ortaya çıkan bu işaret Elektromiyogram cihazına bağlı elektrotlar aracılığıyla ölçülür. </a:t>
            </a:r>
          </a:p>
        </p:txBody>
      </p:sp>
    </p:spTree>
    <p:extLst>
      <p:ext uri="{BB962C8B-B14F-4D97-AF65-F5344CB8AC3E}">
        <p14:creationId xmlns:p14="http://schemas.microsoft.com/office/powerpoint/2010/main" val="1109535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8"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CCF87D7E-D76B-2075-9E01-B3126ADB6F64}"/>
              </a:ext>
            </a:extLst>
          </p:cNvPr>
          <p:cNvSpPr>
            <a:spLocks noGrp="1"/>
          </p:cNvSpPr>
          <p:nvPr>
            <p:ph idx="1"/>
          </p:nvPr>
        </p:nvSpPr>
        <p:spPr>
          <a:xfrm>
            <a:off x="684212" y="2068511"/>
            <a:ext cx="8534400" cy="3615267"/>
          </a:xfrm>
        </p:spPr>
        <p:txBody>
          <a:bodyPr>
            <a:normAutofit/>
          </a:bodyPr>
          <a:lstStyle/>
          <a:p>
            <a:pPr>
              <a:lnSpc>
                <a:spcPct val="90000"/>
              </a:lnSpc>
            </a:pPr>
            <a:r>
              <a:rPr lang="tr-TR" sz="1700">
                <a:solidFill>
                  <a:schemeClr val="tx1"/>
                </a:solidFill>
              </a:rPr>
              <a:t>EMG işaretlerinin temel kaynağı </a:t>
            </a:r>
            <a:r>
              <a:rPr lang="tr-TR" sz="1700" b="1">
                <a:solidFill>
                  <a:schemeClr val="tx1"/>
                </a:solidFill>
              </a:rPr>
              <a:t>Motor Ünite (MU)</a:t>
            </a:r>
            <a:r>
              <a:rPr lang="tr-TR" sz="1700">
                <a:solidFill>
                  <a:schemeClr val="tx1"/>
                </a:solidFill>
              </a:rPr>
              <a:t> dediğimiz yapıdır. Bir motor ünite, tek bir motor nöron ve onun uyardığı tüm kas liflerinden oluşur.</a:t>
            </a:r>
          </a:p>
          <a:p>
            <a:pPr>
              <a:lnSpc>
                <a:spcPct val="90000"/>
              </a:lnSpc>
            </a:pPr>
            <a:r>
              <a:rPr lang="tr-TR" sz="1700" b="1">
                <a:solidFill>
                  <a:schemeClr val="tx1"/>
                </a:solidFill>
              </a:rPr>
              <a:t>Aksiyon Potansiyeli:</a:t>
            </a:r>
            <a:r>
              <a:rPr lang="tr-TR" sz="1700">
                <a:solidFill>
                  <a:schemeClr val="tx1"/>
                </a:solidFill>
              </a:rPr>
              <a:t> Beyinden veya omurilikten gelen bir sinyal, motor sinir boyunca ilerler. Sinir ucuna ulaştığında, nöromüsküler kavşaktan asetilkolin salgılanır.</a:t>
            </a:r>
          </a:p>
          <a:p>
            <a:pPr>
              <a:lnSpc>
                <a:spcPct val="90000"/>
              </a:lnSpc>
            </a:pPr>
            <a:r>
              <a:rPr lang="tr-TR" sz="1700" b="1">
                <a:solidFill>
                  <a:schemeClr val="tx1"/>
                </a:solidFill>
              </a:rPr>
              <a:t>Depolarizasyon:</a:t>
            </a:r>
            <a:r>
              <a:rPr lang="tr-TR" sz="1700">
                <a:solidFill>
                  <a:schemeClr val="tx1"/>
                </a:solidFill>
              </a:rPr>
              <a:t> Bu kimyasal uyarı, kas lifi zarı boyunca bir elektriksel değişim (aksiyon potansiyeli) başlatır.</a:t>
            </a:r>
          </a:p>
          <a:p>
            <a:pPr>
              <a:lnSpc>
                <a:spcPct val="90000"/>
              </a:lnSpc>
            </a:pPr>
            <a:r>
              <a:rPr lang="tr-TR" sz="1700" b="1">
                <a:solidFill>
                  <a:schemeClr val="tx1"/>
                </a:solidFill>
              </a:rPr>
              <a:t>MUAP:</a:t>
            </a:r>
            <a:r>
              <a:rPr lang="tr-TR" sz="1700">
                <a:solidFill>
                  <a:schemeClr val="tx1"/>
                </a:solidFill>
              </a:rPr>
              <a:t> Tek bir motor ünitenin kasılmasıyla ortaya çıkan bu elektriksel toplama </a:t>
            </a:r>
            <a:r>
              <a:rPr lang="tr-TR" sz="1700" b="1">
                <a:solidFill>
                  <a:schemeClr val="tx1"/>
                </a:solidFill>
              </a:rPr>
              <a:t>Motor Ünite Aksiyon Potansiyeli (MUAP)</a:t>
            </a:r>
            <a:r>
              <a:rPr lang="tr-TR" sz="1700">
                <a:solidFill>
                  <a:schemeClr val="tx1"/>
                </a:solidFill>
              </a:rPr>
              <a:t> denir.</a:t>
            </a:r>
          </a:p>
          <a:p>
            <a:pPr>
              <a:lnSpc>
                <a:spcPct val="90000"/>
              </a:lnSpc>
            </a:pPr>
            <a:r>
              <a:rPr lang="tr-TR" sz="1700" b="1">
                <a:solidFill>
                  <a:schemeClr val="tx1"/>
                </a:solidFill>
              </a:rPr>
              <a:t>Girişim Deseni:</a:t>
            </a:r>
            <a:r>
              <a:rPr lang="tr-TR" sz="1700">
                <a:solidFill>
                  <a:schemeClr val="tx1"/>
                </a:solidFill>
              </a:rPr>
              <a:t> Kas daha güçlü kasıldıkça, daha fazla motor ünite devreye girer. EMG cihazıyla ölçtüğümüz karmaşık ve düzensiz görünen işaret, aslında birçok MUAP'ın uzay ve zaman içindeki toplamıdır.</a:t>
            </a:r>
          </a:p>
          <a:p>
            <a:pPr>
              <a:lnSpc>
                <a:spcPct val="90000"/>
              </a:lnSpc>
            </a:pPr>
            <a:endParaRPr lang="tr-TR" sz="1700">
              <a:solidFill>
                <a:schemeClr val="tx1"/>
              </a:solidFill>
            </a:endParaRPr>
          </a:p>
        </p:txBody>
      </p:sp>
    </p:spTree>
    <p:extLst>
      <p:ext uri="{BB962C8B-B14F-4D97-AF65-F5344CB8AC3E}">
        <p14:creationId xmlns:p14="http://schemas.microsoft.com/office/powerpoint/2010/main" val="3001851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82FDE7CB-A0B9-4C48-80CE-B61F4F9E2F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9" name="Straight Connector 28">
              <a:extLst>
                <a:ext uri="{FF2B5EF4-FFF2-40B4-BE49-F238E27FC236}">
                  <a16:creationId xmlns:a16="http://schemas.microsoft.com/office/drawing/2014/main" id="{A3258CC7-31A5-4656-A7C5-16CBDC97872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C3ADF9B-28A3-4312-A210-984E680D9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51D75538-7D02-42CE-8091-38ED0178C2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1A61D5E-676C-44A0-8EF0-D68EBB55F8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F19251D-8C13-48D6-8334-6FCBB4337C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35" name="Rectangle 34">
            <a:extLst>
              <a:ext uri="{FF2B5EF4-FFF2-40B4-BE49-F238E27FC236}">
                <a16:creationId xmlns:a16="http://schemas.microsoft.com/office/drawing/2014/main" id="{C8C7AE78-B569-4E9C-8EA3-8D19B0A00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Snip Diagonal Corner Rectangle 24">
            <a:extLst>
              <a:ext uri="{FF2B5EF4-FFF2-40B4-BE49-F238E27FC236}">
                <a16:creationId xmlns:a16="http://schemas.microsoft.com/office/drawing/2014/main" id="{CC070D07-FDFC-499A-8004-94AE18EF31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229" y="620722"/>
            <a:ext cx="10935543" cy="5286838"/>
          </a:xfrm>
          <a:prstGeom prst="snip2DiagRect">
            <a:avLst>
              <a:gd name="adj1" fmla="val 10787"/>
              <a:gd name="adj2" fmla="val 0"/>
            </a:avLst>
          </a:prstGeom>
          <a:solidFill>
            <a:srgbClr val="FFFFFF"/>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0AC44BAA-68DD-FF6E-AAA4-ED37D5750D0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200" r="4523"/>
          <a:stretch>
            <a:fillRect/>
          </a:stretch>
        </p:blipFill>
        <p:spPr>
          <a:xfrm>
            <a:off x="789096" y="781589"/>
            <a:ext cx="5226470" cy="4955408"/>
          </a:xfrm>
          <a:custGeom>
            <a:avLst/>
            <a:gdLst/>
            <a:ahLst/>
            <a:cxnLst/>
            <a:rect l="l" t="t" r="r" b="b"/>
            <a:pathLst>
              <a:path w="5226470" h="4955408">
                <a:moveTo>
                  <a:pt x="490693" y="0"/>
                </a:moveTo>
                <a:lnTo>
                  <a:pt x="5226470" y="0"/>
                </a:lnTo>
                <a:lnTo>
                  <a:pt x="5226470" y="4955408"/>
                </a:lnTo>
                <a:lnTo>
                  <a:pt x="0" y="4955408"/>
                </a:lnTo>
                <a:lnTo>
                  <a:pt x="0" y="481549"/>
                </a:lnTo>
                <a:close/>
              </a:path>
            </a:pathLst>
          </a:custGeom>
        </p:spPr>
      </p:pic>
      <p:pic>
        <p:nvPicPr>
          <p:cNvPr id="7" name="Resim 6">
            <a:extLst>
              <a:ext uri="{FF2B5EF4-FFF2-40B4-BE49-F238E27FC236}">
                <a16:creationId xmlns:a16="http://schemas.microsoft.com/office/drawing/2014/main" id="{2733F4EE-53D3-2773-D0CC-9561A57C3AD7}"/>
              </a:ext>
            </a:extLst>
          </p:cNvPr>
          <p:cNvPicPr>
            <a:picLocks noChangeAspect="1"/>
          </p:cNvPicPr>
          <p:nvPr/>
        </p:nvPicPr>
        <p:blipFill>
          <a:blip r:embed="rId3">
            <a:extLst>
              <a:ext uri="{28A0092B-C50C-407E-A947-70E740481C1C}">
                <a14:useLocalDpi xmlns:a14="http://schemas.microsoft.com/office/drawing/2010/main" val="0"/>
              </a:ext>
            </a:extLst>
          </a:blip>
          <a:srcRect l="1649" r="-2" b="-2"/>
          <a:stretch>
            <a:fillRect/>
          </a:stretch>
        </p:blipFill>
        <p:spPr>
          <a:xfrm>
            <a:off x="6176433" y="789546"/>
            <a:ext cx="5226470" cy="4955408"/>
          </a:xfrm>
          <a:custGeom>
            <a:avLst/>
            <a:gdLst/>
            <a:ahLst/>
            <a:cxnLst/>
            <a:rect l="l" t="t" r="r" b="b"/>
            <a:pathLst>
              <a:path w="5226470" h="4955408">
                <a:moveTo>
                  <a:pt x="0" y="0"/>
                </a:moveTo>
                <a:lnTo>
                  <a:pt x="5226470" y="0"/>
                </a:lnTo>
                <a:lnTo>
                  <a:pt x="5226470" y="4485508"/>
                </a:lnTo>
                <a:lnTo>
                  <a:pt x="4747647" y="4955408"/>
                </a:lnTo>
                <a:lnTo>
                  <a:pt x="0" y="4955408"/>
                </a:lnTo>
                <a:close/>
              </a:path>
            </a:pathLst>
          </a:custGeom>
        </p:spPr>
      </p:pic>
    </p:spTree>
    <p:extLst>
      <p:ext uri="{BB962C8B-B14F-4D97-AF65-F5344CB8AC3E}">
        <p14:creationId xmlns:p14="http://schemas.microsoft.com/office/powerpoint/2010/main" val="302762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DA0F67CC-E0DC-71A1-EC12-3B2F942FED9C}"/>
              </a:ext>
            </a:extLst>
          </p:cNvPr>
          <p:cNvSpPr>
            <a:spLocks noGrp="1"/>
          </p:cNvSpPr>
          <p:nvPr>
            <p:ph idx="1"/>
          </p:nvPr>
        </p:nvSpPr>
        <p:spPr>
          <a:xfrm>
            <a:off x="684212" y="2068511"/>
            <a:ext cx="8534400" cy="3615267"/>
          </a:xfrm>
        </p:spPr>
        <p:txBody>
          <a:bodyPr>
            <a:normAutofit/>
          </a:bodyPr>
          <a:lstStyle/>
          <a:p>
            <a:r>
              <a:rPr lang="tr-TR">
                <a:solidFill>
                  <a:schemeClr val="tx1"/>
                </a:solidFill>
              </a:rPr>
              <a:t>İki çeşit kas kasılması vardır. Eğer kas boyu sabit kalıp sadece şişerek kasılıyorsa buna statik (izometrik) kasılma, hem boyu kısalıp hem de şişerek kasılıyorsa buna da dinamik (izotonik) kasılma adı verilir. Kasa bir uyarı işareti geldikten sonra bir zaman gecikmesi ile önce kasılma ve ardından bir gevşeme oluşur.</a:t>
            </a:r>
          </a:p>
          <a:p>
            <a:endParaRPr lang="tr-TR">
              <a:solidFill>
                <a:schemeClr val="tx1"/>
              </a:solidFill>
            </a:endParaRPr>
          </a:p>
        </p:txBody>
      </p:sp>
    </p:spTree>
    <p:extLst>
      <p:ext uri="{BB962C8B-B14F-4D97-AF65-F5344CB8AC3E}">
        <p14:creationId xmlns:p14="http://schemas.microsoft.com/office/powerpoint/2010/main" val="4260086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12D8CD66-6E34-4232-868C-F61EC84AFC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52" name="Straight Connector 51">
              <a:extLst>
                <a:ext uri="{FF2B5EF4-FFF2-40B4-BE49-F238E27FC236}">
                  <a16:creationId xmlns:a16="http://schemas.microsoft.com/office/drawing/2014/main" id="{BA1EDB24-D25E-4498-9742-07355DA2B1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E5C3020-0F81-4919-9D1F-B6ED9A8353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83ECD783-8E88-4D10-99BD-C579F0CA2AD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29EDE005-2618-4634-B693-DAB7F60138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C4252634-CD2F-416D-80D4-1C184472B0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58" name="Rectangle 57">
            <a:extLst>
              <a:ext uri="{FF2B5EF4-FFF2-40B4-BE49-F238E27FC236}">
                <a16:creationId xmlns:a16="http://schemas.microsoft.com/office/drawing/2014/main" id="{43F8250A-B5BC-48E8-9E34-320C6AB61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Snip Diagonal Corner Rectangle 24">
            <a:extLst>
              <a:ext uri="{FF2B5EF4-FFF2-40B4-BE49-F238E27FC236}">
                <a16:creationId xmlns:a16="http://schemas.microsoft.com/office/drawing/2014/main" id="{A2829537-8D6E-4F27-8454-8F19BEA8C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229" y="620722"/>
            <a:ext cx="10935543"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5">
            <a:extLst>
              <a:ext uri="{FF2B5EF4-FFF2-40B4-BE49-F238E27FC236}">
                <a16:creationId xmlns:a16="http://schemas.microsoft.com/office/drawing/2014/main" id="{45ACDC67-9354-6E2B-2E62-D423EA05CF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421" r="2" b="18694"/>
          <a:stretch>
            <a:fillRect/>
          </a:stretch>
        </p:blipFill>
        <p:spPr bwMode="auto">
          <a:xfrm>
            <a:off x="792480" y="786117"/>
            <a:ext cx="10607040" cy="4956048"/>
          </a:xfrm>
          <a:custGeom>
            <a:avLst/>
            <a:gdLst/>
            <a:ahLst/>
            <a:cxnLst/>
            <a:rect l="l" t="t" r="r" b="b"/>
            <a:pathLst>
              <a:path w="10607040" h="4956048">
                <a:moveTo>
                  <a:pt x="497480" y="0"/>
                </a:moveTo>
                <a:lnTo>
                  <a:pt x="10607040" y="0"/>
                </a:lnTo>
                <a:lnTo>
                  <a:pt x="10607040" y="4485407"/>
                </a:lnTo>
                <a:lnTo>
                  <a:pt x="10131692" y="4956048"/>
                </a:lnTo>
                <a:lnTo>
                  <a:pt x="0" y="4956048"/>
                </a:lnTo>
                <a:lnTo>
                  <a:pt x="0" y="492554"/>
                </a:lnTo>
                <a:close/>
              </a:path>
            </a:pathLst>
          </a:cu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732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2D8CD66-6E34-4232-868C-F61EC84AFC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BA1EDB24-D25E-4498-9742-07355DA2B1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E5C3020-0F81-4919-9D1F-B6ED9A8353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3ECD783-8E88-4D10-99BD-C579F0CA2AD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9EDE005-2618-4634-B693-DAB7F60138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C4252634-CD2F-416D-80D4-1C184472B0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5" name="İçerik Yer Tutucusu 4">
            <a:extLst>
              <a:ext uri="{FF2B5EF4-FFF2-40B4-BE49-F238E27FC236}">
                <a16:creationId xmlns:a16="http://schemas.microsoft.com/office/drawing/2014/main" id="{068ADFBB-2500-73CF-CE89-EDD116D831A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111" r="1" b="1"/>
          <a:stretch>
            <a:fillRect/>
          </a:stretch>
        </p:blipFill>
        <p:spPr>
          <a:xfrm>
            <a:off x="20" y="10"/>
            <a:ext cx="12191980" cy="6857990"/>
          </a:xfrm>
          <a:prstGeom prst="rect">
            <a:avLst/>
          </a:prstGeom>
        </p:spPr>
      </p:pic>
    </p:spTree>
    <p:extLst>
      <p:ext uri="{BB962C8B-B14F-4D97-AF65-F5344CB8AC3E}">
        <p14:creationId xmlns:p14="http://schemas.microsoft.com/office/powerpoint/2010/main" val="3324415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0D9386EC-4539-4324-5A78-DE19279FDE28}"/>
              </a:ext>
            </a:extLst>
          </p:cNvPr>
          <p:cNvSpPr>
            <a:spLocks noGrp="1"/>
          </p:cNvSpPr>
          <p:nvPr>
            <p:ph idx="1"/>
          </p:nvPr>
        </p:nvSpPr>
        <p:spPr>
          <a:xfrm>
            <a:off x="684212" y="2068511"/>
            <a:ext cx="8534400" cy="3615267"/>
          </a:xfrm>
        </p:spPr>
        <p:txBody>
          <a:bodyPr>
            <a:normAutofit/>
          </a:bodyPr>
          <a:lstStyle/>
          <a:p>
            <a:pPr>
              <a:lnSpc>
                <a:spcPct val="90000"/>
              </a:lnSpc>
            </a:pPr>
            <a:r>
              <a:rPr lang="tr-TR" altLang="tr-TR" sz="1400">
                <a:solidFill>
                  <a:schemeClr val="tx1"/>
                </a:solidFill>
              </a:rPr>
              <a:t>Sinir ve kas hücreleri uyarılabilen hücrelerdir ve bu hücrelerdeki elektrokimyasal olaylar sonucunda biyoelektrik potansiyeller ortaya çıkar. Bu hücreler sürekli bir </a:t>
            </a:r>
            <a:r>
              <a:rPr lang="tr-TR" altLang="tr-TR" sz="1400" u="sng">
                <a:solidFill>
                  <a:schemeClr val="tx1"/>
                </a:solidFill>
              </a:rPr>
              <a:t>“dinlenme</a:t>
            </a:r>
            <a:r>
              <a:rPr lang="tr-TR" altLang="tr-TR" sz="1400">
                <a:solidFill>
                  <a:schemeClr val="tx1"/>
                </a:solidFill>
              </a:rPr>
              <a:t>” potansiyeline sahiptir. Uyarıldıklarında ise “aksiyon” potansiyeli meydana gelir. Dinlenme halinde uyarılan hücrelerin içi ve dış ortam arasında genliği </a:t>
            </a:r>
            <a:r>
              <a:rPr lang="tr-TR" altLang="tr-TR" sz="1400" u="sng">
                <a:solidFill>
                  <a:schemeClr val="tx1"/>
                </a:solidFill>
              </a:rPr>
              <a:t>-50mV ile -120mV</a:t>
            </a:r>
            <a:r>
              <a:rPr lang="tr-TR" altLang="tr-TR" sz="1400">
                <a:solidFill>
                  <a:schemeClr val="tx1"/>
                </a:solidFill>
              </a:rPr>
              <a:t> arasında değişen bir elektrik potansiyel farkı vardır. Vücut ısısındaki iyonları geçirebilen bir yapıya sahip olan hücre zarı çok incedir (7-15 nm). Vücut sıvısı içinde Sodyum(Na+) Potasyum (K+) ve Klor (Cl-) iyonları mevcuttur.</a:t>
            </a:r>
          </a:p>
          <a:p>
            <a:pPr>
              <a:lnSpc>
                <a:spcPct val="90000"/>
              </a:lnSpc>
            </a:pPr>
            <a:r>
              <a:rPr lang="tr-TR" altLang="tr-TR" sz="1400">
                <a:solidFill>
                  <a:schemeClr val="tx1"/>
                </a:solidFill>
              </a:rPr>
              <a:t>Hücre uyarıldığında, hücre zarının özelliği değişerek Na+ iyonlarının hücre içine girmesine ve az bir miktar K+ iyonunun dışarı çıkmasına izin verir. Bunun sonucunda hücre içi pozitif, dışı ise negatif olur. Bu olaya</a:t>
            </a:r>
            <a:r>
              <a:rPr lang="tr-TR" altLang="tr-TR" sz="1400" b="1">
                <a:solidFill>
                  <a:schemeClr val="tx1"/>
                </a:solidFill>
              </a:rPr>
              <a:t> </a:t>
            </a:r>
            <a:r>
              <a:rPr lang="tr-TR" altLang="tr-TR" sz="1400" b="1" i="1">
                <a:solidFill>
                  <a:schemeClr val="tx1"/>
                </a:solidFill>
              </a:rPr>
              <a:t>depolarizasyo</a:t>
            </a:r>
            <a:r>
              <a:rPr lang="tr-TR" altLang="tr-TR" sz="1400" b="1">
                <a:solidFill>
                  <a:schemeClr val="tx1"/>
                </a:solidFill>
              </a:rPr>
              <a:t>n</a:t>
            </a:r>
            <a:r>
              <a:rPr lang="tr-TR" altLang="tr-TR" sz="1400">
                <a:solidFill>
                  <a:schemeClr val="tx1"/>
                </a:solidFill>
              </a:rPr>
              <a:t>  denir.</a:t>
            </a:r>
            <a:endParaRPr lang="en-US" altLang="tr-TR" sz="1400">
              <a:solidFill>
                <a:schemeClr val="tx1"/>
              </a:solidFill>
            </a:endParaRPr>
          </a:p>
          <a:p>
            <a:pPr>
              <a:lnSpc>
                <a:spcPct val="90000"/>
              </a:lnSpc>
              <a:spcBef>
                <a:spcPct val="50000"/>
              </a:spcBef>
            </a:pPr>
            <a:r>
              <a:rPr lang="tr-TR" altLang="tr-TR" sz="1400">
                <a:solidFill>
                  <a:schemeClr val="tx1"/>
                </a:solidFill>
              </a:rPr>
              <a:t>Aksiyon potansiyeli belirli bir tepe değere ulaştıktan sonra, yukarıda anlatılan olaylar tersine işler ve tekrar dinlenme potansiyeli seviyesine düşer. Bu olaya ise </a:t>
            </a:r>
            <a:r>
              <a:rPr lang="tr-TR" altLang="tr-TR" sz="1400" b="1" i="1">
                <a:solidFill>
                  <a:schemeClr val="tx1"/>
                </a:solidFill>
              </a:rPr>
              <a:t>repolarizasyo</a:t>
            </a:r>
            <a:r>
              <a:rPr lang="tr-TR" altLang="tr-TR" sz="1400">
                <a:solidFill>
                  <a:schemeClr val="tx1"/>
                </a:solidFill>
              </a:rPr>
              <a:t>n denir. </a:t>
            </a:r>
          </a:p>
          <a:p>
            <a:pPr>
              <a:lnSpc>
                <a:spcPct val="90000"/>
              </a:lnSpc>
              <a:spcBef>
                <a:spcPct val="50000"/>
              </a:spcBef>
            </a:pPr>
            <a:r>
              <a:rPr lang="tr-TR" altLang="tr-TR" sz="1400">
                <a:solidFill>
                  <a:schemeClr val="tx1"/>
                </a:solidFill>
              </a:rPr>
              <a:t>Aksiyon potansiyelinin depolarizasyon ve repolarizasyon olayları sırasında geçen 1-3 ms kadar süre içinde hücre tekrar uyarılamaz. </a:t>
            </a:r>
            <a:endParaRPr lang="en-US" altLang="tr-TR" sz="1400">
              <a:solidFill>
                <a:schemeClr val="tx1"/>
              </a:solidFill>
            </a:endParaRPr>
          </a:p>
          <a:p>
            <a:pPr>
              <a:lnSpc>
                <a:spcPct val="90000"/>
              </a:lnSpc>
            </a:pPr>
            <a:endParaRPr lang="tr-TR" sz="1400">
              <a:solidFill>
                <a:schemeClr val="tx1"/>
              </a:solidFill>
            </a:endParaRPr>
          </a:p>
        </p:txBody>
      </p:sp>
    </p:spTree>
    <p:extLst>
      <p:ext uri="{BB962C8B-B14F-4D97-AF65-F5344CB8AC3E}">
        <p14:creationId xmlns:p14="http://schemas.microsoft.com/office/powerpoint/2010/main" val="3907446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E9C5647F-BA98-D9D6-18F9-E4033D9D078F}"/>
              </a:ext>
            </a:extLst>
          </p:cNvPr>
          <p:cNvSpPr>
            <a:spLocks noGrp="1"/>
          </p:cNvSpPr>
          <p:nvPr>
            <p:ph idx="1"/>
          </p:nvPr>
        </p:nvSpPr>
        <p:spPr>
          <a:xfrm>
            <a:off x="684212" y="2068511"/>
            <a:ext cx="8534400" cy="3615267"/>
          </a:xfrm>
        </p:spPr>
        <p:txBody>
          <a:bodyPr>
            <a:normAutofit/>
          </a:bodyPr>
          <a:lstStyle/>
          <a:p>
            <a:pPr>
              <a:lnSpc>
                <a:spcPct val="90000"/>
              </a:lnSpc>
            </a:pPr>
            <a:r>
              <a:rPr lang="tr-TR" altLang="tr-TR" b="1">
                <a:solidFill>
                  <a:schemeClr val="tx1"/>
                </a:solidFill>
              </a:rPr>
              <a:t>Ortaya çıkan bu işaretin genliği düşük olduğundan kuvvetlendiriciler yardımıyla genliğinin artırılması gerekmektedir. Bu işaretlerin kuvvetlendirilmesinde farksal kuvvetlendiriciler kullanılır. </a:t>
            </a:r>
            <a:endParaRPr lang="en-US" altLang="tr-TR" b="1">
              <a:solidFill>
                <a:schemeClr val="tx1"/>
              </a:solidFill>
            </a:endParaRPr>
          </a:p>
          <a:p>
            <a:pPr>
              <a:lnSpc>
                <a:spcPct val="90000"/>
              </a:lnSpc>
            </a:pPr>
            <a:r>
              <a:rPr lang="tr-TR" altLang="tr-TR" b="1">
                <a:solidFill>
                  <a:schemeClr val="tx1"/>
                </a:solidFill>
              </a:rPr>
              <a:t>EMG işaretleri kas ve sinir hastalıklarının teşhislerinde kullanıldığı gibi, kol-bacak vb organ kesilmesi durumlarında kullanılan protezlere hareket sağlayacak kaynak işaret olarak da kullanılmaktadır. </a:t>
            </a:r>
            <a:endParaRPr lang="en-US" altLang="tr-TR" b="1">
              <a:solidFill>
                <a:schemeClr val="tx1"/>
              </a:solidFill>
            </a:endParaRPr>
          </a:p>
          <a:p>
            <a:pPr>
              <a:lnSpc>
                <a:spcPct val="90000"/>
              </a:lnSpc>
            </a:pPr>
            <a:r>
              <a:rPr lang="tr-TR" altLang="tr-TR" b="1">
                <a:solidFill>
                  <a:schemeClr val="tx1"/>
                </a:solidFill>
              </a:rPr>
              <a:t>EMG İşaretinin Ölçülmesinin Temelleri</a:t>
            </a:r>
            <a:r>
              <a:rPr lang="en-US" altLang="tr-TR">
                <a:solidFill>
                  <a:schemeClr val="tx1"/>
                </a:solidFill>
              </a:rPr>
              <a:t> </a:t>
            </a:r>
          </a:p>
          <a:p>
            <a:pPr>
              <a:lnSpc>
                <a:spcPct val="90000"/>
              </a:lnSpc>
            </a:pPr>
            <a:r>
              <a:rPr lang="tr-TR" altLang="tr-TR">
                <a:solidFill>
                  <a:schemeClr val="tx1"/>
                </a:solidFill>
              </a:rPr>
              <a:t>EMG işaretleri </a:t>
            </a:r>
            <a:r>
              <a:rPr lang="tr-TR" altLang="tr-TR" b="1" i="1">
                <a:solidFill>
                  <a:schemeClr val="tx1"/>
                </a:solidFill>
              </a:rPr>
              <a:t>yüzey elektrotları</a:t>
            </a:r>
            <a:r>
              <a:rPr lang="tr-TR" altLang="tr-TR">
                <a:solidFill>
                  <a:schemeClr val="tx1"/>
                </a:solidFill>
              </a:rPr>
              <a:t> ve </a:t>
            </a:r>
            <a:r>
              <a:rPr lang="tr-TR" altLang="tr-TR" b="1" i="1">
                <a:solidFill>
                  <a:schemeClr val="tx1"/>
                </a:solidFill>
              </a:rPr>
              <a:t>iğne elektrotlar</a:t>
            </a:r>
            <a:r>
              <a:rPr lang="tr-TR" altLang="tr-TR">
                <a:solidFill>
                  <a:schemeClr val="tx1"/>
                </a:solidFill>
              </a:rPr>
              <a:t> olmak üzere iki tip elektrot aracılığıyla</a:t>
            </a:r>
            <a:r>
              <a:rPr lang="en-US" altLang="tr-TR">
                <a:solidFill>
                  <a:schemeClr val="tx1"/>
                </a:solidFill>
              </a:rPr>
              <a:t> </a:t>
            </a:r>
          </a:p>
          <a:p>
            <a:pPr>
              <a:lnSpc>
                <a:spcPct val="90000"/>
              </a:lnSpc>
            </a:pPr>
            <a:endParaRPr lang="tr-TR">
              <a:solidFill>
                <a:schemeClr val="tx1"/>
              </a:solidFill>
            </a:endParaRPr>
          </a:p>
        </p:txBody>
      </p:sp>
    </p:spTree>
    <p:extLst>
      <p:ext uri="{BB962C8B-B14F-4D97-AF65-F5344CB8AC3E}">
        <p14:creationId xmlns:p14="http://schemas.microsoft.com/office/powerpoint/2010/main" val="1030458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103B461-323C-4912-BFFD-C375826620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FBC21318-F4F4-4524-95D1-6B7FE0A788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9FFA8E5-974F-409E-89C6-E185BD9093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384E2B1-7008-45EE-9F2E-FEF3A08978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4563410-7FE9-4955-89C6-0FB9326CD3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AD14C0E-D5DF-4BDC-BD92-642CFF180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7" name="Rectangle 16">
            <a:extLst>
              <a:ext uri="{FF2B5EF4-FFF2-40B4-BE49-F238E27FC236}">
                <a16:creationId xmlns:a16="http://schemas.microsoft.com/office/drawing/2014/main" id="{9A212F8F-D812-4A16-BE82-F3500DE32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nip Diagonal Corner Rectangle 24">
            <a:extLst>
              <a:ext uri="{FF2B5EF4-FFF2-40B4-BE49-F238E27FC236}">
                <a16:creationId xmlns:a16="http://schemas.microsoft.com/office/drawing/2014/main" id="{D2CF1D1B-04ED-443D-A9FE-68BF8859B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229" y="620722"/>
            <a:ext cx="10935543"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638EAE28-7282-271B-1DFA-BA8A7FAA5E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0247" y="786117"/>
            <a:ext cx="8091506" cy="4956048"/>
          </a:xfrm>
          <a:custGeom>
            <a:avLst/>
            <a:gdLst/>
            <a:ahLst/>
            <a:cxnLst/>
            <a:rect l="l" t="t" r="r" b="b"/>
            <a:pathLst>
              <a:path w="10607040" h="4956048">
                <a:moveTo>
                  <a:pt x="497480" y="0"/>
                </a:moveTo>
                <a:lnTo>
                  <a:pt x="10607040" y="0"/>
                </a:lnTo>
                <a:lnTo>
                  <a:pt x="10607040" y="4485407"/>
                </a:lnTo>
                <a:lnTo>
                  <a:pt x="10131692" y="4956048"/>
                </a:lnTo>
                <a:lnTo>
                  <a:pt x="0" y="4956048"/>
                </a:lnTo>
                <a:lnTo>
                  <a:pt x="0" y="492554"/>
                </a:lnTo>
                <a:close/>
              </a:path>
            </a:pathLst>
          </a:custGeom>
        </p:spPr>
      </p:pic>
    </p:spTree>
    <p:extLst>
      <p:ext uri="{BB962C8B-B14F-4D97-AF65-F5344CB8AC3E}">
        <p14:creationId xmlns:p14="http://schemas.microsoft.com/office/powerpoint/2010/main" val="2797462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87EEFE1D-CE41-0085-C659-12A736D9E6B6}"/>
              </a:ext>
            </a:extLst>
          </p:cNvPr>
          <p:cNvSpPr>
            <a:spLocks noGrp="1"/>
          </p:cNvSpPr>
          <p:nvPr>
            <p:ph idx="1"/>
          </p:nvPr>
        </p:nvSpPr>
        <p:spPr>
          <a:xfrm>
            <a:off x="684212" y="2068511"/>
            <a:ext cx="8534400" cy="3615267"/>
          </a:xfrm>
        </p:spPr>
        <p:txBody>
          <a:bodyPr>
            <a:normAutofit/>
          </a:bodyPr>
          <a:lstStyle/>
          <a:p>
            <a:pPr>
              <a:lnSpc>
                <a:spcPct val="90000"/>
              </a:lnSpc>
            </a:pPr>
            <a:r>
              <a:rPr lang="en-US" altLang="tr-TR">
                <a:solidFill>
                  <a:schemeClr val="tx1"/>
                </a:solidFill>
              </a:rPr>
              <a:t>İşaretin genliği (pp) 0-10mv arasında RMS olarak ise 0-1,5mv arasında değişir. </a:t>
            </a:r>
          </a:p>
          <a:p>
            <a:pPr>
              <a:lnSpc>
                <a:spcPct val="90000"/>
              </a:lnSpc>
            </a:pPr>
            <a:r>
              <a:rPr lang="en-US" altLang="tr-TR">
                <a:solidFill>
                  <a:schemeClr val="tx1"/>
                </a:solidFill>
              </a:rPr>
              <a:t>Kullanılabilir enerji aralığı 0-500 Hz aralığındadır fakat baskın olarak 50-150Hz arasında yoğunlaşmıştır. </a:t>
            </a:r>
          </a:p>
          <a:p>
            <a:pPr>
              <a:lnSpc>
                <a:spcPct val="90000"/>
              </a:lnSpc>
            </a:pPr>
            <a:r>
              <a:rPr lang="en-US" altLang="tr-TR">
                <a:solidFill>
                  <a:schemeClr val="tx1"/>
                </a:solidFill>
              </a:rPr>
              <a:t>Bu değerlerden sapma, işarete gürültünün binmesiyle olur. </a:t>
            </a:r>
          </a:p>
          <a:p>
            <a:pPr>
              <a:lnSpc>
                <a:spcPct val="90000"/>
              </a:lnSpc>
            </a:pPr>
            <a:r>
              <a:rPr lang="en-US" altLang="tr-TR">
                <a:solidFill>
                  <a:schemeClr val="tx1"/>
                </a:solidFill>
              </a:rPr>
              <a:t>EMG vücuttan özel elektrotlar yardımıyla algılanır. </a:t>
            </a:r>
          </a:p>
          <a:p>
            <a:pPr>
              <a:lnSpc>
                <a:spcPct val="90000"/>
              </a:lnSpc>
            </a:pPr>
            <a:r>
              <a:rPr lang="en-US" altLang="tr-TR">
                <a:solidFill>
                  <a:schemeClr val="tx1"/>
                </a:solidFill>
              </a:rPr>
              <a:t>Bu işaretlerin kuvvetlendirilmesinde fark (differansial) kuvvetlendiriciler kullanılır. </a:t>
            </a:r>
          </a:p>
          <a:p>
            <a:pPr>
              <a:lnSpc>
                <a:spcPct val="90000"/>
              </a:lnSpc>
            </a:pPr>
            <a:r>
              <a:rPr lang="en-US" altLang="tr-TR">
                <a:solidFill>
                  <a:schemeClr val="tx1"/>
                </a:solidFill>
              </a:rPr>
              <a:t>Zaman ve frekans domeninde ( düzleminde) değerlendirmeler yapılır</a:t>
            </a:r>
            <a:r>
              <a:rPr lang="tr-TR" altLang="tr-TR">
                <a:solidFill>
                  <a:schemeClr val="tx1"/>
                </a:solidFill>
              </a:rPr>
              <a:t>.</a:t>
            </a:r>
            <a:r>
              <a:rPr lang="en-US" altLang="tr-TR">
                <a:solidFill>
                  <a:schemeClr val="tx1"/>
                </a:solidFill>
              </a:rPr>
              <a:t> </a:t>
            </a:r>
          </a:p>
          <a:p>
            <a:pPr>
              <a:lnSpc>
                <a:spcPct val="90000"/>
              </a:lnSpc>
            </a:pPr>
            <a:endParaRPr lang="tr-TR">
              <a:solidFill>
                <a:schemeClr val="tx1"/>
              </a:solidFill>
            </a:endParaRPr>
          </a:p>
        </p:txBody>
      </p:sp>
    </p:spTree>
    <p:extLst>
      <p:ext uri="{BB962C8B-B14F-4D97-AF65-F5344CB8AC3E}">
        <p14:creationId xmlns:p14="http://schemas.microsoft.com/office/powerpoint/2010/main" val="1480898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4A12A17B-511E-8570-9509-71533AEF941D}"/>
              </a:ext>
            </a:extLst>
          </p:cNvPr>
          <p:cNvSpPr>
            <a:spLocks noGrp="1"/>
          </p:cNvSpPr>
          <p:nvPr>
            <p:ph idx="1"/>
          </p:nvPr>
        </p:nvSpPr>
        <p:spPr>
          <a:xfrm>
            <a:off x="684212" y="2068511"/>
            <a:ext cx="8534400" cy="3615267"/>
          </a:xfrm>
        </p:spPr>
        <p:txBody>
          <a:bodyPr>
            <a:normAutofit/>
          </a:bodyPr>
          <a:lstStyle/>
          <a:p>
            <a:pPr>
              <a:buFontTx/>
              <a:buNone/>
            </a:pPr>
            <a:r>
              <a:rPr lang="tr-TR" altLang="tr-TR">
                <a:solidFill>
                  <a:schemeClr val="tx1"/>
                </a:solidFill>
              </a:rPr>
              <a:t>	</a:t>
            </a:r>
            <a:r>
              <a:rPr lang="en-US" altLang="tr-TR">
                <a:solidFill>
                  <a:schemeClr val="tx1"/>
                </a:solidFill>
              </a:rPr>
              <a:t>Günümüzde EMG sinyalinin üç yaygın uygulaması vardır. Bunlar: </a:t>
            </a:r>
            <a:endParaRPr lang="tr-TR" altLang="tr-TR">
              <a:solidFill>
                <a:schemeClr val="tx1"/>
              </a:solidFill>
            </a:endParaRPr>
          </a:p>
          <a:p>
            <a:r>
              <a:rPr lang="en-US" altLang="tr-TR">
                <a:solidFill>
                  <a:schemeClr val="tx1"/>
                </a:solidFill>
              </a:rPr>
              <a:t>Kasın aktivasyon süresini belirleme yani kasın uyandırılmasının (uyarılması) başladığı ve bittiği süre zarfının belirlenmesi </a:t>
            </a:r>
          </a:p>
          <a:p>
            <a:r>
              <a:rPr lang="en-US" altLang="tr-TR">
                <a:solidFill>
                  <a:schemeClr val="tx1"/>
                </a:solidFill>
              </a:rPr>
              <a:t>Kas tarafından üretilen gücün belirlenmesi </a:t>
            </a:r>
          </a:p>
          <a:p>
            <a:r>
              <a:rPr lang="en-US" altLang="tr-TR">
                <a:solidFill>
                  <a:schemeClr val="tx1"/>
                </a:solidFill>
              </a:rPr>
              <a:t>Kas yorulmasının karşı geldiği frekans bant aralığının saptanması </a:t>
            </a:r>
          </a:p>
          <a:p>
            <a:endParaRPr lang="en-US" altLang="tr-TR">
              <a:solidFill>
                <a:schemeClr val="tx1"/>
              </a:solidFill>
            </a:endParaRPr>
          </a:p>
          <a:p>
            <a:endParaRPr lang="tr-TR">
              <a:solidFill>
                <a:schemeClr val="tx1"/>
              </a:solidFill>
            </a:endParaRPr>
          </a:p>
        </p:txBody>
      </p:sp>
    </p:spTree>
    <p:extLst>
      <p:ext uri="{BB962C8B-B14F-4D97-AF65-F5344CB8AC3E}">
        <p14:creationId xmlns:p14="http://schemas.microsoft.com/office/powerpoint/2010/main" val="1555129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103B461-323C-4912-BFFD-C375826620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FBC21318-F4F4-4524-95D1-6B7FE0A788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9FFA8E5-974F-409E-89C6-E185BD9093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384E2B1-7008-45EE-9F2E-FEF3A089780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4563410-7FE9-4955-89C6-0FB9326CD3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AD14C0E-D5DF-4BDC-BD92-642CFF180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7" name="Rectangle 16">
            <a:extLst>
              <a:ext uri="{FF2B5EF4-FFF2-40B4-BE49-F238E27FC236}">
                <a16:creationId xmlns:a16="http://schemas.microsoft.com/office/drawing/2014/main" id="{9A212F8F-D812-4A16-BE82-F3500DE32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nip Diagonal Corner Rectangle 24">
            <a:extLst>
              <a:ext uri="{FF2B5EF4-FFF2-40B4-BE49-F238E27FC236}">
                <a16:creationId xmlns:a16="http://schemas.microsoft.com/office/drawing/2014/main" id="{D2CF1D1B-04ED-443D-A9FE-68BF8859B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229" y="620722"/>
            <a:ext cx="10935543"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a:extLst>
              <a:ext uri="{FF2B5EF4-FFF2-40B4-BE49-F238E27FC236}">
                <a16:creationId xmlns:a16="http://schemas.microsoft.com/office/drawing/2014/main" id="{AF28EF86-FC31-989E-F100-0CA2FD2E33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5047" y="786117"/>
            <a:ext cx="9961905" cy="4956048"/>
          </a:xfrm>
          <a:custGeom>
            <a:avLst/>
            <a:gdLst/>
            <a:ahLst/>
            <a:cxnLst/>
            <a:rect l="l" t="t" r="r" b="b"/>
            <a:pathLst>
              <a:path w="10607040" h="4956048">
                <a:moveTo>
                  <a:pt x="497480" y="0"/>
                </a:moveTo>
                <a:lnTo>
                  <a:pt x="10607040" y="0"/>
                </a:lnTo>
                <a:lnTo>
                  <a:pt x="10607040" y="4485407"/>
                </a:lnTo>
                <a:lnTo>
                  <a:pt x="10131692" y="4956048"/>
                </a:lnTo>
                <a:lnTo>
                  <a:pt x="0" y="4956048"/>
                </a:lnTo>
                <a:lnTo>
                  <a:pt x="0" y="492554"/>
                </a:lnTo>
                <a:close/>
              </a:path>
            </a:pathLst>
          </a:custGeom>
        </p:spPr>
      </p:pic>
    </p:spTree>
    <p:extLst>
      <p:ext uri="{BB962C8B-B14F-4D97-AF65-F5344CB8AC3E}">
        <p14:creationId xmlns:p14="http://schemas.microsoft.com/office/powerpoint/2010/main" val="59708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6F819BF-BEC4-454B-82CF-C7F192640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17" name="Snip Diagonal Corner Rectangle 21">
            <a:extLst>
              <a:ext uri="{FF2B5EF4-FFF2-40B4-BE49-F238E27FC236}">
                <a16:creationId xmlns:a16="http://schemas.microsoft.com/office/drawing/2014/main" id="{79D5C3D0-88DD-405B-A549-4B5C3712E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12" y="641648"/>
            <a:ext cx="6575496" cy="5286838"/>
          </a:xfrm>
          <a:prstGeom prst="snip2DiagRect">
            <a:avLst>
              <a:gd name="adj1" fmla="val 8741"/>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5">
            <a:extLst>
              <a:ext uri="{FF2B5EF4-FFF2-40B4-BE49-F238E27FC236}">
                <a16:creationId xmlns:a16="http://schemas.microsoft.com/office/drawing/2014/main" id="{D6A7FEF7-D5BB-066D-A2F4-0A2F058B5CD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45792" y="1097060"/>
            <a:ext cx="4751913" cy="43341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İçerik Yer Tutucusu 8">
            <a:extLst>
              <a:ext uri="{FF2B5EF4-FFF2-40B4-BE49-F238E27FC236}">
                <a16:creationId xmlns:a16="http://schemas.microsoft.com/office/drawing/2014/main" id="{511D0B10-7411-835D-E982-615C2B97337F}"/>
              </a:ext>
            </a:extLst>
          </p:cNvPr>
          <p:cNvSpPr>
            <a:spLocks noGrp="1"/>
          </p:cNvSpPr>
          <p:nvPr>
            <p:ph idx="1"/>
          </p:nvPr>
        </p:nvSpPr>
        <p:spPr>
          <a:xfrm>
            <a:off x="7532710" y="1822449"/>
            <a:ext cx="3479419" cy="2922591"/>
          </a:xfrm>
        </p:spPr>
        <p:txBody>
          <a:bodyPr anchor="t">
            <a:normAutofit/>
          </a:bodyPr>
          <a:lstStyle/>
          <a:p>
            <a:r>
              <a:rPr lang="en-US" altLang="tr-TR" sz="1200">
                <a:solidFill>
                  <a:srgbClr val="0F496F"/>
                </a:solidFill>
              </a:rPr>
              <a:t>EMG işaretleri </a:t>
            </a:r>
            <a:r>
              <a:rPr lang="en-US" altLang="tr-TR" sz="1200" b="1" i="1">
                <a:solidFill>
                  <a:srgbClr val="0F496F"/>
                </a:solidFill>
              </a:rPr>
              <a:t>tek kutuplu </a:t>
            </a:r>
            <a:r>
              <a:rPr lang="en-US" altLang="tr-TR" sz="1200">
                <a:solidFill>
                  <a:srgbClr val="0F496F"/>
                </a:solidFill>
              </a:rPr>
              <a:t>(monopolar) ve </a:t>
            </a:r>
            <a:r>
              <a:rPr lang="en-US" altLang="tr-TR" sz="1200" b="1" i="1">
                <a:solidFill>
                  <a:srgbClr val="0F496F"/>
                </a:solidFill>
              </a:rPr>
              <a:t>çift kutuplu</a:t>
            </a:r>
            <a:r>
              <a:rPr lang="en-US" altLang="tr-TR" sz="1200">
                <a:solidFill>
                  <a:srgbClr val="0F496F"/>
                </a:solidFill>
              </a:rPr>
              <a:t> (bipolar) olarak alınabilir. Daha iyi sonuç vermesi sebebiyle bipolar mod daha sık tercih edilmektedir. EMG işaretlerinin monopolar ve bipolar modda algılama yöntemleri verilmiştir.</a:t>
            </a:r>
          </a:p>
          <a:p>
            <a:endParaRPr lang="tr-TR" sz="1200">
              <a:solidFill>
                <a:srgbClr val="0F496F"/>
              </a:solidFill>
            </a:endParaRPr>
          </a:p>
        </p:txBody>
      </p:sp>
      <p:grpSp>
        <p:nvGrpSpPr>
          <p:cNvPr id="19" name="Group 18">
            <a:extLst>
              <a:ext uri="{FF2B5EF4-FFF2-40B4-BE49-F238E27FC236}">
                <a16:creationId xmlns:a16="http://schemas.microsoft.com/office/drawing/2014/main" id="{B29E1950-A366-48B7-8DAB-726C0DE580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0" name="Straight Connector 19">
              <a:extLst>
                <a:ext uri="{FF2B5EF4-FFF2-40B4-BE49-F238E27FC236}">
                  <a16:creationId xmlns:a16="http://schemas.microsoft.com/office/drawing/2014/main" id="{624123CD-2156-4134-A3FB-C82036B5FA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82DAEA8-4DC7-4972-8972-06976C61D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33B16A3-1C35-4E6B-88DA-2A2550F941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106381D1-240B-4A28-88D3-6ACC575DCF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C8CFC7B-B818-47F0-AE87-6B34B07D14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7" name="Metin kutusu 6">
            <a:extLst>
              <a:ext uri="{FF2B5EF4-FFF2-40B4-BE49-F238E27FC236}">
                <a16:creationId xmlns:a16="http://schemas.microsoft.com/office/drawing/2014/main" id="{AC639F4F-FE78-21CB-8C43-BA30729C28DD}"/>
              </a:ext>
            </a:extLst>
          </p:cNvPr>
          <p:cNvSpPr txBox="1"/>
          <p:nvPr/>
        </p:nvSpPr>
        <p:spPr>
          <a:xfrm>
            <a:off x="6499654" y="733647"/>
            <a:ext cx="4419171" cy="3575884"/>
          </a:xfrm>
          <a:prstGeom prst="rect">
            <a:avLst/>
          </a:prstGeom>
        </p:spPr>
        <p:txBody>
          <a:bodyPr vert="horz" lIns="91440" tIns="45720" rIns="91440" bIns="45720" rtlCol="0" anchor="ctr">
            <a:normAutofit/>
          </a:bodyPr>
          <a:lstStyle/>
          <a:p>
            <a:pPr>
              <a:spcBef>
                <a:spcPct val="20000"/>
              </a:spcBef>
              <a:spcAft>
                <a:spcPts val="600"/>
              </a:spcAft>
              <a:buClr>
                <a:schemeClr val="tx1"/>
              </a:buClr>
              <a:buSzPct val="80000"/>
              <a:buFont typeface="Wingdings 3" panose="05040102010807070707" pitchFamily="18" charset="2"/>
              <a:buChar char=""/>
            </a:pPr>
            <a:endParaRPr lang="en-US" altLang="tr-TR" dirty="0">
              <a:solidFill>
                <a:schemeClr val="bg2">
                  <a:lumMod val="75000"/>
                </a:schemeClr>
              </a:solidFill>
            </a:endParaRPr>
          </a:p>
        </p:txBody>
      </p:sp>
    </p:spTree>
    <p:extLst>
      <p:ext uri="{BB962C8B-B14F-4D97-AF65-F5344CB8AC3E}">
        <p14:creationId xmlns:p14="http://schemas.microsoft.com/office/powerpoint/2010/main" val="1046531934"/>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8F30D168-0C9C-FA4E-3B91-7500AE39A9F9}"/>
              </a:ext>
            </a:extLst>
          </p:cNvPr>
          <p:cNvSpPr>
            <a:spLocks noGrp="1"/>
          </p:cNvSpPr>
          <p:nvPr>
            <p:ph idx="1"/>
          </p:nvPr>
        </p:nvSpPr>
        <p:spPr>
          <a:xfrm>
            <a:off x="684212" y="2068511"/>
            <a:ext cx="8534400" cy="3615267"/>
          </a:xfrm>
        </p:spPr>
        <p:txBody>
          <a:bodyPr>
            <a:normAutofit/>
          </a:bodyPr>
          <a:lstStyle/>
          <a:p>
            <a:pPr>
              <a:lnSpc>
                <a:spcPct val="90000"/>
              </a:lnSpc>
            </a:pPr>
            <a:r>
              <a:rPr lang="tr-TR" altLang="tr-TR" sz="1300">
                <a:solidFill>
                  <a:schemeClr val="tx1"/>
                </a:solidFill>
              </a:rPr>
              <a:t>Bir EMG işaretini zaman uzayında incelemek için ise genel olarak aşağıdaki işlemler yapılır :</a:t>
            </a:r>
          </a:p>
          <a:p>
            <a:pPr>
              <a:lnSpc>
                <a:spcPct val="90000"/>
              </a:lnSpc>
            </a:pPr>
            <a:endParaRPr lang="tr-TR" altLang="tr-TR" sz="1300" b="1" i="1" u="sng">
              <a:solidFill>
                <a:schemeClr val="tx1"/>
              </a:solidFill>
            </a:endParaRPr>
          </a:p>
          <a:p>
            <a:pPr>
              <a:lnSpc>
                <a:spcPct val="90000"/>
              </a:lnSpc>
            </a:pPr>
            <a:r>
              <a:rPr lang="tr-TR" altLang="tr-TR" sz="1300" b="1" i="1" u="sng">
                <a:solidFill>
                  <a:schemeClr val="tx1"/>
                </a:solidFill>
              </a:rPr>
              <a:t>Doğrultma</a:t>
            </a:r>
            <a:r>
              <a:rPr lang="tr-TR" altLang="tr-TR" sz="1300">
                <a:solidFill>
                  <a:schemeClr val="tx1"/>
                </a:solidFill>
              </a:rPr>
              <a:t>: EMG işareti ilk işlem olarak doğrultulmalıdır. Üretilen enerjinin tamamının kullanılabilmesi amacıyla tam dalga doğrultma işlemi tercih edilir. Bu durumda doğrultulan işaret, orijinal işaretin mutlak değerini göstermektedir.</a:t>
            </a:r>
          </a:p>
          <a:p>
            <a:pPr>
              <a:lnSpc>
                <a:spcPct val="90000"/>
              </a:lnSpc>
            </a:pPr>
            <a:endParaRPr lang="tr-TR" altLang="tr-TR" sz="1300" b="1" i="1" u="sng">
              <a:solidFill>
                <a:schemeClr val="tx1"/>
              </a:solidFill>
            </a:endParaRPr>
          </a:p>
          <a:p>
            <a:pPr>
              <a:lnSpc>
                <a:spcPct val="90000"/>
              </a:lnSpc>
            </a:pPr>
            <a:r>
              <a:rPr lang="tr-TR" altLang="tr-TR" sz="1300" b="1" i="1" u="sng">
                <a:solidFill>
                  <a:schemeClr val="tx1"/>
                </a:solidFill>
              </a:rPr>
              <a:t>Alçak geçiren filtreden geçirme</a:t>
            </a:r>
            <a:r>
              <a:rPr lang="tr-TR" altLang="tr-TR" sz="1300">
                <a:solidFill>
                  <a:schemeClr val="tx1"/>
                </a:solidFill>
              </a:rPr>
              <a:t>: Doğrultulmuş işarette var olan rasgele değişimlerin giderilmesi amacıyla, işaret analog veya sayısal bir alçak geçiren filtreden geçirilir. Diğer bir deyişle işarete smoothing (yumuşatma) işlemi uygulanmış olur.</a:t>
            </a:r>
          </a:p>
          <a:p>
            <a:pPr>
              <a:lnSpc>
                <a:spcPct val="90000"/>
              </a:lnSpc>
            </a:pPr>
            <a:endParaRPr lang="tr-TR" altLang="tr-TR" sz="1300" b="1" i="1" u="sng">
              <a:solidFill>
                <a:schemeClr val="tx1"/>
              </a:solidFill>
            </a:endParaRPr>
          </a:p>
          <a:p>
            <a:pPr>
              <a:lnSpc>
                <a:spcPct val="90000"/>
              </a:lnSpc>
            </a:pPr>
            <a:r>
              <a:rPr lang="tr-TR" altLang="tr-TR" sz="1300" b="1" i="1" u="sng">
                <a:solidFill>
                  <a:schemeClr val="tx1"/>
                </a:solidFill>
              </a:rPr>
              <a:t>Ortalama alma</a:t>
            </a:r>
            <a:r>
              <a:rPr lang="tr-TR" altLang="tr-TR" sz="1300">
                <a:solidFill>
                  <a:schemeClr val="tx1"/>
                </a:solidFill>
              </a:rPr>
              <a:t>: Ortalama alma işlemi iki şekilde yapılabilir. Bunlardan birisi matematiksel ortalama olarak bilinen, değerlerin toplamının değer sayısına bölünmesidir. Bir diğer ortalam şekli ise hareketli ortalama (moving average) olarak tanımlanan ve zamanla değişen ortalamadır. Hareketli ortalama yumuşatma işleminin sayısal olarak yapılması olarak da tanımlanabilir. </a:t>
            </a:r>
            <a:endParaRPr lang="en-US" altLang="tr-TR" sz="1300">
              <a:solidFill>
                <a:schemeClr val="tx1"/>
              </a:solidFill>
            </a:endParaRPr>
          </a:p>
          <a:p>
            <a:pPr>
              <a:lnSpc>
                <a:spcPct val="90000"/>
              </a:lnSpc>
            </a:pPr>
            <a:endParaRPr lang="tr-TR" sz="1300">
              <a:solidFill>
                <a:schemeClr val="tx1"/>
              </a:solidFill>
            </a:endParaRPr>
          </a:p>
        </p:txBody>
      </p:sp>
    </p:spTree>
    <p:extLst>
      <p:ext uri="{BB962C8B-B14F-4D97-AF65-F5344CB8AC3E}">
        <p14:creationId xmlns:p14="http://schemas.microsoft.com/office/powerpoint/2010/main" val="1465910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İçerik Yer Tutucusu 2">
            <a:extLst>
              <a:ext uri="{FF2B5EF4-FFF2-40B4-BE49-F238E27FC236}">
                <a16:creationId xmlns:a16="http://schemas.microsoft.com/office/drawing/2014/main" id="{A8DDCBB8-3CFC-0F8B-9F1C-2B0A49A8A3B7}"/>
              </a:ext>
            </a:extLst>
          </p:cNvPr>
          <p:cNvSpPr>
            <a:spLocks noGrp="1"/>
          </p:cNvSpPr>
          <p:nvPr>
            <p:ph idx="1"/>
          </p:nvPr>
        </p:nvSpPr>
        <p:spPr>
          <a:xfrm>
            <a:off x="684212" y="2068511"/>
            <a:ext cx="8534400" cy="3615267"/>
          </a:xfrm>
        </p:spPr>
        <p:txBody>
          <a:bodyPr>
            <a:normAutofit/>
          </a:bodyPr>
          <a:lstStyle/>
          <a:p>
            <a:pPr>
              <a:lnSpc>
                <a:spcPct val="90000"/>
              </a:lnSpc>
            </a:pPr>
            <a:r>
              <a:rPr lang="tr-TR" altLang="tr-TR" sz="1600" b="1" i="1" u="sng">
                <a:solidFill>
                  <a:schemeClr val="tx1"/>
                </a:solidFill>
              </a:rPr>
              <a:t>İntegral alma</a:t>
            </a:r>
            <a:r>
              <a:rPr lang="tr-TR" altLang="tr-TR" sz="1600">
                <a:solidFill>
                  <a:schemeClr val="tx1"/>
                </a:solidFill>
              </a:rPr>
              <a:t>: Aslen alçak frekansları filtrelemenin özel bir yolu olması sebebiyle alçak geçiren filtrelemeye benzeyen integral alma işlemi EMG işaretlerinde veri azaltmak için kullanılan yöntemler arasında en çok tercih edilenidir.</a:t>
            </a:r>
            <a:endParaRPr lang="tr-TR" altLang="tr-TR" sz="1600" b="1" i="1" u="sng">
              <a:solidFill>
                <a:schemeClr val="tx1"/>
              </a:solidFill>
            </a:endParaRPr>
          </a:p>
          <a:p>
            <a:pPr>
              <a:lnSpc>
                <a:spcPct val="90000"/>
              </a:lnSpc>
            </a:pPr>
            <a:r>
              <a:rPr lang="tr-TR" altLang="tr-TR" sz="1600" b="1" i="1" u="sng">
                <a:solidFill>
                  <a:schemeClr val="tx1"/>
                </a:solidFill>
              </a:rPr>
              <a:t>Etkin değerin ölçülmesi</a:t>
            </a:r>
            <a:r>
              <a:rPr lang="tr-TR" altLang="tr-TR" sz="1600">
                <a:solidFill>
                  <a:schemeClr val="tx1"/>
                </a:solidFill>
              </a:rPr>
              <a:t>: Düzenli bir şekli olan işaretlerde (örn. kare dalga veya sinüs dalgası gibi) işaretlerin genlikleri kullanılarak etkin değerleri kolaylıkla hesaplanabilir. Ancak EMG işaretleri gibi rasgele değişen işaretlerde, işaretin genliği ile etkin değeri arasında bir bağıntı oluşturulamaz. Bu yüzden, EMG işaretlerinin gücünün belirlenebilmesi için etkin değerinin hesap yoluyla bulunması gerekir.</a:t>
            </a:r>
            <a:endParaRPr lang="tr-TR" altLang="tr-TR" sz="1600" b="1" i="1" u="sng">
              <a:solidFill>
                <a:schemeClr val="tx1"/>
              </a:solidFill>
            </a:endParaRPr>
          </a:p>
          <a:p>
            <a:pPr>
              <a:lnSpc>
                <a:spcPct val="90000"/>
              </a:lnSpc>
            </a:pPr>
            <a:r>
              <a:rPr lang="tr-TR" altLang="tr-TR" sz="1600" b="1" i="1" u="sng">
                <a:solidFill>
                  <a:schemeClr val="tx1"/>
                </a:solidFill>
              </a:rPr>
              <a:t>Sıfır geçişlerinin sayılması</a:t>
            </a:r>
            <a:r>
              <a:rPr lang="tr-TR" altLang="tr-TR" sz="1600">
                <a:solidFill>
                  <a:schemeClr val="tx1"/>
                </a:solidFill>
              </a:rPr>
              <a:t>: Bu yöntemde, işaretin sıfır noktasından geçiş sayısı bulunur ve bu değer işaret hakkında bir bilgi verir. Sıfır noktası geçis sayısı pozitif veya negatif alternansların sayılmasıyla da belirlenebilir. Düşük seviyeli kas kasılmalarında, sıfır geçiş sayısı ile Motor Ünitesi Aksiyon Potansiyeli dönüşleri arasında doğrusal bir ilişki vardır.</a:t>
            </a:r>
            <a:endParaRPr lang="en-US" altLang="tr-TR" sz="1600">
              <a:solidFill>
                <a:schemeClr val="tx1"/>
              </a:solidFill>
            </a:endParaRPr>
          </a:p>
          <a:p>
            <a:pPr>
              <a:lnSpc>
                <a:spcPct val="90000"/>
              </a:lnSpc>
            </a:pPr>
            <a:endParaRPr lang="tr-TR" sz="1600">
              <a:solidFill>
                <a:schemeClr val="tx1"/>
              </a:solidFill>
            </a:endParaRPr>
          </a:p>
        </p:txBody>
      </p:sp>
    </p:spTree>
    <p:extLst>
      <p:ext uri="{BB962C8B-B14F-4D97-AF65-F5344CB8AC3E}">
        <p14:creationId xmlns:p14="http://schemas.microsoft.com/office/powerpoint/2010/main" val="2490451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620C9094-126D-DB13-8FD6-B172782700A1}"/>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a:stretch>
            <a:fillRect/>
          </a:stretch>
        </p:blipFill>
        <p:spPr>
          <a:xfrm>
            <a:off x="3174" y="10"/>
            <a:ext cx="12192000" cy="6857990"/>
          </a:xfrm>
          <a:prstGeom prst="rect">
            <a:avLst/>
          </a:prstGeom>
        </p:spPr>
      </p:pic>
      <p:sp>
        <p:nvSpPr>
          <p:cNvPr id="2" name="Başlık 1">
            <a:extLst>
              <a:ext uri="{FF2B5EF4-FFF2-40B4-BE49-F238E27FC236}">
                <a16:creationId xmlns:a16="http://schemas.microsoft.com/office/drawing/2014/main" id="{93973706-2EAE-5553-DCFE-4030897C643E}"/>
              </a:ext>
            </a:extLst>
          </p:cNvPr>
          <p:cNvSpPr>
            <a:spLocks noGrp="1"/>
          </p:cNvSpPr>
          <p:nvPr>
            <p:ph type="title"/>
          </p:nvPr>
        </p:nvSpPr>
        <p:spPr/>
        <p:txBody>
          <a:bodyPr>
            <a:normAutofit/>
          </a:bodyPr>
          <a:lstStyle/>
          <a:p>
            <a:r>
              <a:rPr lang="tr-TR" dirty="0"/>
              <a:t>EMG Uygulama Alanları</a:t>
            </a:r>
          </a:p>
        </p:txBody>
      </p:sp>
      <p:sp>
        <p:nvSpPr>
          <p:cNvPr id="3" name="İçerik Yer Tutucusu 2">
            <a:extLst>
              <a:ext uri="{FF2B5EF4-FFF2-40B4-BE49-F238E27FC236}">
                <a16:creationId xmlns:a16="http://schemas.microsoft.com/office/drawing/2014/main" id="{C89C42F7-514C-D1D4-1F93-CA35E3AEC09A}"/>
              </a:ext>
            </a:extLst>
          </p:cNvPr>
          <p:cNvSpPr>
            <a:spLocks noGrp="1"/>
          </p:cNvSpPr>
          <p:nvPr>
            <p:ph idx="1"/>
          </p:nvPr>
        </p:nvSpPr>
        <p:spPr/>
        <p:txBody>
          <a:bodyPr>
            <a:normAutofit/>
          </a:bodyPr>
          <a:lstStyle/>
          <a:p>
            <a:r>
              <a:rPr lang="tr-TR" dirty="0">
                <a:solidFill>
                  <a:schemeClr val="tx1"/>
                </a:solidFill>
              </a:rPr>
              <a:t>Tıbbi teşhislerde </a:t>
            </a:r>
          </a:p>
          <a:p>
            <a:pPr lvl="1"/>
            <a:r>
              <a:rPr lang="tr-TR" dirty="0">
                <a:solidFill>
                  <a:schemeClr val="tx1"/>
                </a:solidFill>
              </a:rPr>
              <a:t>Sinir hasarı, kas hastalıkları vb.</a:t>
            </a:r>
          </a:p>
          <a:p>
            <a:r>
              <a:rPr lang="tr-TR" dirty="0">
                <a:solidFill>
                  <a:schemeClr val="tx1"/>
                </a:solidFill>
              </a:rPr>
              <a:t>Biyomedikal mühendisliği çalışmalarında </a:t>
            </a:r>
          </a:p>
          <a:p>
            <a:pPr lvl="1"/>
            <a:r>
              <a:rPr lang="tr-TR" dirty="0">
                <a:solidFill>
                  <a:schemeClr val="tx1"/>
                </a:solidFill>
              </a:rPr>
              <a:t>Protez kontrolü, dış iskeletler</a:t>
            </a:r>
          </a:p>
          <a:p>
            <a:endParaRPr lang="tr-TR" dirty="0">
              <a:solidFill>
                <a:schemeClr val="tx1"/>
              </a:solidFill>
            </a:endParaRPr>
          </a:p>
        </p:txBody>
      </p:sp>
      <p:pic>
        <p:nvPicPr>
          <p:cNvPr id="9" name="Resim 8">
            <a:extLst>
              <a:ext uri="{FF2B5EF4-FFF2-40B4-BE49-F238E27FC236}">
                <a16:creationId xmlns:a16="http://schemas.microsoft.com/office/drawing/2014/main" id="{AEA2BF37-7196-1069-E644-D86AE648F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165" y="1530453"/>
            <a:ext cx="4552950" cy="2562225"/>
          </a:xfrm>
          <a:prstGeom prst="rect">
            <a:avLst/>
          </a:prstGeom>
        </p:spPr>
      </p:pic>
    </p:spTree>
    <p:extLst>
      <p:ext uri="{BB962C8B-B14F-4D97-AF65-F5344CB8AC3E}">
        <p14:creationId xmlns:p14="http://schemas.microsoft.com/office/powerpoint/2010/main" val="416559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lim">
  <a:themeElements>
    <a:clrScheme name="Dilim">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Dilim">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lim">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163</TotalTime>
  <Words>983</Words>
  <Application>Microsoft Office PowerPoint</Application>
  <PresentationFormat>Geniş ekran</PresentationFormat>
  <Paragraphs>47</Paragraphs>
  <Slides>18</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18</vt:i4>
      </vt:variant>
    </vt:vector>
  </HeadingPairs>
  <TitlesOfParts>
    <vt:vector size="21" baseType="lpstr">
      <vt:lpstr>Century Gothic</vt:lpstr>
      <vt:lpstr>Wingdings 3</vt:lpstr>
      <vt:lpstr>Dilim</vt:lpstr>
      <vt:lpstr>Elektromiyogram</vt:lpstr>
      <vt:lpstr>EMG</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EMG Uygulama Alanları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Mehmet Fatih KARAKAŞ</dc:creator>
  <cp:lastModifiedBy>Mehmet Fatih KARAKAŞ</cp:lastModifiedBy>
  <cp:revision>5</cp:revision>
  <dcterms:created xsi:type="dcterms:W3CDTF">2026-03-25T10:54:44Z</dcterms:created>
  <dcterms:modified xsi:type="dcterms:W3CDTF">2026-03-28T17:59:28Z</dcterms:modified>
</cp:coreProperties>
</file>