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1"/>
  </p:sldMasterIdLst>
  <p:sldIdLst>
    <p:sldId id="257" r:id="rId2"/>
    <p:sldId id="258" r:id="rId3"/>
    <p:sldId id="262" r:id="rId4"/>
    <p:sldId id="259" r:id="rId5"/>
    <p:sldId id="260" r:id="rId6"/>
    <p:sldId id="261" r:id="rId7"/>
    <p:sldId id="263" r:id="rId8"/>
    <p:sldId id="266" r:id="rId9"/>
    <p:sldId id="265" r:id="rId10"/>
    <p:sldId id="264" r:id="rId11"/>
    <p:sldId id="267" r:id="rId12"/>
    <p:sldId id="269" r:id="rId13"/>
    <p:sldId id="268" r:id="rId14"/>
    <p:sldId id="321" r:id="rId15"/>
    <p:sldId id="271" r:id="rId16"/>
    <p:sldId id="272" r:id="rId17"/>
    <p:sldId id="274" r:id="rId18"/>
    <p:sldId id="309" r:id="rId19"/>
    <p:sldId id="310" r:id="rId20"/>
    <p:sldId id="311" r:id="rId21"/>
    <p:sldId id="312" r:id="rId22"/>
    <p:sldId id="313" r:id="rId23"/>
    <p:sldId id="314" r:id="rId24"/>
    <p:sldId id="315" r:id="rId25"/>
    <p:sldId id="316" r:id="rId26"/>
    <p:sldId id="318" r:id="rId27"/>
    <p:sldId id="320" r:id="rId28"/>
    <p:sldId id="319" r:id="rId29"/>
    <p:sldId id="31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6" d="100"/>
          <a:sy n="76" d="100"/>
        </p:scale>
        <p:origin x="62" y="1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3891868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500118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2671628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551751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CC0996B5-B721-4DF9-86B0-E4343AD8B5E5}" type="datetimeFigureOut">
              <a:rPr lang="de-DE" smtClean="0"/>
              <a:t>27.04.2026</a:t>
            </a:fld>
            <a:endParaRPr lang="de-DE"/>
          </a:p>
        </p:txBody>
      </p:sp>
      <p:sp>
        <p:nvSpPr>
          <p:cNvPr id="8" name="Footer Placeholder 7"/>
          <p:cNvSpPr>
            <a:spLocks noGrp="1"/>
          </p:cNvSpPr>
          <p:nvPr>
            <p:ph type="ftr" sz="quarter" idx="11"/>
          </p:nvPr>
        </p:nvSpPr>
        <p:spPr/>
        <p:txBody>
          <a:bodyPr/>
          <a:lstStyle/>
          <a:p>
            <a:endParaRPr lang="de-D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673491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CC0996B5-B721-4DF9-86B0-E4343AD8B5E5}" type="datetimeFigureOut">
              <a:rPr lang="de-DE" smtClean="0"/>
              <a:t>27.04.2026</a:t>
            </a:fld>
            <a:endParaRPr lang="de-DE"/>
          </a:p>
        </p:txBody>
      </p:sp>
      <p:sp>
        <p:nvSpPr>
          <p:cNvPr id="4" name="Footer Placeholder 3"/>
          <p:cNvSpPr>
            <a:spLocks noGrp="1"/>
          </p:cNvSpPr>
          <p:nvPr>
            <p:ph type="ftr" sz="quarter" idx="11"/>
          </p:nvPr>
        </p:nvSpPr>
        <p:spPr/>
        <p:txBody>
          <a:bodyPr/>
          <a:lstStyle/>
          <a:p>
            <a:endParaRPr lang="de-DE"/>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304678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996B5-B721-4DF9-86B0-E4343AD8B5E5}" type="datetimeFigureOut">
              <a:rPr lang="de-DE" smtClean="0"/>
              <a:t>27.04.2026</a:t>
            </a:fld>
            <a:endParaRPr lang="de-DE"/>
          </a:p>
        </p:txBody>
      </p:sp>
      <p:sp>
        <p:nvSpPr>
          <p:cNvPr id="3" name="Footer Placeholder 2"/>
          <p:cNvSpPr>
            <a:spLocks noGrp="1"/>
          </p:cNvSpPr>
          <p:nvPr>
            <p:ph type="ftr" sz="quarter" idx="11"/>
          </p:nvPr>
        </p:nvSpPr>
        <p:spPr/>
        <p:txBody>
          <a:bodyPr/>
          <a:lstStyle/>
          <a:p>
            <a:endParaRPr lang="de-DE"/>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677875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stilini düzenlemek için tıklayın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984927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646138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68937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EAF0C69-7808-4828-8A41-D347F86065A2}" type="slidenum">
              <a:rPr lang="de-DE" smtClean="0"/>
              <a:t>‹#›</a:t>
            </a:fld>
            <a:endParaRPr lang="de-DE"/>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4001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4014394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EAF0C69-7808-4828-8A41-D347F86065A2}" type="slidenum">
              <a:rPr lang="de-DE" smtClean="0"/>
              <a:t>‹#›</a:t>
            </a:fld>
            <a:endParaRPr lang="de-DE"/>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53660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CC0996B5-B721-4DF9-86B0-E4343AD8B5E5}" type="datetimeFigureOut">
              <a:rPr lang="de-DE" smtClean="0"/>
              <a:t>27.04.2026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1948573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71350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C0996B5-B721-4DF9-86B0-E4343AD8B5E5}" type="datetimeFigureOut">
              <a:rPr lang="de-DE" smtClean="0"/>
              <a:t>27.04.2026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EAF0C69-7808-4828-8A41-D347F86065A2}" type="slidenum">
              <a:rPr lang="de-DE" smtClean="0"/>
              <a:t>‹#›</a:t>
            </a:fld>
            <a:endParaRPr lang="de-DE"/>
          </a:p>
        </p:txBody>
      </p:sp>
    </p:spTree>
    <p:extLst>
      <p:ext uri="{BB962C8B-B14F-4D97-AF65-F5344CB8AC3E}">
        <p14:creationId xmlns:p14="http://schemas.microsoft.com/office/powerpoint/2010/main" val="3919292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C0996B5-B721-4DF9-86B0-E4343AD8B5E5}" type="datetimeFigureOut">
              <a:rPr lang="de-DE" smtClean="0"/>
              <a:t>27.04.2026</a:t>
            </a:fld>
            <a:endParaRPr lang="de-DE"/>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EAF0C69-7808-4828-8A41-D347F86065A2}" type="slidenum">
              <a:rPr lang="de-DE" smtClean="0"/>
              <a:t>‹#›</a:t>
            </a:fld>
            <a:endParaRPr lang="de-DE"/>
          </a:p>
        </p:txBody>
      </p:sp>
    </p:spTree>
    <p:extLst>
      <p:ext uri="{BB962C8B-B14F-4D97-AF65-F5344CB8AC3E}">
        <p14:creationId xmlns:p14="http://schemas.microsoft.com/office/powerpoint/2010/main" val="3883476667"/>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356F1A-690D-401E-8CF3-E4686CDF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0" name="Group 9">
            <a:extLst>
              <a:ext uri="{FF2B5EF4-FFF2-40B4-BE49-F238E27FC236}">
                <a16:creationId xmlns:a16="http://schemas.microsoft.com/office/drawing/2014/main" id="{F398A7BA-9279-4363-9D59-238782AB6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57608" y="228600"/>
            <a:ext cx="2851523" cy="6638625"/>
            <a:chOff x="2487613" y="285750"/>
            <a:chExt cx="2428875" cy="5654676"/>
          </a:xfrm>
        </p:grpSpPr>
        <p:sp>
          <p:nvSpPr>
            <p:cNvPr id="11" name="Freeform 11">
              <a:extLst>
                <a:ext uri="{FF2B5EF4-FFF2-40B4-BE49-F238E27FC236}">
                  <a16:creationId xmlns:a16="http://schemas.microsoft.com/office/drawing/2014/main" id="{8ACCBEEF-7085-4833-8335-E4613C0A1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2" name="Freeform 12">
              <a:extLst>
                <a:ext uri="{FF2B5EF4-FFF2-40B4-BE49-F238E27FC236}">
                  <a16:creationId xmlns:a16="http://schemas.microsoft.com/office/drawing/2014/main" id="{B39C0EC5-6C91-409A-AB3F-D66AF23E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3" name="Freeform 13">
              <a:extLst>
                <a:ext uri="{FF2B5EF4-FFF2-40B4-BE49-F238E27FC236}">
                  <a16:creationId xmlns:a16="http://schemas.microsoft.com/office/drawing/2014/main" id="{4D4A9340-30CF-474C-AC93-3E9048DFE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4" name="Freeform 14">
              <a:extLst>
                <a:ext uri="{FF2B5EF4-FFF2-40B4-BE49-F238E27FC236}">
                  <a16:creationId xmlns:a16="http://schemas.microsoft.com/office/drawing/2014/main" id="{C2D90565-D660-46B2-B574-5A6E37C8B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5" name="Freeform 15">
              <a:extLst>
                <a:ext uri="{FF2B5EF4-FFF2-40B4-BE49-F238E27FC236}">
                  <a16:creationId xmlns:a16="http://schemas.microsoft.com/office/drawing/2014/main" id="{4ADDF1F8-3D32-49F9-8A53-B01C2D92C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6" name="Freeform 16">
              <a:extLst>
                <a:ext uri="{FF2B5EF4-FFF2-40B4-BE49-F238E27FC236}">
                  <a16:creationId xmlns:a16="http://schemas.microsoft.com/office/drawing/2014/main" id="{DD712377-DF82-454C-8AF4-CA6811292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7" name="Freeform 17">
              <a:extLst>
                <a:ext uri="{FF2B5EF4-FFF2-40B4-BE49-F238E27FC236}">
                  <a16:creationId xmlns:a16="http://schemas.microsoft.com/office/drawing/2014/main" id="{694E1871-CC0E-4704-902D-A324F58E4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8" name="Freeform 18">
              <a:extLst>
                <a:ext uri="{FF2B5EF4-FFF2-40B4-BE49-F238E27FC236}">
                  <a16:creationId xmlns:a16="http://schemas.microsoft.com/office/drawing/2014/main" id="{6CEE1CA2-8DDF-468B-B5E5-B584B84BD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9" name="Freeform 19">
              <a:extLst>
                <a:ext uri="{FF2B5EF4-FFF2-40B4-BE49-F238E27FC236}">
                  <a16:creationId xmlns:a16="http://schemas.microsoft.com/office/drawing/2014/main" id="{AAA4172B-3921-482A-ABEF-E70C9242A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0" name="Freeform 20">
              <a:extLst>
                <a:ext uri="{FF2B5EF4-FFF2-40B4-BE49-F238E27FC236}">
                  <a16:creationId xmlns:a16="http://schemas.microsoft.com/office/drawing/2014/main" id="{6D277B64-E367-442D-B59F-993A4585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1" name="Freeform 21">
              <a:extLst>
                <a:ext uri="{FF2B5EF4-FFF2-40B4-BE49-F238E27FC236}">
                  <a16:creationId xmlns:a16="http://schemas.microsoft.com/office/drawing/2014/main" id="{B4BA4199-8677-44FF-BD30-63130A0F5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2" name="Freeform 22">
              <a:extLst>
                <a:ext uri="{FF2B5EF4-FFF2-40B4-BE49-F238E27FC236}">
                  <a16:creationId xmlns:a16="http://schemas.microsoft.com/office/drawing/2014/main" id="{A890CEB5-09DD-4185-9405-A39BA6405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4" name="Group 23">
            <a:extLst>
              <a:ext uri="{FF2B5EF4-FFF2-40B4-BE49-F238E27FC236}">
                <a16:creationId xmlns:a16="http://schemas.microsoft.com/office/drawing/2014/main" id="{3B88DAD3-AF6F-4D6C-8512-7239A69A4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4823" y="-786"/>
            <a:ext cx="2356675" cy="6854040"/>
            <a:chOff x="6627813" y="194833"/>
            <a:chExt cx="1952625" cy="5678918"/>
          </a:xfrm>
        </p:grpSpPr>
        <p:sp>
          <p:nvSpPr>
            <p:cNvPr id="25" name="Freeform 27">
              <a:extLst>
                <a:ext uri="{FF2B5EF4-FFF2-40B4-BE49-F238E27FC236}">
                  <a16:creationId xmlns:a16="http://schemas.microsoft.com/office/drawing/2014/main" id="{1BA39A29-3A4E-4822-A540-9AD6ACCB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6" name="Freeform 28">
              <a:extLst>
                <a:ext uri="{FF2B5EF4-FFF2-40B4-BE49-F238E27FC236}">
                  <a16:creationId xmlns:a16="http://schemas.microsoft.com/office/drawing/2014/main" id="{B2ACACE6-15B3-4FAF-AA08-E1006B3FD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7" name="Freeform 29">
              <a:extLst>
                <a:ext uri="{FF2B5EF4-FFF2-40B4-BE49-F238E27FC236}">
                  <a16:creationId xmlns:a16="http://schemas.microsoft.com/office/drawing/2014/main" id="{1F9A4D9A-69F4-4FEC-B0DE-DD76F476E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8" name="Freeform 30">
              <a:extLst>
                <a:ext uri="{FF2B5EF4-FFF2-40B4-BE49-F238E27FC236}">
                  <a16:creationId xmlns:a16="http://schemas.microsoft.com/office/drawing/2014/main" id="{E92DC9B5-F16D-4C41-824C-822DE7AA0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9" name="Freeform 31">
              <a:extLst>
                <a:ext uri="{FF2B5EF4-FFF2-40B4-BE49-F238E27FC236}">
                  <a16:creationId xmlns:a16="http://schemas.microsoft.com/office/drawing/2014/main" id="{E737D559-8865-4000-A777-792FF675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0" name="Freeform 32">
              <a:extLst>
                <a:ext uri="{FF2B5EF4-FFF2-40B4-BE49-F238E27FC236}">
                  <a16:creationId xmlns:a16="http://schemas.microsoft.com/office/drawing/2014/main" id="{B1C2147A-442E-40A4-8A97-FF053B9D2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1" name="Freeform 33">
              <a:extLst>
                <a:ext uri="{FF2B5EF4-FFF2-40B4-BE49-F238E27FC236}">
                  <a16:creationId xmlns:a16="http://schemas.microsoft.com/office/drawing/2014/main" id="{B138F17C-6D47-4F1B-BE44-4A47FBCFF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2" name="Freeform 34">
              <a:extLst>
                <a:ext uri="{FF2B5EF4-FFF2-40B4-BE49-F238E27FC236}">
                  <a16:creationId xmlns:a16="http://schemas.microsoft.com/office/drawing/2014/main" id="{1BCD5498-C801-426F-9CDD-B84178E7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3" name="Freeform 35">
              <a:extLst>
                <a:ext uri="{FF2B5EF4-FFF2-40B4-BE49-F238E27FC236}">
                  <a16:creationId xmlns:a16="http://schemas.microsoft.com/office/drawing/2014/main" id="{6DB0639C-39E0-4218-B7D1-0408D870F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4" name="Freeform 36">
              <a:extLst>
                <a:ext uri="{FF2B5EF4-FFF2-40B4-BE49-F238E27FC236}">
                  <a16:creationId xmlns:a16="http://schemas.microsoft.com/office/drawing/2014/main" id="{72715634-CCEA-4B5D-94D7-E2C090EA1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5" name="Freeform 37">
              <a:extLst>
                <a:ext uri="{FF2B5EF4-FFF2-40B4-BE49-F238E27FC236}">
                  <a16:creationId xmlns:a16="http://schemas.microsoft.com/office/drawing/2014/main" id="{6BE08C78-1349-4408-8CE2-ED20F3244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6" name="Freeform 38">
              <a:extLst>
                <a:ext uri="{FF2B5EF4-FFF2-40B4-BE49-F238E27FC236}">
                  <a16:creationId xmlns:a16="http://schemas.microsoft.com/office/drawing/2014/main" id="{642D5BF8-EF6C-43FC-947B-69868821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F5B508E1-2FA1-216D-E361-5E437E79481B}"/>
              </a:ext>
            </a:extLst>
          </p:cNvPr>
          <p:cNvSpPr>
            <a:spLocks noGrp="1"/>
          </p:cNvSpPr>
          <p:nvPr>
            <p:ph type="ctrTitle"/>
          </p:nvPr>
        </p:nvSpPr>
        <p:spPr>
          <a:xfrm>
            <a:off x="5825066" y="2514600"/>
            <a:ext cx="5681134" cy="2262781"/>
          </a:xfrm>
        </p:spPr>
        <p:txBody>
          <a:bodyPr>
            <a:normAutofit/>
          </a:bodyPr>
          <a:lstStyle/>
          <a:p>
            <a:r>
              <a:rPr lang="tr-TR" sz="4400"/>
              <a:t>Tıbbi Görüntüleme Sistemleri</a:t>
            </a:r>
          </a:p>
        </p:txBody>
      </p:sp>
      <p:sp>
        <p:nvSpPr>
          <p:cNvPr id="38" name="Rectangle 37">
            <a:extLst>
              <a:ext uri="{FF2B5EF4-FFF2-40B4-BE49-F238E27FC236}">
                <a16:creationId xmlns:a16="http://schemas.microsoft.com/office/drawing/2014/main" id="{8841A10E-0F0E-4596-8888-870D70925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599"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0" name="Freeform 33">
            <a:extLst>
              <a:ext uri="{FF2B5EF4-FFF2-40B4-BE49-F238E27FC236}">
                <a16:creationId xmlns:a16="http://schemas.microsoft.com/office/drawing/2014/main" id="{29B1E55C-E51F-4093-A2A8-137C3E901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57599"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pic>
        <p:nvPicPr>
          <p:cNvPr id="4" name="Picture 3" descr="Nöroloji kliniğinde insan beyninin taraması">
            <a:extLst>
              <a:ext uri="{FF2B5EF4-FFF2-40B4-BE49-F238E27FC236}">
                <a16:creationId xmlns:a16="http://schemas.microsoft.com/office/drawing/2014/main" id="{2E92F55C-9763-3DB9-8199-C9AC8889DB8A}"/>
              </a:ext>
            </a:extLst>
          </p:cNvPr>
          <p:cNvPicPr>
            <a:picLocks noChangeAspect="1"/>
          </p:cNvPicPr>
          <p:nvPr/>
        </p:nvPicPr>
        <p:blipFill>
          <a:blip r:embed="rId2"/>
          <a:srcRect l="54615" r="5128"/>
          <a:stretch>
            <a:fillRect/>
          </a:stretch>
        </p:blipFill>
        <p:spPr>
          <a:xfrm>
            <a:off x="-2650" y="10"/>
            <a:ext cx="3681047" cy="6857990"/>
          </a:xfrm>
          <a:prstGeom prst="rect">
            <a:avLst/>
          </a:prstGeom>
        </p:spPr>
      </p:pic>
    </p:spTree>
    <p:extLst>
      <p:ext uri="{BB962C8B-B14F-4D97-AF65-F5344CB8AC3E}">
        <p14:creationId xmlns:p14="http://schemas.microsoft.com/office/powerpoint/2010/main" val="133488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3C5824-C959-5A65-7BDB-B3D763DD5396}"/>
              </a:ext>
            </a:extLst>
          </p:cNvPr>
          <p:cNvSpPr>
            <a:spLocks noGrp="1"/>
          </p:cNvSpPr>
          <p:nvPr>
            <p:ph type="title"/>
          </p:nvPr>
        </p:nvSpPr>
        <p:spPr>
          <a:xfrm>
            <a:off x="1687670" y="624110"/>
            <a:ext cx="4097302" cy="1280890"/>
          </a:xfrm>
        </p:spPr>
        <p:txBody>
          <a:bodyPr>
            <a:normAutofit/>
          </a:bodyPr>
          <a:lstStyle/>
          <a:p>
            <a:r>
              <a:rPr lang="tr-TR" sz="3200" b="1"/>
              <a:t>Motivasyon</a:t>
            </a:r>
            <a:endParaRPr lang="de-DE" sz="3200" b="1"/>
          </a:p>
        </p:txBody>
      </p:sp>
      <p:sp>
        <p:nvSpPr>
          <p:cNvPr id="3" name="İçerik Yer Tutucusu 2">
            <a:extLst>
              <a:ext uri="{FF2B5EF4-FFF2-40B4-BE49-F238E27FC236}">
                <a16:creationId xmlns:a16="http://schemas.microsoft.com/office/drawing/2014/main" id="{962EF10E-C224-19DF-997E-2D362164E427}"/>
              </a:ext>
            </a:extLst>
          </p:cNvPr>
          <p:cNvSpPr>
            <a:spLocks noGrp="1"/>
          </p:cNvSpPr>
          <p:nvPr>
            <p:ph idx="1"/>
          </p:nvPr>
        </p:nvSpPr>
        <p:spPr>
          <a:xfrm>
            <a:off x="1683956" y="2133600"/>
            <a:ext cx="4097302" cy="3777622"/>
          </a:xfrm>
        </p:spPr>
        <p:txBody>
          <a:bodyPr>
            <a:normAutofit/>
          </a:bodyPr>
          <a:lstStyle/>
          <a:p>
            <a:r>
              <a:rPr lang="de-DE" sz="1600">
                <a:solidFill>
                  <a:schemeClr val="tx1"/>
                </a:solidFill>
              </a:rPr>
              <a:t>Hastalıkların tedavisi için öncelikle insan vücudunun anatomi ve fizyolojisinin görüntülenerek hastalıkların tanısı gerekmektedir.</a:t>
            </a:r>
          </a:p>
          <a:p>
            <a:r>
              <a:rPr lang="tr-TR" sz="1600">
                <a:solidFill>
                  <a:schemeClr val="tx1"/>
                </a:solidFill>
              </a:rPr>
              <a:t>İç organların, dokuların vs. görüntülenmesinde tıbbi görüntüleme sistemlerine sıklıkla başvurularak hastalığın kaynağı tespit edilmeye çalışılır.</a:t>
            </a:r>
            <a:endParaRPr lang="de-DE" sz="1600">
              <a:solidFill>
                <a:schemeClr val="tx1"/>
              </a:solidFill>
            </a:endParaRPr>
          </a:p>
        </p:txBody>
      </p:sp>
      <p:pic>
        <p:nvPicPr>
          <p:cNvPr id="5" name="Resim 4" descr="açık hava, poz, grup, satır içeren bir resim&#10;&#10;Açıklama otomatik olarak oluşturuldu">
            <a:extLst>
              <a:ext uri="{FF2B5EF4-FFF2-40B4-BE49-F238E27FC236}">
                <a16:creationId xmlns:a16="http://schemas.microsoft.com/office/drawing/2014/main" id="{91DF0FC9-F2D1-EE6B-6D03-759E5C3C7821}"/>
              </a:ext>
            </a:extLst>
          </p:cNvPr>
          <p:cNvPicPr>
            <a:picLocks noChangeAspect="1"/>
          </p:cNvPicPr>
          <p:nvPr/>
        </p:nvPicPr>
        <p:blipFill>
          <a:blip r:embed="rId2"/>
          <a:srcRect t="1371" r="-1" b="15538"/>
          <a:stretch>
            <a:fillRect/>
          </a:stretch>
        </p:blipFill>
        <p:spPr>
          <a:xfrm>
            <a:off x="6091918" y="10"/>
            <a:ext cx="6100081" cy="3383267"/>
          </a:xfrm>
          <a:prstGeom prst="rect">
            <a:avLst/>
          </a:prstGeom>
        </p:spPr>
      </p:pic>
      <p:pic>
        <p:nvPicPr>
          <p:cNvPr id="6" name="Resim 5" descr="iç mekan, kıyma makinesi, mutfak eşyası, mikroskop içeren bir resim&#10;&#10;Açıklama otomatik olarak oluşturuldu">
            <a:extLst>
              <a:ext uri="{FF2B5EF4-FFF2-40B4-BE49-F238E27FC236}">
                <a16:creationId xmlns:a16="http://schemas.microsoft.com/office/drawing/2014/main" id="{BFFAFC4D-D3FC-5EC1-1F6B-BB587CA38776}"/>
              </a:ext>
            </a:extLst>
          </p:cNvPr>
          <p:cNvPicPr>
            <a:picLocks noChangeAspect="1"/>
          </p:cNvPicPr>
          <p:nvPr/>
        </p:nvPicPr>
        <p:blipFill>
          <a:blip r:embed="rId3"/>
          <a:srcRect l="35530" r="41161" b="1"/>
          <a:stretch>
            <a:fillRect/>
          </a:stretch>
        </p:blipFill>
        <p:spPr>
          <a:xfrm>
            <a:off x="6091919" y="3474721"/>
            <a:ext cx="3004319" cy="3383280"/>
          </a:xfrm>
          <a:prstGeom prst="rect">
            <a:avLst/>
          </a:prstGeom>
        </p:spPr>
      </p:pic>
      <p:pic>
        <p:nvPicPr>
          <p:cNvPr id="4" name="Resim 3">
            <a:extLst>
              <a:ext uri="{FF2B5EF4-FFF2-40B4-BE49-F238E27FC236}">
                <a16:creationId xmlns:a16="http://schemas.microsoft.com/office/drawing/2014/main" id="{D93DCBA3-6860-78E4-CF54-E65676426092}"/>
              </a:ext>
            </a:extLst>
          </p:cNvPr>
          <p:cNvPicPr>
            <a:picLocks noChangeAspect="1"/>
          </p:cNvPicPr>
          <p:nvPr/>
        </p:nvPicPr>
        <p:blipFill>
          <a:blip r:embed="rId4"/>
          <a:srcRect l="14519" r="12885" b="-4"/>
          <a:stretch>
            <a:fillRect/>
          </a:stretch>
        </p:blipFill>
        <p:spPr>
          <a:xfrm>
            <a:off x="9187677" y="3474720"/>
            <a:ext cx="3004322" cy="3383286"/>
          </a:xfrm>
          <a:prstGeom prst="rect">
            <a:avLst/>
          </a:prstGeom>
        </p:spPr>
      </p:pic>
    </p:spTree>
    <p:extLst>
      <p:ext uri="{BB962C8B-B14F-4D97-AF65-F5344CB8AC3E}">
        <p14:creationId xmlns:p14="http://schemas.microsoft.com/office/powerpoint/2010/main" val="1599128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44C337-3893-4B29-A265-B1329150B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1E0B358-1267-4844-8B3D-B7A279B417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36169" y="228600"/>
            <a:ext cx="2851523" cy="6638625"/>
            <a:chOff x="2487613" y="285750"/>
            <a:chExt cx="2428875" cy="5654676"/>
          </a:xfrm>
        </p:grpSpPr>
        <p:sp>
          <p:nvSpPr>
            <p:cNvPr id="12" name="Freeform 11">
              <a:extLst>
                <a:ext uri="{FF2B5EF4-FFF2-40B4-BE49-F238E27FC236}">
                  <a16:creationId xmlns:a16="http://schemas.microsoft.com/office/drawing/2014/main" id="{B24AA06A-F1A5-4BB3-9486-9AE7A53B3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3" name="Freeform 12">
              <a:extLst>
                <a:ext uri="{FF2B5EF4-FFF2-40B4-BE49-F238E27FC236}">
                  <a16:creationId xmlns:a16="http://schemas.microsoft.com/office/drawing/2014/main" id="{BDF97590-C600-44CB-9303-4A3679F51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4" name="Freeform 13">
              <a:extLst>
                <a:ext uri="{FF2B5EF4-FFF2-40B4-BE49-F238E27FC236}">
                  <a16:creationId xmlns:a16="http://schemas.microsoft.com/office/drawing/2014/main" id="{A9BBE156-3FFA-4DC4-8468-35BD28DDC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5" name="Freeform 14">
              <a:extLst>
                <a:ext uri="{FF2B5EF4-FFF2-40B4-BE49-F238E27FC236}">
                  <a16:creationId xmlns:a16="http://schemas.microsoft.com/office/drawing/2014/main" id="{F7960DE5-3810-4B1E-B1E2-3BAFEA91E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6" name="Freeform 15">
              <a:extLst>
                <a:ext uri="{FF2B5EF4-FFF2-40B4-BE49-F238E27FC236}">
                  <a16:creationId xmlns:a16="http://schemas.microsoft.com/office/drawing/2014/main" id="{359E957C-CE11-446F-8AA7-B3E98390B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7" name="Freeform 16">
              <a:extLst>
                <a:ext uri="{FF2B5EF4-FFF2-40B4-BE49-F238E27FC236}">
                  <a16:creationId xmlns:a16="http://schemas.microsoft.com/office/drawing/2014/main" id="{A3E9FE34-CA9E-4443-BEBF-D1B9A1C6C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8" name="Freeform 17">
              <a:extLst>
                <a:ext uri="{FF2B5EF4-FFF2-40B4-BE49-F238E27FC236}">
                  <a16:creationId xmlns:a16="http://schemas.microsoft.com/office/drawing/2014/main" id="{4F39D814-8A48-4509-BDEB-826F10659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9" name="Freeform 18">
              <a:extLst>
                <a:ext uri="{FF2B5EF4-FFF2-40B4-BE49-F238E27FC236}">
                  <a16:creationId xmlns:a16="http://schemas.microsoft.com/office/drawing/2014/main" id="{8C6D08C0-8C49-4B87-9CF4-A1F08714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0" name="Freeform 19">
              <a:extLst>
                <a:ext uri="{FF2B5EF4-FFF2-40B4-BE49-F238E27FC236}">
                  <a16:creationId xmlns:a16="http://schemas.microsoft.com/office/drawing/2014/main" id="{308C612B-4C0D-4863-B9CD-F86ABAA1B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1" name="Freeform 20">
              <a:extLst>
                <a:ext uri="{FF2B5EF4-FFF2-40B4-BE49-F238E27FC236}">
                  <a16:creationId xmlns:a16="http://schemas.microsoft.com/office/drawing/2014/main" id="{600B1EC8-1B55-4390-A183-C33B5E227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2" name="Freeform 21">
              <a:extLst>
                <a:ext uri="{FF2B5EF4-FFF2-40B4-BE49-F238E27FC236}">
                  <a16:creationId xmlns:a16="http://schemas.microsoft.com/office/drawing/2014/main" id="{1790A225-91E1-4BE5-A801-5F1E32721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3" name="Freeform 22">
              <a:extLst>
                <a:ext uri="{FF2B5EF4-FFF2-40B4-BE49-F238E27FC236}">
                  <a16:creationId xmlns:a16="http://schemas.microsoft.com/office/drawing/2014/main" id="{DFFC46A2-6BBF-47FD-BC17-5EE1DF7CB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5" name="Group 24">
            <a:extLst>
              <a:ext uri="{FF2B5EF4-FFF2-40B4-BE49-F238E27FC236}">
                <a16:creationId xmlns:a16="http://schemas.microsoft.com/office/drawing/2014/main" id="{AF44CA9C-80E8-44E1-A79C-D6EBFC73BC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7117" y="-786"/>
            <a:ext cx="2356675" cy="6854040"/>
            <a:chOff x="6627813" y="194833"/>
            <a:chExt cx="1952625" cy="5678918"/>
          </a:xfrm>
        </p:grpSpPr>
        <p:sp>
          <p:nvSpPr>
            <p:cNvPr id="26" name="Freeform 27">
              <a:extLst>
                <a:ext uri="{FF2B5EF4-FFF2-40B4-BE49-F238E27FC236}">
                  <a16:creationId xmlns:a16="http://schemas.microsoft.com/office/drawing/2014/main" id="{8CB9417F-98D9-4998-B00B-A5932E4C7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7" name="Freeform 28">
              <a:extLst>
                <a:ext uri="{FF2B5EF4-FFF2-40B4-BE49-F238E27FC236}">
                  <a16:creationId xmlns:a16="http://schemas.microsoft.com/office/drawing/2014/main" id="{FA79AA3D-583E-4A1E-AF7E-CBD980F59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8" name="Freeform 29">
              <a:extLst>
                <a:ext uri="{FF2B5EF4-FFF2-40B4-BE49-F238E27FC236}">
                  <a16:creationId xmlns:a16="http://schemas.microsoft.com/office/drawing/2014/main" id="{D80C9F17-A6B2-4A12-BC77-F84264A66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9" name="Freeform 30">
              <a:extLst>
                <a:ext uri="{FF2B5EF4-FFF2-40B4-BE49-F238E27FC236}">
                  <a16:creationId xmlns:a16="http://schemas.microsoft.com/office/drawing/2014/main" id="{949C9A53-ED97-44CE-BDD5-ED24892116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0" name="Freeform 31">
              <a:extLst>
                <a:ext uri="{FF2B5EF4-FFF2-40B4-BE49-F238E27FC236}">
                  <a16:creationId xmlns:a16="http://schemas.microsoft.com/office/drawing/2014/main" id="{0F9FDAE7-225B-4072-8907-6EAA06174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1" name="Freeform 32">
              <a:extLst>
                <a:ext uri="{FF2B5EF4-FFF2-40B4-BE49-F238E27FC236}">
                  <a16:creationId xmlns:a16="http://schemas.microsoft.com/office/drawing/2014/main" id="{9D49818B-8EA3-4B41-9783-EFE0C618C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2" name="Freeform 33">
              <a:extLst>
                <a:ext uri="{FF2B5EF4-FFF2-40B4-BE49-F238E27FC236}">
                  <a16:creationId xmlns:a16="http://schemas.microsoft.com/office/drawing/2014/main" id="{01903E65-D822-4457-B0A5-2F4168224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3" name="Freeform 34">
              <a:extLst>
                <a:ext uri="{FF2B5EF4-FFF2-40B4-BE49-F238E27FC236}">
                  <a16:creationId xmlns:a16="http://schemas.microsoft.com/office/drawing/2014/main" id="{A5CF9DAB-75BF-43D9-B1E7-817D1FAA0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4" name="Freeform 35">
              <a:extLst>
                <a:ext uri="{FF2B5EF4-FFF2-40B4-BE49-F238E27FC236}">
                  <a16:creationId xmlns:a16="http://schemas.microsoft.com/office/drawing/2014/main" id="{BB22916D-4BCF-4A4C-8714-A2564D34C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5" name="Freeform 36">
              <a:extLst>
                <a:ext uri="{FF2B5EF4-FFF2-40B4-BE49-F238E27FC236}">
                  <a16:creationId xmlns:a16="http://schemas.microsoft.com/office/drawing/2014/main" id="{4CD9F734-569E-44E7-BD53-6214E0F18C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6" name="Freeform 37">
              <a:extLst>
                <a:ext uri="{FF2B5EF4-FFF2-40B4-BE49-F238E27FC236}">
                  <a16:creationId xmlns:a16="http://schemas.microsoft.com/office/drawing/2014/main" id="{7A5DAACB-2F42-40C8-BF6A-75B79299F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7" name="Freeform 38">
              <a:extLst>
                <a:ext uri="{FF2B5EF4-FFF2-40B4-BE49-F238E27FC236}">
                  <a16:creationId xmlns:a16="http://schemas.microsoft.com/office/drawing/2014/main" id="{AD78E0F9-8568-4672-A22F-4ED5B1A96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30524B50-727E-7A72-296A-9EDCC597DB43}"/>
              </a:ext>
            </a:extLst>
          </p:cNvPr>
          <p:cNvSpPr>
            <a:spLocks noGrp="1"/>
          </p:cNvSpPr>
          <p:nvPr>
            <p:ph type="title"/>
          </p:nvPr>
        </p:nvSpPr>
        <p:spPr>
          <a:xfrm>
            <a:off x="6483096" y="624110"/>
            <a:ext cx="5021516" cy="1280890"/>
          </a:xfrm>
        </p:spPr>
        <p:txBody>
          <a:bodyPr>
            <a:normAutofit/>
          </a:bodyPr>
          <a:lstStyle/>
          <a:p>
            <a:r>
              <a:rPr lang="tr-TR" b="1" dirty="0"/>
              <a:t>Tıbbi Görüntüleme</a:t>
            </a:r>
            <a:endParaRPr lang="de-DE" b="1" dirty="0"/>
          </a:p>
        </p:txBody>
      </p:sp>
      <p:sp>
        <p:nvSpPr>
          <p:cNvPr id="39" name="Rectangle 38">
            <a:extLst>
              <a:ext uri="{FF2B5EF4-FFF2-40B4-BE49-F238E27FC236}">
                <a16:creationId xmlns:a16="http://schemas.microsoft.com/office/drawing/2014/main" id="{AA5CD610-ED7C-4CED-A9A1-174432C88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704"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1" name="Freeform 11">
            <a:extLst>
              <a:ext uri="{FF2B5EF4-FFF2-40B4-BE49-F238E27FC236}">
                <a16:creationId xmlns:a16="http://schemas.microsoft.com/office/drawing/2014/main" id="{0C4379BF-8C7A-480A-BC36-DA55D92A9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645704"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5" name="Picture 4" descr="Nöroloji kliniğinde insan beyninin taraması">
            <a:extLst>
              <a:ext uri="{FF2B5EF4-FFF2-40B4-BE49-F238E27FC236}">
                <a16:creationId xmlns:a16="http://schemas.microsoft.com/office/drawing/2014/main" id="{26B1B067-0D58-EF21-5582-00F3615E70BF}"/>
              </a:ext>
            </a:extLst>
          </p:cNvPr>
          <p:cNvPicPr>
            <a:picLocks noChangeAspect="1"/>
          </p:cNvPicPr>
          <p:nvPr/>
        </p:nvPicPr>
        <p:blipFill>
          <a:blip r:embed="rId2"/>
          <a:srcRect l="48916"/>
          <a:stretch>
            <a:fillRect/>
          </a:stretch>
        </p:blipFill>
        <p:spPr>
          <a:xfrm>
            <a:off x="-1555" y="1731"/>
            <a:ext cx="4671091" cy="6858000"/>
          </a:xfrm>
          <a:prstGeom prst="rect">
            <a:avLst/>
          </a:prstGeom>
        </p:spPr>
      </p:pic>
      <p:sp>
        <p:nvSpPr>
          <p:cNvPr id="3" name="İçerik Yer Tutucusu 2">
            <a:extLst>
              <a:ext uri="{FF2B5EF4-FFF2-40B4-BE49-F238E27FC236}">
                <a16:creationId xmlns:a16="http://schemas.microsoft.com/office/drawing/2014/main" id="{3CC9B780-A7DF-1B04-8C38-6CD1AE66B4C2}"/>
              </a:ext>
            </a:extLst>
          </p:cNvPr>
          <p:cNvSpPr>
            <a:spLocks noGrp="1"/>
          </p:cNvSpPr>
          <p:nvPr>
            <p:ph idx="1"/>
          </p:nvPr>
        </p:nvSpPr>
        <p:spPr>
          <a:xfrm>
            <a:off x="6438191" y="2133600"/>
            <a:ext cx="5066419" cy="3777622"/>
          </a:xfrm>
        </p:spPr>
        <p:txBody>
          <a:bodyPr>
            <a:normAutofit/>
          </a:bodyPr>
          <a:lstStyle/>
          <a:p>
            <a:r>
              <a:rPr lang="tr-TR"/>
              <a:t>Tıbbi görüntüleme sistemlerinde kullanılan 3 temel yaklaşım vardır:</a:t>
            </a:r>
          </a:p>
          <a:p>
            <a:pPr marL="457200" lvl="1" indent="0">
              <a:buNone/>
            </a:pPr>
            <a:r>
              <a:rPr lang="de-DE" err="1"/>
              <a:t>Enerjinin</a:t>
            </a:r>
            <a:r>
              <a:rPr lang="de-DE"/>
              <a:t> </a:t>
            </a:r>
            <a:r>
              <a:rPr lang="de-DE" err="1"/>
              <a:t>iletilmesi</a:t>
            </a:r>
            <a:r>
              <a:rPr lang="de-DE"/>
              <a:t> (X </a:t>
            </a:r>
            <a:r>
              <a:rPr lang="tr-TR"/>
              <a:t>Işınları</a:t>
            </a:r>
            <a:r>
              <a:rPr lang="de-DE"/>
              <a:t>),</a:t>
            </a:r>
          </a:p>
          <a:p>
            <a:pPr marL="457200" lvl="1" indent="0">
              <a:buNone/>
            </a:pPr>
            <a:r>
              <a:rPr lang="de-DE" err="1"/>
              <a:t>Enerjinin</a:t>
            </a:r>
            <a:r>
              <a:rPr lang="de-DE"/>
              <a:t> </a:t>
            </a:r>
            <a:r>
              <a:rPr lang="de-DE" err="1"/>
              <a:t>yansıması</a:t>
            </a:r>
            <a:r>
              <a:rPr lang="de-DE"/>
              <a:t> (</a:t>
            </a:r>
            <a:r>
              <a:rPr lang="de-DE" err="1"/>
              <a:t>Ultrasonografi</a:t>
            </a:r>
            <a:r>
              <a:rPr lang="de-DE"/>
              <a:t>),</a:t>
            </a:r>
          </a:p>
          <a:p>
            <a:pPr marL="457200" lvl="1" indent="0">
              <a:buNone/>
            </a:pPr>
            <a:r>
              <a:rPr lang="de-DE" err="1"/>
              <a:t>Enerjinin</a:t>
            </a:r>
            <a:r>
              <a:rPr lang="de-DE"/>
              <a:t> </a:t>
            </a:r>
            <a:r>
              <a:rPr lang="de-DE" err="1"/>
              <a:t>yayılması</a:t>
            </a:r>
            <a:r>
              <a:rPr lang="de-DE"/>
              <a:t> (MRG)</a:t>
            </a:r>
          </a:p>
          <a:p>
            <a:pPr marL="0" indent="0">
              <a:buNone/>
            </a:pPr>
            <a:endParaRPr lang="de-DE" dirty="0"/>
          </a:p>
        </p:txBody>
      </p:sp>
    </p:spTree>
    <p:extLst>
      <p:ext uri="{BB962C8B-B14F-4D97-AF65-F5344CB8AC3E}">
        <p14:creationId xmlns:p14="http://schemas.microsoft.com/office/powerpoint/2010/main" val="53014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9073237B-D536-4B4C-8928-3510CB0F8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63E4F1A-CB63-146F-9C8A-A10DA922A982}"/>
              </a:ext>
            </a:extLst>
          </p:cNvPr>
          <p:cNvSpPr>
            <a:spLocks noGrp="1"/>
          </p:cNvSpPr>
          <p:nvPr>
            <p:ph type="title"/>
          </p:nvPr>
        </p:nvSpPr>
        <p:spPr>
          <a:xfrm>
            <a:off x="649224" y="645106"/>
            <a:ext cx="3650279" cy="1259894"/>
          </a:xfrm>
        </p:spPr>
        <p:txBody>
          <a:bodyPr>
            <a:normAutofit/>
          </a:bodyPr>
          <a:lstStyle/>
          <a:p>
            <a:r>
              <a:rPr lang="tr-TR" b="1"/>
              <a:t>Tarihçe</a:t>
            </a:r>
            <a:endParaRPr lang="de-DE" b="1"/>
          </a:p>
        </p:txBody>
      </p:sp>
      <p:sp>
        <p:nvSpPr>
          <p:cNvPr id="48" name="Rectangle 47">
            <a:extLst>
              <a:ext uri="{FF2B5EF4-FFF2-40B4-BE49-F238E27FC236}">
                <a16:creationId xmlns:a16="http://schemas.microsoft.com/office/drawing/2014/main" id="{488B1383-B33A-45D9-AF5F-DD1522135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3EE0A9AB-E541-E87C-BAB7-D710404B560A}"/>
              </a:ext>
            </a:extLst>
          </p:cNvPr>
          <p:cNvSpPr>
            <a:spLocks noGrp="1"/>
          </p:cNvSpPr>
          <p:nvPr>
            <p:ph idx="1"/>
          </p:nvPr>
        </p:nvSpPr>
        <p:spPr>
          <a:xfrm>
            <a:off x="649225" y="2133600"/>
            <a:ext cx="3650278" cy="3759253"/>
          </a:xfrm>
        </p:spPr>
        <p:txBody>
          <a:bodyPr>
            <a:normAutofit/>
          </a:bodyPr>
          <a:lstStyle/>
          <a:p>
            <a:pPr>
              <a:lnSpc>
                <a:spcPct val="90000"/>
              </a:lnSpc>
            </a:pPr>
            <a:r>
              <a:rPr lang="de-DE" err="1"/>
              <a:t>Tıbbi</a:t>
            </a:r>
            <a:r>
              <a:rPr lang="de-DE"/>
              <a:t> </a:t>
            </a:r>
            <a:r>
              <a:rPr lang="de-DE" err="1"/>
              <a:t>görüntüleme</a:t>
            </a:r>
            <a:r>
              <a:rPr lang="de-DE"/>
              <a:t>, Wilhelm Conrad </a:t>
            </a:r>
            <a:r>
              <a:rPr lang="de-DE" err="1"/>
              <a:t>Röntgen’in</a:t>
            </a:r>
            <a:r>
              <a:rPr lang="de-DE"/>
              <a:t> X</a:t>
            </a:r>
            <a:r>
              <a:rPr lang="tr-TR"/>
              <a:t> </a:t>
            </a:r>
            <a:r>
              <a:rPr lang="de-DE" err="1"/>
              <a:t>ışınlarını</a:t>
            </a:r>
            <a:r>
              <a:rPr lang="de-DE"/>
              <a:t> </a:t>
            </a:r>
            <a:r>
              <a:rPr lang="de-DE" err="1"/>
              <a:t>Kasım</a:t>
            </a:r>
            <a:r>
              <a:rPr lang="de-DE"/>
              <a:t> 18</a:t>
            </a:r>
            <a:r>
              <a:rPr lang="tr-TR"/>
              <a:t>9</a:t>
            </a:r>
            <a:r>
              <a:rPr lang="de-DE"/>
              <a:t>5 </a:t>
            </a:r>
            <a:r>
              <a:rPr lang="de-DE" err="1"/>
              <a:t>yılında</a:t>
            </a:r>
            <a:r>
              <a:rPr lang="de-DE"/>
              <a:t> </a:t>
            </a:r>
            <a:r>
              <a:rPr lang="de-DE" err="1"/>
              <a:t>Katot</a:t>
            </a:r>
            <a:r>
              <a:rPr lang="de-DE"/>
              <a:t> </a:t>
            </a:r>
            <a:r>
              <a:rPr lang="de-DE" err="1"/>
              <a:t>ışın</a:t>
            </a:r>
            <a:r>
              <a:rPr lang="de-DE"/>
              <a:t> </a:t>
            </a:r>
            <a:r>
              <a:rPr lang="de-DE" err="1"/>
              <a:t>tüpleri</a:t>
            </a:r>
            <a:r>
              <a:rPr lang="de-DE"/>
              <a:t> (</a:t>
            </a:r>
            <a:r>
              <a:rPr lang="de-DE" err="1"/>
              <a:t>Crooke’s</a:t>
            </a:r>
            <a:r>
              <a:rPr lang="tr-TR"/>
              <a:t> </a:t>
            </a:r>
            <a:r>
              <a:rPr lang="de-DE" err="1"/>
              <a:t>tube</a:t>
            </a:r>
            <a:r>
              <a:rPr lang="de-DE"/>
              <a:t>) </a:t>
            </a:r>
            <a:r>
              <a:rPr lang="de-DE" err="1"/>
              <a:t>üzerinde</a:t>
            </a:r>
            <a:r>
              <a:rPr lang="de-DE"/>
              <a:t> </a:t>
            </a:r>
            <a:r>
              <a:rPr lang="de-DE" err="1"/>
              <a:t>çalışmalar</a:t>
            </a:r>
            <a:r>
              <a:rPr lang="de-DE"/>
              <a:t> </a:t>
            </a:r>
            <a:r>
              <a:rPr lang="de-DE" err="1"/>
              <a:t>yaparken</a:t>
            </a:r>
            <a:r>
              <a:rPr lang="de-DE"/>
              <a:t> </a:t>
            </a:r>
            <a:r>
              <a:rPr lang="de-DE" err="1"/>
              <a:t>tesadüfen</a:t>
            </a:r>
            <a:r>
              <a:rPr lang="de-DE"/>
              <a:t> </a:t>
            </a:r>
            <a:r>
              <a:rPr lang="de-DE" err="1"/>
              <a:t>keşfe</a:t>
            </a:r>
            <a:r>
              <a:rPr lang="tr-TR"/>
              <a:t>t</a:t>
            </a:r>
            <a:r>
              <a:rPr lang="de-DE" err="1"/>
              <a:t>mesi</a:t>
            </a:r>
            <a:r>
              <a:rPr lang="tr-TR"/>
              <a:t> </a:t>
            </a:r>
            <a:r>
              <a:rPr lang="de-DE" err="1"/>
              <a:t>ile</a:t>
            </a:r>
            <a:r>
              <a:rPr lang="de-DE"/>
              <a:t> </a:t>
            </a:r>
            <a:r>
              <a:rPr lang="de-DE" err="1"/>
              <a:t>başlar</a:t>
            </a:r>
            <a:r>
              <a:rPr lang="de-DE"/>
              <a:t>. </a:t>
            </a:r>
            <a:endParaRPr lang="tr-TR"/>
          </a:p>
          <a:p>
            <a:pPr>
              <a:lnSpc>
                <a:spcPct val="90000"/>
              </a:lnSpc>
            </a:pPr>
            <a:r>
              <a:rPr lang="de-DE"/>
              <a:t>Ne </a:t>
            </a:r>
            <a:r>
              <a:rPr lang="de-DE" err="1"/>
              <a:t>olduğu</a:t>
            </a:r>
            <a:r>
              <a:rPr lang="tr-TR"/>
              <a:t>nu</a:t>
            </a:r>
            <a:r>
              <a:rPr lang="de-DE"/>
              <a:t> </a:t>
            </a:r>
            <a:r>
              <a:rPr lang="de-DE" err="1"/>
              <a:t>tam</a:t>
            </a:r>
            <a:r>
              <a:rPr lang="de-DE"/>
              <a:t> </a:t>
            </a:r>
            <a:r>
              <a:rPr lang="de-DE" err="1"/>
              <a:t>olarak</a:t>
            </a:r>
            <a:r>
              <a:rPr lang="de-DE"/>
              <a:t> </a:t>
            </a:r>
            <a:r>
              <a:rPr lang="de-DE" err="1"/>
              <a:t>açıkla</a:t>
            </a:r>
            <a:r>
              <a:rPr lang="tr-TR"/>
              <a:t>y</a:t>
            </a:r>
            <a:r>
              <a:rPr lang="de-DE" err="1"/>
              <a:t>amadığı</a:t>
            </a:r>
            <a:r>
              <a:rPr lang="de-DE"/>
              <a:t> </a:t>
            </a:r>
            <a:r>
              <a:rPr lang="de-DE" err="1"/>
              <a:t>için</a:t>
            </a:r>
            <a:r>
              <a:rPr lang="de-DE"/>
              <a:t> </a:t>
            </a:r>
            <a:r>
              <a:rPr lang="tr-TR"/>
              <a:t>bu ışınlara bilinmeyen anlamında X ışınları adını vermiştir. </a:t>
            </a:r>
            <a:r>
              <a:rPr lang="de-DE"/>
              <a:t>1901 </a:t>
            </a:r>
            <a:r>
              <a:rPr lang="de-DE" err="1"/>
              <a:t>yılında</a:t>
            </a:r>
            <a:r>
              <a:rPr lang="de-DE"/>
              <a:t> </a:t>
            </a:r>
            <a:r>
              <a:rPr lang="de-DE" err="1"/>
              <a:t>Fizik</a:t>
            </a:r>
            <a:r>
              <a:rPr lang="de-DE"/>
              <a:t> </a:t>
            </a:r>
            <a:r>
              <a:rPr lang="de-DE" err="1"/>
              <a:t>Nobeli</a:t>
            </a:r>
            <a:r>
              <a:rPr lang="de-DE"/>
              <a:t> </a:t>
            </a:r>
            <a:r>
              <a:rPr lang="de-DE" err="1"/>
              <a:t>kazanmıştır</a:t>
            </a:r>
            <a:r>
              <a:rPr lang="de-DE"/>
              <a:t>.</a:t>
            </a:r>
          </a:p>
        </p:txBody>
      </p:sp>
      <p:pic>
        <p:nvPicPr>
          <p:cNvPr id="4" name="Resim 3">
            <a:extLst>
              <a:ext uri="{FF2B5EF4-FFF2-40B4-BE49-F238E27FC236}">
                <a16:creationId xmlns:a16="http://schemas.microsoft.com/office/drawing/2014/main" id="{C93EF4D6-B21F-5909-77AA-4FE971A05CD9}"/>
              </a:ext>
            </a:extLst>
          </p:cNvPr>
          <p:cNvPicPr>
            <a:picLocks noChangeAspect="1"/>
          </p:cNvPicPr>
          <p:nvPr/>
        </p:nvPicPr>
        <p:blipFill rotWithShape="1">
          <a:blip r:embed="rId2"/>
          <a:srcRect r="4139"/>
          <a:stretch>
            <a:fillRect/>
          </a:stretch>
        </p:blipFill>
        <p:spPr>
          <a:xfrm>
            <a:off x="4619543" y="774293"/>
            <a:ext cx="3394925" cy="4984346"/>
          </a:xfrm>
          <a:prstGeom prst="rect">
            <a:avLst/>
          </a:prstGeom>
        </p:spPr>
      </p:pic>
      <p:pic>
        <p:nvPicPr>
          <p:cNvPr id="6" name="Resim 5">
            <a:extLst>
              <a:ext uri="{FF2B5EF4-FFF2-40B4-BE49-F238E27FC236}">
                <a16:creationId xmlns:a16="http://schemas.microsoft.com/office/drawing/2014/main" id="{DA229544-5F9D-1FAC-CB2D-390336A810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8194" y="2147125"/>
            <a:ext cx="3394926" cy="2238683"/>
          </a:xfrm>
          <a:prstGeom prst="rect">
            <a:avLst/>
          </a:prstGeom>
        </p:spPr>
      </p:pic>
      <p:sp>
        <p:nvSpPr>
          <p:cNvPr id="50" name="Freeform 11">
            <a:extLst>
              <a:ext uri="{FF2B5EF4-FFF2-40B4-BE49-F238E27FC236}">
                <a16:creationId xmlns:a16="http://schemas.microsoft.com/office/drawing/2014/main" id="{ADD2565E-493E-4545-99C0-2F033FAF9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53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4"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5"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6"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7"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8"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9"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20"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1"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2"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3"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4"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6" name="Group 25">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8"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9"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30"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1"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2"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3"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4"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5"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6"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7"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8"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40" name="Rectangle 39">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2"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
        <p:nvSpPr>
          <p:cNvPr id="2" name="Başlık 1">
            <a:extLst>
              <a:ext uri="{FF2B5EF4-FFF2-40B4-BE49-F238E27FC236}">
                <a16:creationId xmlns:a16="http://schemas.microsoft.com/office/drawing/2014/main" id="{763E4F1A-CB63-146F-9C8A-A10DA922A982}"/>
              </a:ext>
            </a:extLst>
          </p:cNvPr>
          <p:cNvSpPr>
            <a:spLocks noGrp="1"/>
          </p:cNvSpPr>
          <p:nvPr>
            <p:ph type="title"/>
          </p:nvPr>
        </p:nvSpPr>
        <p:spPr>
          <a:xfrm>
            <a:off x="2589213" y="4775200"/>
            <a:ext cx="8915399" cy="823448"/>
          </a:xfrm>
        </p:spPr>
        <p:txBody>
          <a:bodyPr vert="horz" lIns="91440" tIns="45720" rIns="91440" bIns="45720" rtlCol="0" anchor="b">
            <a:normAutofit/>
          </a:bodyPr>
          <a:lstStyle/>
          <a:p>
            <a:r>
              <a:rPr lang="en-US" sz="4400" b="1"/>
              <a:t>Tarihçe</a:t>
            </a:r>
          </a:p>
        </p:txBody>
      </p:sp>
      <p:sp>
        <p:nvSpPr>
          <p:cNvPr id="3" name="İçerik Yer Tutucusu 2">
            <a:extLst>
              <a:ext uri="{FF2B5EF4-FFF2-40B4-BE49-F238E27FC236}">
                <a16:creationId xmlns:a16="http://schemas.microsoft.com/office/drawing/2014/main" id="{3EE0A9AB-E541-E87C-BAB7-D710404B560A}"/>
              </a:ext>
            </a:extLst>
          </p:cNvPr>
          <p:cNvSpPr>
            <a:spLocks noGrp="1"/>
          </p:cNvSpPr>
          <p:nvPr>
            <p:ph idx="1"/>
          </p:nvPr>
        </p:nvSpPr>
        <p:spPr>
          <a:xfrm>
            <a:off x="2589213" y="5598647"/>
            <a:ext cx="8915399" cy="522754"/>
          </a:xfrm>
        </p:spPr>
        <p:txBody>
          <a:bodyPr vert="horz" lIns="91440" tIns="45720" rIns="91440" bIns="45720" rtlCol="0" anchor="t">
            <a:normAutofit/>
          </a:bodyPr>
          <a:lstStyle/>
          <a:p>
            <a:pPr marL="0" indent="0">
              <a:buNone/>
            </a:pPr>
            <a:r>
              <a:rPr lang="en-US">
                <a:solidFill>
                  <a:schemeClr val="tx1">
                    <a:lumMod val="65000"/>
                    <a:lumOff val="35000"/>
                  </a:schemeClr>
                </a:solidFill>
              </a:rPr>
              <a:t>Tarihteki ilk röntgen filmi Wilhelm Röntgen’in eşinin elidir. </a:t>
            </a:r>
          </a:p>
        </p:txBody>
      </p:sp>
      <p:pic>
        <p:nvPicPr>
          <p:cNvPr id="7" name="Resim 6">
            <a:extLst>
              <a:ext uri="{FF2B5EF4-FFF2-40B4-BE49-F238E27FC236}">
                <a16:creationId xmlns:a16="http://schemas.microsoft.com/office/drawing/2014/main" id="{1DBC203D-54E1-14B1-821B-FC57A4E9BE6F}"/>
              </a:ext>
            </a:extLst>
          </p:cNvPr>
          <p:cNvPicPr>
            <a:picLocks noChangeAspect="1"/>
          </p:cNvPicPr>
          <p:nvPr/>
        </p:nvPicPr>
        <p:blipFill rotWithShape="1">
          <a:blip r:embed="rId2"/>
          <a:srcRect r="1" b="12441"/>
          <a:stretch>
            <a:fillRect/>
          </a:stretch>
        </p:blipFill>
        <p:spPr>
          <a:xfrm>
            <a:off x="2589212" y="634963"/>
            <a:ext cx="8915400" cy="3854971"/>
          </a:xfrm>
          <a:prstGeom prst="rect">
            <a:avLst/>
          </a:prstGeom>
        </p:spPr>
      </p:pic>
    </p:spTree>
    <p:extLst>
      <p:ext uri="{BB962C8B-B14F-4D97-AF65-F5344CB8AC3E}">
        <p14:creationId xmlns:p14="http://schemas.microsoft.com/office/powerpoint/2010/main" val="384701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7AF9E2D-8F98-4755-895E-D65689F2A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94D3C8C4-8367-4524-B9C5-2B3ACA682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36169" y="228600"/>
            <a:ext cx="2851523" cy="6638625"/>
            <a:chOff x="2487613" y="285750"/>
            <a:chExt cx="2428875" cy="5654676"/>
          </a:xfrm>
        </p:grpSpPr>
        <p:sp>
          <p:nvSpPr>
            <p:cNvPr id="13" name="Freeform 11">
              <a:extLst>
                <a:ext uri="{FF2B5EF4-FFF2-40B4-BE49-F238E27FC236}">
                  <a16:creationId xmlns:a16="http://schemas.microsoft.com/office/drawing/2014/main" id="{38BDB546-CAFB-429D-8D82-4F3AA2891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4" name="Freeform 12">
              <a:extLst>
                <a:ext uri="{FF2B5EF4-FFF2-40B4-BE49-F238E27FC236}">
                  <a16:creationId xmlns:a16="http://schemas.microsoft.com/office/drawing/2014/main" id="{8F202AFF-3597-4A70-9149-0AA2AACBB9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5" name="Freeform 13">
              <a:extLst>
                <a:ext uri="{FF2B5EF4-FFF2-40B4-BE49-F238E27FC236}">
                  <a16:creationId xmlns:a16="http://schemas.microsoft.com/office/drawing/2014/main" id="{5B91C985-1FBD-4FEE-8FB4-FBD47CF0A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6" name="Freeform 14">
              <a:extLst>
                <a:ext uri="{FF2B5EF4-FFF2-40B4-BE49-F238E27FC236}">
                  <a16:creationId xmlns:a16="http://schemas.microsoft.com/office/drawing/2014/main" id="{E045B090-8B4D-4553-997E-D7A7A2B93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7" name="Freeform 15">
              <a:extLst>
                <a:ext uri="{FF2B5EF4-FFF2-40B4-BE49-F238E27FC236}">
                  <a16:creationId xmlns:a16="http://schemas.microsoft.com/office/drawing/2014/main" id="{79661459-591F-41BD-85A7-882DF2E54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8" name="Freeform 16">
              <a:extLst>
                <a:ext uri="{FF2B5EF4-FFF2-40B4-BE49-F238E27FC236}">
                  <a16:creationId xmlns:a16="http://schemas.microsoft.com/office/drawing/2014/main" id="{172E6458-D7F5-4E0B-8098-F3A9B74463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9" name="Freeform 17">
              <a:extLst>
                <a:ext uri="{FF2B5EF4-FFF2-40B4-BE49-F238E27FC236}">
                  <a16:creationId xmlns:a16="http://schemas.microsoft.com/office/drawing/2014/main" id="{5D1FE182-350A-4951-99FA-123B15A19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20" name="Freeform 18">
              <a:extLst>
                <a:ext uri="{FF2B5EF4-FFF2-40B4-BE49-F238E27FC236}">
                  <a16:creationId xmlns:a16="http://schemas.microsoft.com/office/drawing/2014/main" id="{CBFDC3F8-18F5-41F0-9926-097682CEE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1" name="Freeform 19">
              <a:extLst>
                <a:ext uri="{FF2B5EF4-FFF2-40B4-BE49-F238E27FC236}">
                  <a16:creationId xmlns:a16="http://schemas.microsoft.com/office/drawing/2014/main" id="{F4B5A695-E6ED-4C81-A965-0461489F8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2" name="Freeform 20">
              <a:extLst>
                <a:ext uri="{FF2B5EF4-FFF2-40B4-BE49-F238E27FC236}">
                  <a16:creationId xmlns:a16="http://schemas.microsoft.com/office/drawing/2014/main" id="{CF31B175-CBC2-449D-8998-0BA7711EA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3" name="Freeform 21">
              <a:extLst>
                <a:ext uri="{FF2B5EF4-FFF2-40B4-BE49-F238E27FC236}">
                  <a16:creationId xmlns:a16="http://schemas.microsoft.com/office/drawing/2014/main" id="{47A691C8-6328-4014-BB1A-CB4824DEB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4" name="Freeform 22">
              <a:extLst>
                <a:ext uri="{FF2B5EF4-FFF2-40B4-BE49-F238E27FC236}">
                  <a16:creationId xmlns:a16="http://schemas.microsoft.com/office/drawing/2014/main" id="{94EADC73-ECA3-447E-8D07-AE215A3C4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6" name="Group 25">
            <a:extLst>
              <a:ext uri="{FF2B5EF4-FFF2-40B4-BE49-F238E27FC236}">
                <a16:creationId xmlns:a16="http://schemas.microsoft.com/office/drawing/2014/main" id="{CDA2558E-94AE-4C16-8CD0-DCF447C987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7117" y="-786"/>
            <a:ext cx="2356675" cy="6854040"/>
            <a:chOff x="6627813" y="194833"/>
            <a:chExt cx="1952625" cy="5678918"/>
          </a:xfrm>
        </p:grpSpPr>
        <p:sp>
          <p:nvSpPr>
            <p:cNvPr id="27" name="Freeform 27">
              <a:extLst>
                <a:ext uri="{FF2B5EF4-FFF2-40B4-BE49-F238E27FC236}">
                  <a16:creationId xmlns:a16="http://schemas.microsoft.com/office/drawing/2014/main" id="{6928DF6B-A616-4A71-B951-9D8EAA775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8" name="Freeform 28">
              <a:extLst>
                <a:ext uri="{FF2B5EF4-FFF2-40B4-BE49-F238E27FC236}">
                  <a16:creationId xmlns:a16="http://schemas.microsoft.com/office/drawing/2014/main" id="{CD6B4E15-CED4-45FA-874A-EA347C912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9" name="Freeform 29">
              <a:extLst>
                <a:ext uri="{FF2B5EF4-FFF2-40B4-BE49-F238E27FC236}">
                  <a16:creationId xmlns:a16="http://schemas.microsoft.com/office/drawing/2014/main" id="{A4EE38F8-BF90-4D7F-8691-89ED516D7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30" name="Freeform 30">
              <a:extLst>
                <a:ext uri="{FF2B5EF4-FFF2-40B4-BE49-F238E27FC236}">
                  <a16:creationId xmlns:a16="http://schemas.microsoft.com/office/drawing/2014/main" id="{2889210F-D6E4-4311-8BF3-DAD3FF49A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1" name="Freeform 31">
              <a:extLst>
                <a:ext uri="{FF2B5EF4-FFF2-40B4-BE49-F238E27FC236}">
                  <a16:creationId xmlns:a16="http://schemas.microsoft.com/office/drawing/2014/main" id="{44641BAA-087D-4656-8D6F-EA70FB67F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2" name="Freeform 32">
              <a:extLst>
                <a:ext uri="{FF2B5EF4-FFF2-40B4-BE49-F238E27FC236}">
                  <a16:creationId xmlns:a16="http://schemas.microsoft.com/office/drawing/2014/main" id="{DCEB55E2-FCCA-48F5-917E-8B3F26EC8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3" name="Freeform 33">
              <a:extLst>
                <a:ext uri="{FF2B5EF4-FFF2-40B4-BE49-F238E27FC236}">
                  <a16:creationId xmlns:a16="http://schemas.microsoft.com/office/drawing/2014/main" id="{45869B9E-3378-49CB-8EE1-FECA7D7809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4" name="Freeform 34">
              <a:extLst>
                <a:ext uri="{FF2B5EF4-FFF2-40B4-BE49-F238E27FC236}">
                  <a16:creationId xmlns:a16="http://schemas.microsoft.com/office/drawing/2014/main" id="{3497B8C7-AB4A-40B7-A86E-112D90CC6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5" name="Freeform 35">
              <a:extLst>
                <a:ext uri="{FF2B5EF4-FFF2-40B4-BE49-F238E27FC236}">
                  <a16:creationId xmlns:a16="http://schemas.microsoft.com/office/drawing/2014/main" id="{D5A7E348-C28C-4626-9026-59B6B9F7A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6" name="Freeform 36">
              <a:extLst>
                <a:ext uri="{FF2B5EF4-FFF2-40B4-BE49-F238E27FC236}">
                  <a16:creationId xmlns:a16="http://schemas.microsoft.com/office/drawing/2014/main" id="{A4FF1CA0-E6B1-4861-A2CD-144E06299C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7" name="Freeform 37">
              <a:extLst>
                <a:ext uri="{FF2B5EF4-FFF2-40B4-BE49-F238E27FC236}">
                  <a16:creationId xmlns:a16="http://schemas.microsoft.com/office/drawing/2014/main" id="{774FF261-7109-4B0E-B24B-622F4209C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8" name="Freeform 38">
              <a:extLst>
                <a:ext uri="{FF2B5EF4-FFF2-40B4-BE49-F238E27FC236}">
                  <a16:creationId xmlns:a16="http://schemas.microsoft.com/office/drawing/2014/main" id="{3ECECA25-954F-4011-ADFF-BBFC4A00D3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63724139-3DCA-5B51-6F90-B58743317A08}"/>
              </a:ext>
            </a:extLst>
          </p:cNvPr>
          <p:cNvSpPr>
            <a:spLocks noGrp="1"/>
          </p:cNvSpPr>
          <p:nvPr>
            <p:ph type="title"/>
          </p:nvPr>
        </p:nvSpPr>
        <p:spPr>
          <a:xfrm>
            <a:off x="6483096" y="624110"/>
            <a:ext cx="5021516" cy="1280890"/>
          </a:xfrm>
        </p:spPr>
        <p:txBody>
          <a:bodyPr>
            <a:normAutofit/>
          </a:bodyPr>
          <a:lstStyle/>
          <a:p>
            <a:r>
              <a:rPr lang="tr-TR" b="1" dirty="0"/>
              <a:t>X-Işınlarının Oluşumu</a:t>
            </a:r>
            <a:endParaRPr lang="de-DE" b="1" dirty="0"/>
          </a:p>
        </p:txBody>
      </p:sp>
      <p:pic>
        <p:nvPicPr>
          <p:cNvPr id="4" name="Resim 3">
            <a:extLst>
              <a:ext uri="{FF2B5EF4-FFF2-40B4-BE49-F238E27FC236}">
                <a16:creationId xmlns:a16="http://schemas.microsoft.com/office/drawing/2014/main" id="{B47580FF-E01F-FA2A-0386-36494B805A70}"/>
              </a:ext>
            </a:extLst>
          </p:cNvPr>
          <p:cNvPicPr>
            <a:picLocks noChangeAspect="1"/>
          </p:cNvPicPr>
          <p:nvPr/>
        </p:nvPicPr>
        <p:blipFill rotWithShape="1">
          <a:blip r:embed="rId2"/>
          <a:srcRect r="-4" b="950"/>
          <a:stretch>
            <a:fillRect/>
          </a:stretch>
        </p:blipFill>
        <p:spPr>
          <a:xfrm>
            <a:off x="20" y="10"/>
            <a:ext cx="4646965" cy="3428990"/>
          </a:xfrm>
          <a:prstGeom prst="rect">
            <a:avLst/>
          </a:prstGeom>
        </p:spPr>
      </p:pic>
      <p:sp>
        <p:nvSpPr>
          <p:cNvPr id="40" name="Rectangle 39">
            <a:extLst>
              <a:ext uri="{FF2B5EF4-FFF2-40B4-BE49-F238E27FC236}">
                <a16:creationId xmlns:a16="http://schemas.microsoft.com/office/drawing/2014/main" id="{6D0FFBDB-89D1-4050-8FE5-AFC94C076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704"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2" name="Freeform 11">
            <a:extLst>
              <a:ext uri="{FF2B5EF4-FFF2-40B4-BE49-F238E27FC236}">
                <a16:creationId xmlns:a16="http://schemas.microsoft.com/office/drawing/2014/main" id="{75823B85-53D1-46E0-BC58-872776B5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645704"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5" name="Resim 4">
            <a:extLst>
              <a:ext uri="{FF2B5EF4-FFF2-40B4-BE49-F238E27FC236}">
                <a16:creationId xmlns:a16="http://schemas.microsoft.com/office/drawing/2014/main" id="{F6B514AB-4D8F-29B8-475B-4EB7C56D2E27}"/>
              </a:ext>
            </a:extLst>
          </p:cNvPr>
          <p:cNvPicPr>
            <a:picLocks noChangeAspect="1"/>
          </p:cNvPicPr>
          <p:nvPr/>
        </p:nvPicPr>
        <p:blipFill rotWithShape="1">
          <a:blip r:embed="rId3"/>
          <a:srcRect l="18408" r="6042" b="2"/>
          <a:stretch>
            <a:fillRect/>
          </a:stretch>
        </p:blipFill>
        <p:spPr>
          <a:xfrm>
            <a:off x="20" y="3429000"/>
            <a:ext cx="4646965" cy="3429000"/>
          </a:xfrm>
          <a:prstGeom prst="rect">
            <a:avLst/>
          </a:prstGeom>
        </p:spPr>
      </p:pic>
      <p:cxnSp>
        <p:nvCxnSpPr>
          <p:cNvPr id="44" name="Straight Connector 43">
            <a:extLst>
              <a:ext uri="{FF2B5EF4-FFF2-40B4-BE49-F238E27FC236}">
                <a16:creationId xmlns:a16="http://schemas.microsoft.com/office/drawing/2014/main" id="{81F86B2C-5FF7-48E0-B5B0-ABEA39A1E2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429000"/>
            <a:ext cx="4662638" cy="0"/>
          </a:xfrm>
          <a:prstGeom prst="line">
            <a:avLst/>
          </a:prstGeom>
          <a:ln w="50800" cap="flat">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AB78DAB2-43B2-51A9-7743-4172E58D4026}"/>
              </a:ext>
            </a:extLst>
          </p:cNvPr>
          <p:cNvSpPr>
            <a:spLocks noGrp="1"/>
          </p:cNvSpPr>
          <p:nvPr>
            <p:ph idx="1"/>
          </p:nvPr>
        </p:nvSpPr>
        <p:spPr>
          <a:xfrm>
            <a:off x="6438191" y="2133600"/>
            <a:ext cx="5066419" cy="3777622"/>
          </a:xfrm>
        </p:spPr>
        <p:txBody>
          <a:bodyPr>
            <a:normAutofit fontScale="70000" lnSpcReduction="20000"/>
          </a:bodyPr>
          <a:lstStyle/>
          <a:p>
            <a:r>
              <a:rPr lang="tr-TR" b="1" dirty="0"/>
              <a:t>1. Termoiyonik Emisyon:</a:t>
            </a:r>
            <a:r>
              <a:rPr lang="tr-TR" dirty="0"/>
              <a:t> Katot tarafındaki flaman (genelde tungstenden yapılır) ısıtıldığında bir elektron bulutu oluşur.</a:t>
            </a:r>
          </a:p>
          <a:p>
            <a:r>
              <a:rPr lang="tr-TR" b="1" dirty="0"/>
              <a:t>2. Hızlandırma:</a:t>
            </a:r>
            <a:r>
              <a:rPr lang="tr-TR" dirty="0"/>
              <a:t> Anot ve katot arasındaki devasa potansiyel fark (yüksek voltaj), bu negatif yüklü elektronları pozitif yüklü anoda doğru "kamçılar".</a:t>
            </a:r>
          </a:p>
          <a:p>
            <a:r>
              <a:rPr lang="tr-TR" b="1" dirty="0"/>
              <a:t>3. Etkileşim ve Foton Salınımı:</a:t>
            </a:r>
            <a:r>
              <a:rPr lang="tr-TR" dirty="0"/>
              <a:t> Yüksek hızdaki elektronlar anot üzerindeki hedef metale (genelde Tungsten veya Molibden) çarptığında aniden yavaşlarlar. Bu kinetik enerji kaybı iki şekilde X-ışınına dönüşür:</a:t>
            </a:r>
          </a:p>
          <a:p>
            <a:pPr lvl="1"/>
            <a:r>
              <a:rPr lang="tr-TR" b="1" dirty="0" err="1"/>
              <a:t>Bremsstrahlung</a:t>
            </a:r>
            <a:r>
              <a:rPr lang="tr-TR" b="1" dirty="0"/>
              <a:t> (Frenleme Radyasyonu):</a:t>
            </a:r>
            <a:r>
              <a:rPr lang="tr-TR" dirty="0"/>
              <a:t> Elektronun çekirdek yakınından geçerken yavaşlamasıyla oluşur.</a:t>
            </a:r>
          </a:p>
          <a:p>
            <a:pPr lvl="1"/>
            <a:r>
              <a:rPr lang="tr-TR" b="1" dirty="0"/>
              <a:t>Karakteristik Radyasyon:</a:t>
            </a:r>
            <a:r>
              <a:rPr lang="tr-TR" dirty="0"/>
              <a:t> Elektronun, hedef atomun iç yörüngesindeki bir elektronu yerinden fırlatmasıyla oluşur.</a:t>
            </a:r>
          </a:p>
          <a:p>
            <a:pPr lvl="1"/>
            <a:endParaRPr lang="tr-TR" dirty="0"/>
          </a:p>
          <a:p>
            <a:pPr marL="0" indent="0">
              <a:buNone/>
            </a:pPr>
            <a:r>
              <a:rPr lang="tr-TR" dirty="0"/>
              <a:t>Elektronların hedefe çarpmasıyla açığa çıkan enerjinin </a:t>
            </a:r>
            <a:r>
              <a:rPr lang="tr-TR" b="1" dirty="0"/>
              <a:t>yaklaşık %99'u ısıya</a:t>
            </a:r>
            <a:r>
              <a:rPr lang="tr-TR" dirty="0"/>
              <a:t> dönüşür, sadece </a:t>
            </a:r>
            <a:r>
              <a:rPr lang="tr-TR" b="1" dirty="0"/>
              <a:t>%1'lik</a:t>
            </a:r>
            <a:r>
              <a:rPr lang="tr-TR" dirty="0"/>
              <a:t> kısmı X-ışını (foton) olarak yayılır. Bu yüzden anotlar genelde ısınmayı önlemek için döner yapıda veya soğutma sistemli tasarlanır.</a:t>
            </a:r>
          </a:p>
        </p:txBody>
      </p:sp>
    </p:spTree>
    <p:extLst>
      <p:ext uri="{BB962C8B-B14F-4D97-AF65-F5344CB8AC3E}">
        <p14:creationId xmlns:p14="http://schemas.microsoft.com/office/powerpoint/2010/main" val="2960426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3724139-3DCA-5B51-6F90-B58743317A08}"/>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b="1"/>
              <a:t>Röntgen Cihazı</a:t>
            </a:r>
          </a:p>
        </p:txBody>
      </p:sp>
      <p:sp>
        <p:nvSpPr>
          <p:cNvPr id="58" name="Rectangle 57">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 name="Metin kutusu 3">
            <a:extLst>
              <a:ext uri="{FF2B5EF4-FFF2-40B4-BE49-F238E27FC236}">
                <a16:creationId xmlns:a16="http://schemas.microsoft.com/office/drawing/2014/main" id="{80C95DC8-C8DA-A7DB-0BFD-5ABBDD6D8CA1}"/>
              </a:ext>
            </a:extLst>
          </p:cNvPr>
          <p:cNvSpPr txBox="1"/>
          <p:nvPr/>
        </p:nvSpPr>
        <p:spPr>
          <a:xfrm>
            <a:off x="649225" y="2133600"/>
            <a:ext cx="3650278" cy="3759253"/>
          </a:xfrm>
          <a:prstGeom prst="rect">
            <a:avLst/>
          </a:prstGeom>
        </p:spPr>
        <p:txBody>
          <a:bodyPr vert="horz" lIns="91440" tIns="45720" rIns="91440" bIns="45720" rtlCol="0">
            <a:normAutofit/>
          </a:bodyPr>
          <a:lstStyle/>
          <a:p>
            <a:pPr>
              <a:lnSpc>
                <a:spcPct val="90000"/>
              </a:lnSpc>
              <a:spcBef>
                <a:spcPts val="1000"/>
              </a:spcBef>
              <a:buClr>
                <a:schemeClr val="accent1"/>
              </a:buClr>
              <a:buFont typeface="Wingdings 3" charset="2"/>
              <a:buChar char=""/>
            </a:pPr>
            <a:r>
              <a:rPr lang="en-US" sz="1500" dirty="0">
                <a:solidFill>
                  <a:schemeClr val="tx1">
                    <a:lumMod val="75000"/>
                    <a:lumOff val="25000"/>
                  </a:schemeClr>
                </a:solidFill>
              </a:rPr>
              <a:t>Temel </a:t>
            </a:r>
            <a:r>
              <a:rPr lang="en-US" sz="1500" dirty="0" err="1">
                <a:solidFill>
                  <a:schemeClr val="tx1">
                    <a:lumMod val="75000"/>
                    <a:lumOff val="25000"/>
                  </a:schemeClr>
                </a:solidFill>
              </a:rPr>
              <a:t>tanı</a:t>
            </a:r>
            <a:r>
              <a:rPr lang="en-US" sz="1500" dirty="0">
                <a:solidFill>
                  <a:schemeClr val="tx1">
                    <a:lumMod val="75000"/>
                    <a:lumOff val="25000"/>
                  </a:schemeClr>
                </a:solidFill>
              </a:rPr>
              <a:t> </a:t>
            </a:r>
            <a:r>
              <a:rPr lang="en-US" sz="1500" dirty="0" err="1">
                <a:solidFill>
                  <a:schemeClr val="tx1">
                    <a:lumMod val="75000"/>
                    <a:lumOff val="25000"/>
                  </a:schemeClr>
                </a:solidFill>
              </a:rPr>
              <a:t>yöntemlerinden</a:t>
            </a:r>
            <a:r>
              <a:rPr lang="en-US" sz="1500" dirty="0">
                <a:solidFill>
                  <a:schemeClr val="tx1">
                    <a:lumMod val="75000"/>
                    <a:lumOff val="25000"/>
                  </a:schemeClr>
                </a:solidFill>
              </a:rPr>
              <a:t> </a:t>
            </a:r>
            <a:r>
              <a:rPr lang="en-US" sz="1500" dirty="0" err="1">
                <a:solidFill>
                  <a:schemeClr val="tx1">
                    <a:lumMod val="75000"/>
                    <a:lumOff val="25000"/>
                  </a:schemeClr>
                </a:solidFill>
              </a:rPr>
              <a:t>ilkidir</a:t>
            </a:r>
            <a:r>
              <a:rPr lang="en-US" sz="1500" dirty="0">
                <a:solidFill>
                  <a:schemeClr val="tx1">
                    <a:lumMod val="75000"/>
                    <a:lumOff val="25000"/>
                  </a:schemeClr>
                </a:solidFill>
              </a:rPr>
              <a:t>. Kullanılan </a:t>
            </a:r>
            <a:r>
              <a:rPr lang="en-US" sz="1500" dirty="0" err="1">
                <a:solidFill>
                  <a:schemeClr val="tx1">
                    <a:lumMod val="75000"/>
                    <a:lumOff val="25000"/>
                  </a:schemeClr>
                </a:solidFill>
              </a:rPr>
              <a:t>ışın</a:t>
            </a:r>
            <a:r>
              <a:rPr lang="en-US" sz="1500" dirty="0">
                <a:solidFill>
                  <a:schemeClr val="tx1">
                    <a:lumMod val="75000"/>
                    <a:lumOff val="25000"/>
                  </a:schemeClr>
                </a:solidFill>
              </a:rPr>
              <a:t>, X-</a:t>
            </a:r>
            <a:r>
              <a:rPr lang="en-US" sz="1500" dirty="0" err="1">
                <a:solidFill>
                  <a:schemeClr val="tx1">
                    <a:lumMod val="75000"/>
                    <a:lumOff val="25000"/>
                  </a:schemeClr>
                </a:solidFill>
              </a:rPr>
              <a:t>ışınıdır</a:t>
            </a:r>
            <a:r>
              <a:rPr lang="en-US" sz="1500" dirty="0">
                <a:solidFill>
                  <a:schemeClr val="tx1">
                    <a:lumMod val="75000"/>
                    <a:lumOff val="25000"/>
                  </a:schemeClr>
                </a:solidFill>
              </a:rPr>
              <a:t>. X-</a:t>
            </a:r>
            <a:r>
              <a:rPr lang="en-US" sz="1500" dirty="0" err="1">
                <a:solidFill>
                  <a:schemeClr val="tx1">
                    <a:lumMod val="75000"/>
                    <a:lumOff val="25000"/>
                  </a:schemeClr>
                </a:solidFill>
              </a:rPr>
              <a:t>ışınlarının</a:t>
            </a:r>
            <a:r>
              <a:rPr lang="en-US" sz="1500" dirty="0">
                <a:solidFill>
                  <a:schemeClr val="tx1">
                    <a:lumMod val="75000"/>
                    <a:lumOff val="25000"/>
                  </a:schemeClr>
                </a:solidFill>
              </a:rPr>
              <a:t> </a:t>
            </a:r>
            <a:r>
              <a:rPr lang="en-US" sz="1500" dirty="0" err="1">
                <a:solidFill>
                  <a:schemeClr val="tx1">
                    <a:lumMod val="75000"/>
                    <a:lumOff val="25000"/>
                  </a:schemeClr>
                </a:solidFill>
              </a:rPr>
              <a:t>radyolojide</a:t>
            </a:r>
            <a:r>
              <a:rPr lang="en-US" sz="1500" dirty="0">
                <a:solidFill>
                  <a:schemeClr val="tx1">
                    <a:lumMod val="75000"/>
                    <a:lumOff val="25000"/>
                  </a:schemeClr>
                </a:solidFill>
              </a:rPr>
              <a:t> </a:t>
            </a:r>
            <a:r>
              <a:rPr lang="en-US" sz="1500" dirty="0" err="1">
                <a:solidFill>
                  <a:schemeClr val="tx1">
                    <a:lumMod val="75000"/>
                    <a:lumOff val="25000"/>
                  </a:schemeClr>
                </a:solidFill>
              </a:rPr>
              <a:t>kullanılmasını</a:t>
            </a:r>
            <a:r>
              <a:rPr lang="en-US" sz="1500" dirty="0">
                <a:solidFill>
                  <a:schemeClr val="tx1">
                    <a:lumMod val="75000"/>
                    <a:lumOff val="25000"/>
                  </a:schemeClr>
                </a:solidFill>
              </a:rPr>
              <a:t> </a:t>
            </a:r>
            <a:r>
              <a:rPr lang="en-US" sz="1500" dirty="0" err="1">
                <a:solidFill>
                  <a:schemeClr val="tx1">
                    <a:lumMod val="75000"/>
                    <a:lumOff val="25000"/>
                  </a:schemeClr>
                </a:solidFill>
              </a:rPr>
              <a:t>sağlayan</a:t>
            </a:r>
            <a:r>
              <a:rPr lang="en-US" sz="1500" dirty="0">
                <a:solidFill>
                  <a:schemeClr val="tx1">
                    <a:lumMod val="75000"/>
                    <a:lumOff val="25000"/>
                  </a:schemeClr>
                </a:solidFill>
              </a:rPr>
              <a:t> </a:t>
            </a:r>
            <a:r>
              <a:rPr lang="en-US" sz="1500" dirty="0" err="1">
                <a:solidFill>
                  <a:schemeClr val="tx1">
                    <a:lumMod val="75000"/>
                    <a:lumOff val="25000"/>
                  </a:schemeClr>
                </a:solidFill>
              </a:rPr>
              <a:t>temel</a:t>
            </a:r>
            <a:r>
              <a:rPr lang="en-US" sz="1500" dirty="0">
                <a:solidFill>
                  <a:schemeClr val="tx1">
                    <a:lumMod val="75000"/>
                    <a:lumOff val="25000"/>
                  </a:schemeClr>
                </a:solidFill>
              </a:rPr>
              <a:t> </a:t>
            </a:r>
            <a:r>
              <a:rPr lang="en-US" sz="1500" dirty="0" err="1">
                <a:solidFill>
                  <a:schemeClr val="tx1">
                    <a:lumMod val="75000"/>
                    <a:lumOff val="25000"/>
                  </a:schemeClr>
                </a:solidFill>
              </a:rPr>
              <a:t>özellik</a:t>
            </a:r>
            <a:r>
              <a:rPr lang="en-US" sz="1500" dirty="0">
                <a:solidFill>
                  <a:schemeClr val="tx1">
                    <a:lumMod val="75000"/>
                    <a:lumOff val="25000"/>
                  </a:schemeClr>
                </a:solidFill>
              </a:rPr>
              <a:t>; </a:t>
            </a:r>
            <a:r>
              <a:rPr lang="en-US" sz="1500" dirty="0" err="1">
                <a:solidFill>
                  <a:schemeClr val="tx1">
                    <a:lumMod val="75000"/>
                    <a:lumOff val="25000"/>
                  </a:schemeClr>
                </a:solidFill>
              </a:rPr>
              <a:t>dokuyu</a:t>
            </a:r>
            <a:r>
              <a:rPr lang="en-US" sz="1500" dirty="0">
                <a:solidFill>
                  <a:schemeClr val="tx1">
                    <a:lumMod val="75000"/>
                    <a:lumOff val="25000"/>
                  </a:schemeClr>
                </a:solidFill>
              </a:rPr>
              <a:t> </a:t>
            </a:r>
            <a:r>
              <a:rPr lang="en-US" sz="1500" dirty="0" err="1">
                <a:solidFill>
                  <a:schemeClr val="tx1">
                    <a:lumMod val="75000"/>
                    <a:lumOff val="25000"/>
                  </a:schemeClr>
                </a:solidFill>
              </a:rPr>
              <a:t>geçebilme</a:t>
            </a:r>
            <a:r>
              <a:rPr lang="en-US" sz="1500" dirty="0">
                <a:solidFill>
                  <a:schemeClr val="tx1">
                    <a:lumMod val="75000"/>
                    <a:lumOff val="25000"/>
                  </a:schemeClr>
                </a:solidFill>
              </a:rPr>
              <a:t> </a:t>
            </a:r>
            <a:r>
              <a:rPr lang="en-US" sz="1500" dirty="0" err="1">
                <a:solidFill>
                  <a:schemeClr val="tx1">
                    <a:lumMod val="75000"/>
                    <a:lumOff val="25000"/>
                  </a:schemeClr>
                </a:solidFill>
              </a:rPr>
              <a:t>yetenekleridir</a:t>
            </a:r>
            <a:r>
              <a:rPr lang="en-US" sz="1500" dirty="0">
                <a:solidFill>
                  <a:schemeClr val="tx1">
                    <a:lumMod val="75000"/>
                    <a:lumOff val="25000"/>
                  </a:schemeClr>
                </a:solidFill>
              </a:rPr>
              <a:t>. İnsan </a:t>
            </a:r>
            <a:r>
              <a:rPr lang="en-US" sz="1500" dirty="0" err="1">
                <a:solidFill>
                  <a:schemeClr val="tx1">
                    <a:lumMod val="75000"/>
                    <a:lumOff val="25000"/>
                  </a:schemeClr>
                </a:solidFill>
              </a:rPr>
              <a:t>vücudu</a:t>
            </a:r>
            <a:r>
              <a:rPr lang="en-US" sz="1500" dirty="0">
                <a:solidFill>
                  <a:schemeClr val="tx1">
                    <a:lumMod val="75000"/>
                    <a:lumOff val="25000"/>
                  </a:schemeClr>
                </a:solidFill>
              </a:rPr>
              <a:t> </a:t>
            </a:r>
            <a:r>
              <a:rPr lang="en-US" sz="1500" dirty="0" err="1">
                <a:solidFill>
                  <a:schemeClr val="tx1">
                    <a:lumMod val="75000"/>
                    <a:lumOff val="25000"/>
                  </a:schemeClr>
                </a:solidFill>
              </a:rPr>
              <a:t>değişik</a:t>
            </a:r>
            <a:r>
              <a:rPr lang="en-US" sz="1500" dirty="0">
                <a:solidFill>
                  <a:schemeClr val="tx1">
                    <a:lumMod val="75000"/>
                    <a:lumOff val="25000"/>
                  </a:schemeClr>
                </a:solidFill>
              </a:rPr>
              <a:t> atom </a:t>
            </a:r>
            <a:r>
              <a:rPr lang="en-US" sz="1500" dirty="0" err="1">
                <a:solidFill>
                  <a:schemeClr val="tx1">
                    <a:lumMod val="75000"/>
                    <a:lumOff val="25000"/>
                  </a:schemeClr>
                </a:solidFill>
              </a:rPr>
              <a:t>ağırlığında</a:t>
            </a:r>
            <a:r>
              <a:rPr lang="en-US" sz="1500" dirty="0">
                <a:solidFill>
                  <a:schemeClr val="tx1">
                    <a:lumMod val="75000"/>
                    <a:lumOff val="25000"/>
                  </a:schemeClr>
                </a:solidFill>
              </a:rPr>
              <a:t>, </a:t>
            </a:r>
            <a:r>
              <a:rPr lang="en-US" sz="1500" dirty="0" err="1">
                <a:solidFill>
                  <a:schemeClr val="tx1">
                    <a:lumMod val="75000"/>
                    <a:lumOff val="25000"/>
                  </a:schemeClr>
                </a:solidFill>
              </a:rPr>
              <a:t>değişik</a:t>
            </a:r>
            <a:r>
              <a:rPr lang="en-US" sz="1500" dirty="0">
                <a:solidFill>
                  <a:schemeClr val="tx1">
                    <a:lumMod val="75000"/>
                    <a:lumOff val="25000"/>
                  </a:schemeClr>
                </a:solidFill>
              </a:rPr>
              <a:t> </a:t>
            </a:r>
            <a:r>
              <a:rPr lang="en-US" sz="1500" dirty="0" err="1">
                <a:solidFill>
                  <a:schemeClr val="tx1">
                    <a:lumMod val="75000"/>
                    <a:lumOff val="25000"/>
                  </a:schemeClr>
                </a:solidFill>
              </a:rPr>
              <a:t>kalınlıkta</a:t>
            </a:r>
            <a:r>
              <a:rPr lang="en-US" sz="1500" dirty="0">
                <a:solidFill>
                  <a:schemeClr val="tx1">
                    <a:lumMod val="75000"/>
                    <a:lumOff val="25000"/>
                  </a:schemeClr>
                </a:solidFill>
              </a:rPr>
              <a:t> </a:t>
            </a:r>
            <a:r>
              <a:rPr lang="en-US" sz="1500" dirty="0" err="1">
                <a:solidFill>
                  <a:schemeClr val="tx1">
                    <a:lumMod val="75000"/>
                    <a:lumOff val="25000"/>
                  </a:schemeClr>
                </a:solidFill>
              </a:rPr>
              <a:t>ve</a:t>
            </a:r>
            <a:r>
              <a:rPr lang="en-US" sz="1500" dirty="0">
                <a:solidFill>
                  <a:schemeClr val="tx1">
                    <a:lumMod val="75000"/>
                    <a:lumOff val="25000"/>
                  </a:schemeClr>
                </a:solidFill>
              </a:rPr>
              <a:t> </a:t>
            </a:r>
            <a:r>
              <a:rPr lang="en-US" sz="1500" dirty="0" err="1">
                <a:solidFill>
                  <a:schemeClr val="tx1">
                    <a:lumMod val="75000"/>
                    <a:lumOff val="25000"/>
                  </a:schemeClr>
                </a:solidFill>
              </a:rPr>
              <a:t>değişik</a:t>
            </a:r>
            <a:r>
              <a:rPr lang="en-US" sz="1500" dirty="0">
                <a:solidFill>
                  <a:schemeClr val="tx1">
                    <a:lumMod val="75000"/>
                    <a:lumOff val="25000"/>
                  </a:schemeClr>
                </a:solidFill>
              </a:rPr>
              <a:t> </a:t>
            </a:r>
            <a:r>
              <a:rPr lang="en-US" sz="1500" dirty="0" err="1">
                <a:solidFill>
                  <a:schemeClr val="tx1">
                    <a:lumMod val="75000"/>
                    <a:lumOff val="25000"/>
                  </a:schemeClr>
                </a:solidFill>
              </a:rPr>
              <a:t>yoğunlukta</a:t>
            </a:r>
            <a:r>
              <a:rPr lang="en-US" sz="1500" dirty="0">
                <a:solidFill>
                  <a:schemeClr val="tx1">
                    <a:lumMod val="75000"/>
                    <a:lumOff val="25000"/>
                  </a:schemeClr>
                </a:solidFill>
              </a:rPr>
              <a:t> </a:t>
            </a:r>
            <a:r>
              <a:rPr lang="en-US" sz="1500" dirty="0" err="1">
                <a:solidFill>
                  <a:schemeClr val="tx1">
                    <a:lumMod val="75000"/>
                    <a:lumOff val="25000"/>
                  </a:schemeClr>
                </a:solidFill>
              </a:rPr>
              <a:t>dokulardan</a:t>
            </a:r>
            <a:r>
              <a:rPr lang="en-US" sz="1500" dirty="0">
                <a:solidFill>
                  <a:schemeClr val="tx1">
                    <a:lumMod val="75000"/>
                    <a:lumOff val="25000"/>
                  </a:schemeClr>
                </a:solidFill>
              </a:rPr>
              <a:t> </a:t>
            </a:r>
            <a:r>
              <a:rPr lang="en-US" sz="1500" dirty="0" err="1">
                <a:solidFill>
                  <a:schemeClr val="tx1">
                    <a:lumMod val="75000"/>
                    <a:lumOff val="25000"/>
                  </a:schemeClr>
                </a:solidFill>
              </a:rPr>
              <a:t>oluştuğundan</a:t>
            </a:r>
            <a:r>
              <a:rPr lang="en-US" sz="1500" dirty="0">
                <a:solidFill>
                  <a:schemeClr val="tx1">
                    <a:lumMod val="75000"/>
                    <a:lumOff val="25000"/>
                  </a:schemeClr>
                </a:solidFill>
              </a:rPr>
              <a:t> X-</a:t>
            </a:r>
            <a:r>
              <a:rPr lang="en-US" sz="1500" dirty="0" err="1">
                <a:solidFill>
                  <a:schemeClr val="tx1">
                    <a:lumMod val="75000"/>
                    <a:lumOff val="25000"/>
                  </a:schemeClr>
                </a:solidFill>
              </a:rPr>
              <a:t>ışınının</a:t>
            </a:r>
            <a:r>
              <a:rPr lang="en-US" sz="1500" dirty="0">
                <a:solidFill>
                  <a:schemeClr val="tx1">
                    <a:lumMod val="75000"/>
                    <a:lumOff val="25000"/>
                  </a:schemeClr>
                </a:solidFill>
              </a:rPr>
              <a:t> </a:t>
            </a:r>
            <a:r>
              <a:rPr lang="en-US" sz="1500" dirty="0" err="1">
                <a:solidFill>
                  <a:schemeClr val="tx1">
                    <a:lumMod val="75000"/>
                    <a:lumOff val="25000"/>
                  </a:schemeClr>
                </a:solidFill>
              </a:rPr>
              <a:t>absorbsiyonu</a:t>
            </a:r>
            <a:r>
              <a:rPr lang="en-US" sz="1500" dirty="0">
                <a:solidFill>
                  <a:schemeClr val="tx1">
                    <a:lumMod val="75000"/>
                    <a:lumOff val="25000"/>
                  </a:schemeClr>
                </a:solidFill>
              </a:rPr>
              <a:t> da </a:t>
            </a:r>
            <a:r>
              <a:rPr lang="en-US" sz="1500" dirty="0" err="1">
                <a:solidFill>
                  <a:schemeClr val="tx1">
                    <a:lumMod val="75000"/>
                    <a:lumOff val="25000"/>
                  </a:schemeClr>
                </a:solidFill>
              </a:rPr>
              <a:t>farklı</a:t>
            </a:r>
            <a:r>
              <a:rPr lang="en-US" sz="1500" dirty="0">
                <a:solidFill>
                  <a:schemeClr val="tx1">
                    <a:lumMod val="75000"/>
                    <a:lumOff val="25000"/>
                  </a:schemeClr>
                </a:solidFill>
              </a:rPr>
              <a:t> </a:t>
            </a:r>
            <a:r>
              <a:rPr lang="en-US" sz="1500" dirty="0" err="1">
                <a:solidFill>
                  <a:schemeClr val="tx1">
                    <a:lumMod val="75000"/>
                    <a:lumOff val="25000"/>
                  </a:schemeClr>
                </a:solidFill>
              </a:rPr>
              <a:t>olacaktır</a:t>
            </a:r>
            <a:r>
              <a:rPr lang="en-US" sz="1500" dirty="0">
                <a:solidFill>
                  <a:schemeClr val="tx1">
                    <a:lumMod val="75000"/>
                    <a:lumOff val="25000"/>
                  </a:schemeClr>
                </a:solidFill>
              </a:rPr>
              <a:t>. </a:t>
            </a:r>
            <a:r>
              <a:rPr lang="en-US" sz="1500" dirty="0" err="1">
                <a:solidFill>
                  <a:schemeClr val="tx1">
                    <a:lumMod val="75000"/>
                    <a:lumOff val="25000"/>
                  </a:schemeClr>
                </a:solidFill>
              </a:rPr>
              <a:t>Farklı</a:t>
            </a:r>
            <a:r>
              <a:rPr lang="en-US" sz="1500" dirty="0">
                <a:solidFill>
                  <a:schemeClr val="tx1">
                    <a:lumMod val="75000"/>
                    <a:lumOff val="25000"/>
                  </a:schemeClr>
                </a:solidFill>
              </a:rPr>
              <a:t> </a:t>
            </a:r>
            <a:r>
              <a:rPr lang="en-US" sz="1500" dirty="0" err="1">
                <a:solidFill>
                  <a:schemeClr val="tx1">
                    <a:lumMod val="75000"/>
                    <a:lumOff val="25000"/>
                  </a:schemeClr>
                </a:solidFill>
              </a:rPr>
              <a:t>absorbsiyon</a:t>
            </a:r>
            <a:r>
              <a:rPr lang="en-US" sz="1500" dirty="0">
                <a:solidFill>
                  <a:schemeClr val="tx1">
                    <a:lumMod val="75000"/>
                    <a:lumOff val="25000"/>
                  </a:schemeClr>
                </a:solidFill>
              </a:rPr>
              <a:t> </a:t>
            </a:r>
            <a:r>
              <a:rPr lang="en-US" sz="1500" dirty="0" err="1">
                <a:solidFill>
                  <a:schemeClr val="tx1">
                    <a:lumMod val="75000"/>
                    <a:lumOff val="25000"/>
                  </a:schemeClr>
                </a:solidFill>
              </a:rPr>
              <a:t>ve</a:t>
            </a:r>
            <a:r>
              <a:rPr lang="en-US" sz="1500" dirty="0">
                <a:solidFill>
                  <a:schemeClr val="tx1">
                    <a:lumMod val="75000"/>
                    <a:lumOff val="25000"/>
                  </a:schemeClr>
                </a:solidFill>
              </a:rPr>
              <a:t> </a:t>
            </a:r>
            <a:r>
              <a:rPr lang="en-US" sz="1500" dirty="0" err="1">
                <a:solidFill>
                  <a:schemeClr val="tx1">
                    <a:lumMod val="75000"/>
                    <a:lumOff val="25000"/>
                  </a:schemeClr>
                </a:solidFill>
              </a:rPr>
              <a:t>etkişeşim</a:t>
            </a:r>
            <a:r>
              <a:rPr lang="en-US" sz="1500" dirty="0">
                <a:solidFill>
                  <a:schemeClr val="tx1">
                    <a:lumMod val="75000"/>
                    <a:lumOff val="25000"/>
                  </a:schemeClr>
                </a:solidFill>
              </a:rPr>
              <a:t> </a:t>
            </a:r>
            <a:r>
              <a:rPr lang="en-US" sz="1500" dirty="0" err="1">
                <a:solidFill>
                  <a:schemeClr val="tx1">
                    <a:lumMod val="75000"/>
                    <a:lumOff val="25000"/>
                  </a:schemeClr>
                </a:solidFill>
              </a:rPr>
              <a:t>sonucu</a:t>
            </a:r>
            <a:r>
              <a:rPr lang="en-US" sz="1500" dirty="0">
                <a:solidFill>
                  <a:schemeClr val="tx1">
                    <a:lumMod val="75000"/>
                    <a:lumOff val="25000"/>
                  </a:schemeClr>
                </a:solidFill>
              </a:rPr>
              <a:t> </a:t>
            </a:r>
            <a:r>
              <a:rPr lang="en-US" sz="1500" dirty="0" err="1">
                <a:solidFill>
                  <a:schemeClr val="tx1">
                    <a:lumMod val="75000"/>
                    <a:lumOff val="25000"/>
                  </a:schemeClr>
                </a:solidFill>
              </a:rPr>
              <a:t>röntgen</a:t>
            </a:r>
            <a:r>
              <a:rPr lang="en-US" sz="1500" dirty="0">
                <a:solidFill>
                  <a:schemeClr val="tx1">
                    <a:lumMod val="75000"/>
                    <a:lumOff val="25000"/>
                  </a:schemeClr>
                </a:solidFill>
              </a:rPr>
              <a:t> filmi </a:t>
            </a:r>
            <a:r>
              <a:rPr lang="en-US" sz="1500" dirty="0" err="1">
                <a:solidFill>
                  <a:schemeClr val="tx1">
                    <a:lumMod val="75000"/>
                    <a:lumOff val="25000"/>
                  </a:schemeClr>
                </a:solidFill>
              </a:rPr>
              <a:t>üzerine</a:t>
            </a:r>
            <a:r>
              <a:rPr lang="en-US" sz="1500" dirty="0">
                <a:solidFill>
                  <a:schemeClr val="tx1">
                    <a:lumMod val="75000"/>
                    <a:lumOff val="25000"/>
                  </a:schemeClr>
                </a:solidFill>
              </a:rPr>
              <a:t> </a:t>
            </a:r>
            <a:r>
              <a:rPr lang="en-US" sz="1500" dirty="0" err="1">
                <a:solidFill>
                  <a:schemeClr val="tx1">
                    <a:lumMod val="75000"/>
                    <a:lumOff val="25000"/>
                  </a:schemeClr>
                </a:solidFill>
              </a:rPr>
              <a:t>değişik</a:t>
            </a:r>
            <a:r>
              <a:rPr lang="en-US" sz="1500" dirty="0">
                <a:solidFill>
                  <a:schemeClr val="tx1">
                    <a:lumMod val="75000"/>
                    <a:lumOff val="25000"/>
                  </a:schemeClr>
                </a:solidFill>
              </a:rPr>
              <a:t> </a:t>
            </a:r>
            <a:r>
              <a:rPr lang="en-US" sz="1500" dirty="0" err="1">
                <a:solidFill>
                  <a:schemeClr val="tx1">
                    <a:lumMod val="75000"/>
                    <a:lumOff val="25000"/>
                  </a:schemeClr>
                </a:solidFill>
              </a:rPr>
              <a:t>oranlarda</a:t>
            </a:r>
            <a:r>
              <a:rPr lang="en-US" sz="1500" dirty="0">
                <a:solidFill>
                  <a:schemeClr val="tx1">
                    <a:lumMod val="75000"/>
                    <a:lumOff val="25000"/>
                  </a:schemeClr>
                </a:solidFill>
              </a:rPr>
              <a:t> </a:t>
            </a:r>
            <a:r>
              <a:rPr lang="en-US" sz="1500" dirty="0" err="1">
                <a:solidFill>
                  <a:schemeClr val="tx1">
                    <a:lumMod val="75000"/>
                    <a:lumOff val="25000"/>
                  </a:schemeClr>
                </a:solidFill>
              </a:rPr>
              <a:t>düşen</a:t>
            </a:r>
            <a:r>
              <a:rPr lang="en-US" sz="1500" dirty="0">
                <a:solidFill>
                  <a:schemeClr val="tx1">
                    <a:lumMod val="75000"/>
                    <a:lumOff val="25000"/>
                  </a:schemeClr>
                </a:solidFill>
              </a:rPr>
              <a:t> X-</a:t>
            </a:r>
            <a:r>
              <a:rPr lang="en-US" sz="1500" dirty="0" err="1">
                <a:solidFill>
                  <a:schemeClr val="tx1">
                    <a:lumMod val="75000"/>
                    <a:lumOff val="25000"/>
                  </a:schemeClr>
                </a:solidFill>
              </a:rPr>
              <a:t>ışınları</a:t>
            </a:r>
            <a:r>
              <a:rPr lang="en-US" sz="1500" dirty="0">
                <a:solidFill>
                  <a:schemeClr val="tx1">
                    <a:lumMod val="75000"/>
                    <a:lumOff val="25000"/>
                  </a:schemeClr>
                </a:solidFill>
              </a:rPr>
              <a:t> </a:t>
            </a:r>
            <a:r>
              <a:rPr lang="en-US" sz="1500" dirty="0" err="1">
                <a:solidFill>
                  <a:schemeClr val="tx1">
                    <a:lumMod val="75000"/>
                    <a:lumOff val="25000"/>
                  </a:schemeClr>
                </a:solidFill>
              </a:rPr>
              <a:t>geçtikleri</a:t>
            </a:r>
            <a:r>
              <a:rPr lang="en-US" sz="1500" dirty="0">
                <a:solidFill>
                  <a:schemeClr val="tx1">
                    <a:lumMod val="75000"/>
                    <a:lumOff val="25000"/>
                  </a:schemeClr>
                </a:solidFill>
              </a:rPr>
              <a:t> </a:t>
            </a:r>
            <a:r>
              <a:rPr lang="en-US" sz="1500" dirty="0" err="1">
                <a:solidFill>
                  <a:schemeClr val="tx1">
                    <a:lumMod val="75000"/>
                    <a:lumOff val="25000"/>
                  </a:schemeClr>
                </a:solidFill>
              </a:rPr>
              <a:t>vücut</a:t>
            </a:r>
            <a:r>
              <a:rPr lang="en-US" sz="1500" dirty="0">
                <a:solidFill>
                  <a:schemeClr val="tx1">
                    <a:lumMod val="75000"/>
                    <a:lumOff val="25000"/>
                  </a:schemeClr>
                </a:solidFill>
              </a:rPr>
              <a:t> </a:t>
            </a:r>
            <a:r>
              <a:rPr lang="en-US" sz="1500" dirty="0" err="1">
                <a:solidFill>
                  <a:schemeClr val="tx1">
                    <a:lumMod val="75000"/>
                    <a:lumOff val="25000"/>
                  </a:schemeClr>
                </a:solidFill>
              </a:rPr>
              <a:t>parçasının</a:t>
            </a:r>
            <a:r>
              <a:rPr lang="en-US" sz="1500" dirty="0">
                <a:solidFill>
                  <a:schemeClr val="tx1">
                    <a:lumMod val="75000"/>
                    <a:lumOff val="25000"/>
                  </a:schemeClr>
                </a:solidFill>
              </a:rPr>
              <a:t> </a:t>
            </a:r>
            <a:r>
              <a:rPr lang="en-US" sz="1500" dirty="0" err="1">
                <a:solidFill>
                  <a:schemeClr val="tx1">
                    <a:lumMod val="75000"/>
                    <a:lumOff val="25000"/>
                  </a:schemeClr>
                </a:solidFill>
              </a:rPr>
              <a:t>bir</a:t>
            </a:r>
            <a:r>
              <a:rPr lang="en-US" sz="1500" dirty="0">
                <a:solidFill>
                  <a:schemeClr val="tx1">
                    <a:lumMod val="75000"/>
                    <a:lumOff val="25000"/>
                  </a:schemeClr>
                </a:solidFill>
              </a:rPr>
              <a:t> </a:t>
            </a:r>
            <a:r>
              <a:rPr lang="en-US" sz="1500" dirty="0" err="1">
                <a:solidFill>
                  <a:schemeClr val="tx1">
                    <a:lumMod val="75000"/>
                    <a:lumOff val="25000"/>
                  </a:schemeClr>
                </a:solidFill>
              </a:rPr>
              <a:t>görüntüsünü</a:t>
            </a:r>
            <a:r>
              <a:rPr lang="en-US" sz="1500" dirty="0">
                <a:solidFill>
                  <a:schemeClr val="tx1">
                    <a:lumMod val="75000"/>
                    <a:lumOff val="25000"/>
                  </a:schemeClr>
                </a:solidFill>
              </a:rPr>
              <a:t> </a:t>
            </a:r>
            <a:r>
              <a:rPr lang="en-US" sz="1500" dirty="0" err="1">
                <a:solidFill>
                  <a:schemeClr val="tx1">
                    <a:lumMod val="75000"/>
                    <a:lumOff val="25000"/>
                  </a:schemeClr>
                </a:solidFill>
              </a:rPr>
              <a:t>oluştururlar</a:t>
            </a:r>
            <a:r>
              <a:rPr lang="en-US" sz="1500" dirty="0">
                <a:solidFill>
                  <a:schemeClr val="tx1">
                    <a:lumMod val="75000"/>
                    <a:lumOff val="25000"/>
                  </a:schemeClr>
                </a:solidFill>
              </a:rPr>
              <a:t>.</a:t>
            </a:r>
          </a:p>
        </p:txBody>
      </p:sp>
      <p:pic>
        <p:nvPicPr>
          <p:cNvPr id="53" name="Graphic 52" descr="Stetoskop">
            <a:extLst>
              <a:ext uri="{FF2B5EF4-FFF2-40B4-BE49-F238E27FC236}">
                <a16:creationId xmlns:a16="http://schemas.microsoft.com/office/drawing/2014/main" id="{5CCA8335-C931-FF94-5D08-0445923F4F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69945" y="640080"/>
            <a:ext cx="5252773" cy="5252773"/>
          </a:xfrm>
          <a:prstGeom prst="rect">
            <a:avLst/>
          </a:prstGeom>
        </p:spPr>
      </p:pic>
      <p:sp>
        <p:nvSpPr>
          <p:cNvPr id="60"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224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7AF9E2D-8F98-4755-895E-D65689F2A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6" name="Group 15">
            <a:extLst>
              <a:ext uri="{FF2B5EF4-FFF2-40B4-BE49-F238E27FC236}">
                <a16:creationId xmlns:a16="http://schemas.microsoft.com/office/drawing/2014/main" id="{94D3C8C4-8367-4524-B9C5-2B3ACA682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36169" y="228600"/>
            <a:ext cx="2851523" cy="6638625"/>
            <a:chOff x="2487613" y="285750"/>
            <a:chExt cx="2428875" cy="5654676"/>
          </a:xfrm>
        </p:grpSpPr>
        <p:sp>
          <p:nvSpPr>
            <p:cNvPr id="17" name="Freeform 11">
              <a:extLst>
                <a:ext uri="{FF2B5EF4-FFF2-40B4-BE49-F238E27FC236}">
                  <a16:creationId xmlns:a16="http://schemas.microsoft.com/office/drawing/2014/main" id="{38BDB546-CAFB-429D-8D82-4F3AA2891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8" name="Freeform 12">
              <a:extLst>
                <a:ext uri="{FF2B5EF4-FFF2-40B4-BE49-F238E27FC236}">
                  <a16:creationId xmlns:a16="http://schemas.microsoft.com/office/drawing/2014/main" id="{8F202AFF-3597-4A70-9149-0AA2AACBB9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9" name="Freeform 13">
              <a:extLst>
                <a:ext uri="{FF2B5EF4-FFF2-40B4-BE49-F238E27FC236}">
                  <a16:creationId xmlns:a16="http://schemas.microsoft.com/office/drawing/2014/main" id="{5B91C985-1FBD-4FEE-8FB4-FBD47CF0A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20" name="Freeform 14">
              <a:extLst>
                <a:ext uri="{FF2B5EF4-FFF2-40B4-BE49-F238E27FC236}">
                  <a16:creationId xmlns:a16="http://schemas.microsoft.com/office/drawing/2014/main" id="{E045B090-8B4D-4553-997E-D7A7A2B93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21" name="Freeform 15">
              <a:extLst>
                <a:ext uri="{FF2B5EF4-FFF2-40B4-BE49-F238E27FC236}">
                  <a16:creationId xmlns:a16="http://schemas.microsoft.com/office/drawing/2014/main" id="{79661459-591F-41BD-85A7-882DF2E548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22" name="Freeform 16">
              <a:extLst>
                <a:ext uri="{FF2B5EF4-FFF2-40B4-BE49-F238E27FC236}">
                  <a16:creationId xmlns:a16="http://schemas.microsoft.com/office/drawing/2014/main" id="{172E6458-D7F5-4E0B-8098-F3A9B74463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23" name="Freeform 17">
              <a:extLst>
                <a:ext uri="{FF2B5EF4-FFF2-40B4-BE49-F238E27FC236}">
                  <a16:creationId xmlns:a16="http://schemas.microsoft.com/office/drawing/2014/main" id="{5D1FE182-350A-4951-99FA-123B15A19E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24" name="Freeform 18">
              <a:extLst>
                <a:ext uri="{FF2B5EF4-FFF2-40B4-BE49-F238E27FC236}">
                  <a16:creationId xmlns:a16="http://schemas.microsoft.com/office/drawing/2014/main" id="{CBFDC3F8-18F5-41F0-9926-097682CEE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5" name="Freeform 19">
              <a:extLst>
                <a:ext uri="{FF2B5EF4-FFF2-40B4-BE49-F238E27FC236}">
                  <a16:creationId xmlns:a16="http://schemas.microsoft.com/office/drawing/2014/main" id="{F4B5A695-E6ED-4C81-A965-0461489F8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6" name="Freeform 20">
              <a:extLst>
                <a:ext uri="{FF2B5EF4-FFF2-40B4-BE49-F238E27FC236}">
                  <a16:creationId xmlns:a16="http://schemas.microsoft.com/office/drawing/2014/main" id="{CF31B175-CBC2-449D-8998-0BA7711EA3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7" name="Freeform 21">
              <a:extLst>
                <a:ext uri="{FF2B5EF4-FFF2-40B4-BE49-F238E27FC236}">
                  <a16:creationId xmlns:a16="http://schemas.microsoft.com/office/drawing/2014/main" id="{47A691C8-6328-4014-BB1A-CB4824DEB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8" name="Freeform 22">
              <a:extLst>
                <a:ext uri="{FF2B5EF4-FFF2-40B4-BE49-F238E27FC236}">
                  <a16:creationId xmlns:a16="http://schemas.microsoft.com/office/drawing/2014/main" id="{94EADC73-ECA3-447E-8D07-AE215A3C4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30" name="Group 29">
            <a:extLst>
              <a:ext uri="{FF2B5EF4-FFF2-40B4-BE49-F238E27FC236}">
                <a16:creationId xmlns:a16="http://schemas.microsoft.com/office/drawing/2014/main" id="{CDA2558E-94AE-4C16-8CD0-DCF447C987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7117" y="-786"/>
            <a:ext cx="2356675" cy="6854040"/>
            <a:chOff x="6627813" y="194833"/>
            <a:chExt cx="1952625" cy="5678918"/>
          </a:xfrm>
        </p:grpSpPr>
        <p:sp>
          <p:nvSpPr>
            <p:cNvPr id="31" name="Freeform 27">
              <a:extLst>
                <a:ext uri="{FF2B5EF4-FFF2-40B4-BE49-F238E27FC236}">
                  <a16:creationId xmlns:a16="http://schemas.microsoft.com/office/drawing/2014/main" id="{6928DF6B-A616-4A71-B951-9D8EAA775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32" name="Freeform 28">
              <a:extLst>
                <a:ext uri="{FF2B5EF4-FFF2-40B4-BE49-F238E27FC236}">
                  <a16:creationId xmlns:a16="http://schemas.microsoft.com/office/drawing/2014/main" id="{CD6B4E15-CED4-45FA-874A-EA347C912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33" name="Freeform 29">
              <a:extLst>
                <a:ext uri="{FF2B5EF4-FFF2-40B4-BE49-F238E27FC236}">
                  <a16:creationId xmlns:a16="http://schemas.microsoft.com/office/drawing/2014/main" id="{A4EE38F8-BF90-4D7F-8691-89ED516D7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34" name="Freeform 30">
              <a:extLst>
                <a:ext uri="{FF2B5EF4-FFF2-40B4-BE49-F238E27FC236}">
                  <a16:creationId xmlns:a16="http://schemas.microsoft.com/office/drawing/2014/main" id="{2889210F-D6E4-4311-8BF3-DAD3FF49A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5" name="Freeform 31">
              <a:extLst>
                <a:ext uri="{FF2B5EF4-FFF2-40B4-BE49-F238E27FC236}">
                  <a16:creationId xmlns:a16="http://schemas.microsoft.com/office/drawing/2014/main" id="{44641BAA-087D-4656-8D6F-EA70FB67F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6" name="Freeform 32">
              <a:extLst>
                <a:ext uri="{FF2B5EF4-FFF2-40B4-BE49-F238E27FC236}">
                  <a16:creationId xmlns:a16="http://schemas.microsoft.com/office/drawing/2014/main" id="{DCEB55E2-FCCA-48F5-917E-8B3F26EC8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7" name="Freeform 33">
              <a:extLst>
                <a:ext uri="{FF2B5EF4-FFF2-40B4-BE49-F238E27FC236}">
                  <a16:creationId xmlns:a16="http://schemas.microsoft.com/office/drawing/2014/main" id="{45869B9E-3378-49CB-8EE1-FECA7D7809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8" name="Freeform 34">
              <a:extLst>
                <a:ext uri="{FF2B5EF4-FFF2-40B4-BE49-F238E27FC236}">
                  <a16:creationId xmlns:a16="http://schemas.microsoft.com/office/drawing/2014/main" id="{3497B8C7-AB4A-40B7-A86E-112D90CC6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9" name="Freeform 35">
              <a:extLst>
                <a:ext uri="{FF2B5EF4-FFF2-40B4-BE49-F238E27FC236}">
                  <a16:creationId xmlns:a16="http://schemas.microsoft.com/office/drawing/2014/main" id="{D5A7E348-C28C-4626-9026-59B6B9F7A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40" name="Freeform 36">
              <a:extLst>
                <a:ext uri="{FF2B5EF4-FFF2-40B4-BE49-F238E27FC236}">
                  <a16:creationId xmlns:a16="http://schemas.microsoft.com/office/drawing/2014/main" id="{A4FF1CA0-E6B1-4861-A2CD-144E06299C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41" name="Freeform 37">
              <a:extLst>
                <a:ext uri="{FF2B5EF4-FFF2-40B4-BE49-F238E27FC236}">
                  <a16:creationId xmlns:a16="http://schemas.microsoft.com/office/drawing/2014/main" id="{774FF261-7109-4B0E-B24B-622F4209C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42" name="Freeform 38">
              <a:extLst>
                <a:ext uri="{FF2B5EF4-FFF2-40B4-BE49-F238E27FC236}">
                  <a16:creationId xmlns:a16="http://schemas.microsoft.com/office/drawing/2014/main" id="{3ECECA25-954F-4011-ADFF-BBFC4A00D3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63724139-3DCA-5B51-6F90-B58743317A08}"/>
              </a:ext>
            </a:extLst>
          </p:cNvPr>
          <p:cNvSpPr>
            <a:spLocks noGrp="1"/>
          </p:cNvSpPr>
          <p:nvPr>
            <p:ph type="title"/>
          </p:nvPr>
        </p:nvSpPr>
        <p:spPr>
          <a:xfrm>
            <a:off x="6483096" y="624110"/>
            <a:ext cx="5021516" cy="1280890"/>
          </a:xfrm>
        </p:spPr>
        <p:txBody>
          <a:bodyPr>
            <a:normAutofit/>
          </a:bodyPr>
          <a:lstStyle/>
          <a:p>
            <a:r>
              <a:rPr lang="tr-TR" b="1" dirty="0"/>
              <a:t>Röntgen Cihazı</a:t>
            </a:r>
            <a:endParaRPr lang="de-DE" b="1" dirty="0"/>
          </a:p>
        </p:txBody>
      </p:sp>
      <p:pic>
        <p:nvPicPr>
          <p:cNvPr id="7" name="Resim 6">
            <a:extLst>
              <a:ext uri="{FF2B5EF4-FFF2-40B4-BE49-F238E27FC236}">
                <a16:creationId xmlns:a16="http://schemas.microsoft.com/office/drawing/2014/main" id="{4E63CF8C-EB17-CF7A-A5B3-5A4B0D5D17CA}"/>
              </a:ext>
            </a:extLst>
          </p:cNvPr>
          <p:cNvPicPr>
            <a:picLocks noChangeAspect="1"/>
          </p:cNvPicPr>
          <p:nvPr/>
        </p:nvPicPr>
        <p:blipFill rotWithShape="1">
          <a:blip r:embed="rId2"/>
          <a:srcRect l="47485" r="2" b="2"/>
          <a:stretch>
            <a:fillRect/>
          </a:stretch>
        </p:blipFill>
        <p:spPr>
          <a:xfrm>
            <a:off x="20" y="10"/>
            <a:ext cx="4646965" cy="3428990"/>
          </a:xfrm>
          <a:prstGeom prst="rect">
            <a:avLst/>
          </a:prstGeom>
        </p:spPr>
      </p:pic>
      <p:sp>
        <p:nvSpPr>
          <p:cNvPr id="44" name="Rectangle 43">
            <a:extLst>
              <a:ext uri="{FF2B5EF4-FFF2-40B4-BE49-F238E27FC236}">
                <a16:creationId xmlns:a16="http://schemas.microsoft.com/office/drawing/2014/main" id="{6D0FFBDB-89D1-4050-8FE5-AFC94C076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704"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6" name="Freeform 11">
            <a:extLst>
              <a:ext uri="{FF2B5EF4-FFF2-40B4-BE49-F238E27FC236}">
                <a16:creationId xmlns:a16="http://schemas.microsoft.com/office/drawing/2014/main" id="{75823B85-53D1-46E0-BC58-872776B5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645704"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9" name="Resim 8">
            <a:extLst>
              <a:ext uri="{FF2B5EF4-FFF2-40B4-BE49-F238E27FC236}">
                <a16:creationId xmlns:a16="http://schemas.microsoft.com/office/drawing/2014/main" id="{2FBDEE2A-5056-D415-5A2F-E6C2E7D860C1}"/>
              </a:ext>
            </a:extLst>
          </p:cNvPr>
          <p:cNvPicPr>
            <a:picLocks noChangeAspect="1"/>
          </p:cNvPicPr>
          <p:nvPr/>
        </p:nvPicPr>
        <p:blipFill rotWithShape="1">
          <a:blip r:embed="rId2"/>
          <a:srcRect l="46122" r="1365" b="2"/>
          <a:stretch>
            <a:fillRect/>
          </a:stretch>
        </p:blipFill>
        <p:spPr>
          <a:xfrm>
            <a:off x="20" y="3429000"/>
            <a:ext cx="4646965" cy="3429000"/>
          </a:xfrm>
          <a:prstGeom prst="rect">
            <a:avLst/>
          </a:prstGeom>
        </p:spPr>
      </p:pic>
      <p:cxnSp>
        <p:nvCxnSpPr>
          <p:cNvPr id="48" name="Straight Connector 47">
            <a:extLst>
              <a:ext uri="{FF2B5EF4-FFF2-40B4-BE49-F238E27FC236}">
                <a16:creationId xmlns:a16="http://schemas.microsoft.com/office/drawing/2014/main" id="{81F86B2C-5FF7-48E0-B5B0-ABEA39A1E2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429000"/>
            <a:ext cx="4662638" cy="0"/>
          </a:xfrm>
          <a:prstGeom prst="line">
            <a:avLst/>
          </a:prstGeom>
          <a:ln w="50800" cap="flat">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AB78DAB2-43B2-51A9-7743-4172E58D4026}"/>
              </a:ext>
            </a:extLst>
          </p:cNvPr>
          <p:cNvSpPr>
            <a:spLocks noGrp="1"/>
          </p:cNvSpPr>
          <p:nvPr>
            <p:ph idx="1"/>
          </p:nvPr>
        </p:nvSpPr>
        <p:spPr>
          <a:xfrm>
            <a:off x="6438191" y="2133600"/>
            <a:ext cx="5066419" cy="3777622"/>
          </a:xfrm>
        </p:spPr>
        <p:txBody>
          <a:bodyPr>
            <a:normAutofit/>
          </a:bodyPr>
          <a:lstStyle/>
          <a:p>
            <a:r>
              <a:rPr lang="tr-TR" dirty="0"/>
              <a:t>H</a:t>
            </a:r>
            <a:r>
              <a:rPr lang="de-DE" dirty="0" err="1"/>
              <a:t>astanın</a:t>
            </a:r>
            <a:r>
              <a:rPr lang="de-DE" dirty="0"/>
              <a:t> </a:t>
            </a:r>
            <a:r>
              <a:rPr lang="de-DE" dirty="0" err="1"/>
              <a:t>incelenecek</a:t>
            </a:r>
            <a:r>
              <a:rPr lang="de-DE" dirty="0"/>
              <a:t> </a:t>
            </a:r>
            <a:r>
              <a:rPr lang="de-DE" dirty="0" err="1"/>
              <a:t>bölgesi</a:t>
            </a:r>
            <a:r>
              <a:rPr lang="de-DE" dirty="0"/>
              <a:t> röntgen </a:t>
            </a:r>
            <a:r>
              <a:rPr lang="de-DE" dirty="0" err="1"/>
              <a:t>filmini</a:t>
            </a:r>
            <a:r>
              <a:rPr lang="tr-TR" dirty="0"/>
              <a:t> </a:t>
            </a:r>
            <a:r>
              <a:rPr lang="de-DE" dirty="0" err="1"/>
              <a:t>ta</a:t>
            </a:r>
            <a:r>
              <a:rPr lang="tr-TR" dirty="0"/>
              <a:t>ş</a:t>
            </a:r>
            <a:r>
              <a:rPr lang="de-DE" dirty="0" err="1"/>
              <a:t>ıyan</a:t>
            </a:r>
            <a:r>
              <a:rPr lang="de-DE" dirty="0"/>
              <a:t> </a:t>
            </a:r>
            <a:r>
              <a:rPr lang="de-DE" dirty="0" err="1"/>
              <a:t>kaset</a:t>
            </a:r>
            <a:r>
              <a:rPr lang="de-DE" dirty="0"/>
              <a:t> </a:t>
            </a:r>
            <a:r>
              <a:rPr lang="de-DE" dirty="0" err="1"/>
              <a:t>üzerine</a:t>
            </a:r>
            <a:r>
              <a:rPr lang="de-DE" dirty="0"/>
              <a:t> </a:t>
            </a:r>
            <a:r>
              <a:rPr lang="de-DE" dirty="0" err="1"/>
              <a:t>veya</a:t>
            </a:r>
            <a:r>
              <a:rPr lang="de-DE" dirty="0"/>
              <a:t> </a:t>
            </a:r>
            <a:r>
              <a:rPr lang="de-DE" dirty="0" err="1"/>
              <a:t>kasetin</a:t>
            </a:r>
            <a:r>
              <a:rPr lang="de-DE" dirty="0"/>
              <a:t> </a:t>
            </a:r>
            <a:r>
              <a:rPr lang="de-DE" dirty="0" err="1"/>
              <a:t>bulunduğu</a:t>
            </a:r>
            <a:r>
              <a:rPr lang="de-DE" dirty="0"/>
              <a:t> </a:t>
            </a:r>
            <a:r>
              <a:rPr lang="de-DE" dirty="0" err="1"/>
              <a:t>kaset</a:t>
            </a:r>
            <a:r>
              <a:rPr lang="de-DE" dirty="0"/>
              <a:t> </a:t>
            </a:r>
            <a:r>
              <a:rPr lang="de-DE" dirty="0" err="1"/>
              <a:t>ta</a:t>
            </a:r>
            <a:r>
              <a:rPr lang="tr-TR" dirty="0"/>
              <a:t>ş</a:t>
            </a:r>
            <a:r>
              <a:rPr lang="de-DE" dirty="0" err="1"/>
              <a:t>ıyıcılar</a:t>
            </a:r>
            <a:r>
              <a:rPr lang="de-DE" dirty="0"/>
              <a:t> </a:t>
            </a:r>
            <a:r>
              <a:rPr lang="de-DE" dirty="0" err="1"/>
              <a:t>üzerine</a:t>
            </a:r>
            <a:r>
              <a:rPr lang="de-DE" dirty="0"/>
              <a:t> </a:t>
            </a:r>
            <a:r>
              <a:rPr lang="de-DE" dirty="0" err="1"/>
              <a:t>gelecek</a:t>
            </a:r>
            <a:r>
              <a:rPr lang="de-DE" dirty="0"/>
              <a:t> </a:t>
            </a:r>
            <a:r>
              <a:rPr lang="tr-TR" dirty="0"/>
              <a:t>ş</a:t>
            </a:r>
            <a:r>
              <a:rPr lang="de-DE" dirty="0" err="1"/>
              <a:t>ekilde</a:t>
            </a:r>
            <a:r>
              <a:rPr lang="tr-TR" dirty="0"/>
              <a:t> </a:t>
            </a:r>
            <a:r>
              <a:rPr lang="de-DE" dirty="0" err="1"/>
              <a:t>yerle</a:t>
            </a:r>
            <a:r>
              <a:rPr lang="tr-TR" dirty="0"/>
              <a:t>ş</a:t>
            </a:r>
            <a:r>
              <a:rPr lang="de-DE" dirty="0" err="1"/>
              <a:t>tirilir</a:t>
            </a:r>
            <a:r>
              <a:rPr lang="de-DE" dirty="0"/>
              <a:t>. </a:t>
            </a:r>
            <a:r>
              <a:rPr lang="de-DE" dirty="0" err="1"/>
              <a:t>Çekilecek</a:t>
            </a:r>
            <a:r>
              <a:rPr lang="de-DE" dirty="0"/>
              <a:t> </a:t>
            </a:r>
            <a:r>
              <a:rPr lang="de-DE" dirty="0" err="1"/>
              <a:t>bölgeye</a:t>
            </a:r>
            <a:r>
              <a:rPr lang="de-DE" dirty="0"/>
              <a:t> göre, </a:t>
            </a:r>
            <a:r>
              <a:rPr lang="de-DE" dirty="0" err="1"/>
              <a:t>organ</a:t>
            </a:r>
            <a:r>
              <a:rPr lang="de-DE" dirty="0"/>
              <a:t> </a:t>
            </a:r>
            <a:r>
              <a:rPr lang="de-DE" dirty="0" err="1"/>
              <a:t>tüp</a:t>
            </a:r>
            <a:r>
              <a:rPr lang="de-DE" dirty="0"/>
              <a:t> </a:t>
            </a:r>
            <a:r>
              <a:rPr lang="de-DE" dirty="0" err="1"/>
              <a:t>mesafesi</a:t>
            </a:r>
            <a:r>
              <a:rPr lang="de-DE" dirty="0"/>
              <a:t> </a:t>
            </a:r>
            <a:r>
              <a:rPr lang="de-DE" dirty="0" err="1"/>
              <a:t>ayarlanarak</a:t>
            </a:r>
            <a:r>
              <a:rPr lang="de-DE" dirty="0"/>
              <a:t> röntgen </a:t>
            </a:r>
            <a:r>
              <a:rPr lang="de-DE" dirty="0" err="1"/>
              <a:t>tüpünden</a:t>
            </a:r>
            <a:r>
              <a:rPr lang="tr-TR" dirty="0"/>
              <a:t> </a:t>
            </a:r>
            <a:r>
              <a:rPr lang="de-DE" dirty="0" err="1"/>
              <a:t>incelenecek</a:t>
            </a:r>
            <a:r>
              <a:rPr lang="de-DE" dirty="0"/>
              <a:t> </a:t>
            </a:r>
            <a:r>
              <a:rPr lang="de-DE" dirty="0" err="1"/>
              <a:t>bölgeye</a:t>
            </a:r>
            <a:r>
              <a:rPr lang="de-DE" dirty="0"/>
              <a:t> x-ı</a:t>
            </a:r>
            <a:r>
              <a:rPr lang="tr-TR" dirty="0"/>
              <a:t>ş</a:t>
            </a:r>
            <a:r>
              <a:rPr lang="de-DE" dirty="0" err="1"/>
              <a:t>ını</a:t>
            </a:r>
            <a:r>
              <a:rPr lang="de-DE" dirty="0"/>
              <a:t> </a:t>
            </a:r>
            <a:r>
              <a:rPr lang="de-DE" dirty="0" err="1"/>
              <a:t>gönderilir</a:t>
            </a:r>
            <a:r>
              <a:rPr lang="de-DE" dirty="0"/>
              <a:t>.</a:t>
            </a:r>
            <a:endParaRPr lang="de-DE"/>
          </a:p>
        </p:txBody>
      </p:sp>
    </p:spTree>
    <p:extLst>
      <p:ext uri="{BB962C8B-B14F-4D97-AF65-F5344CB8AC3E}">
        <p14:creationId xmlns:p14="http://schemas.microsoft.com/office/powerpoint/2010/main" val="285501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3" name="Rectangle 8">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3724139-3DCA-5B51-6F90-B58743317A08}"/>
              </a:ext>
            </a:extLst>
          </p:cNvPr>
          <p:cNvSpPr>
            <a:spLocks noGrp="1"/>
          </p:cNvSpPr>
          <p:nvPr>
            <p:ph type="title"/>
          </p:nvPr>
        </p:nvSpPr>
        <p:spPr>
          <a:xfrm>
            <a:off x="649224" y="645106"/>
            <a:ext cx="3650279" cy="1259894"/>
          </a:xfrm>
        </p:spPr>
        <p:txBody>
          <a:bodyPr>
            <a:normAutofit/>
          </a:bodyPr>
          <a:lstStyle/>
          <a:p>
            <a:r>
              <a:rPr lang="tr-TR" b="1" dirty="0"/>
              <a:t>Konvansiyonel Röntgen</a:t>
            </a:r>
            <a:endParaRPr lang="de-DE" b="1" dirty="0"/>
          </a:p>
        </p:txBody>
      </p:sp>
      <p:sp>
        <p:nvSpPr>
          <p:cNvPr id="44" name="Rectangle 10">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AB78DAB2-43B2-51A9-7743-4172E58D4026}"/>
              </a:ext>
            </a:extLst>
          </p:cNvPr>
          <p:cNvSpPr>
            <a:spLocks noGrp="1"/>
          </p:cNvSpPr>
          <p:nvPr>
            <p:ph idx="1"/>
          </p:nvPr>
        </p:nvSpPr>
        <p:spPr>
          <a:xfrm>
            <a:off x="649225" y="2133600"/>
            <a:ext cx="3650278" cy="3759253"/>
          </a:xfrm>
        </p:spPr>
        <p:txBody>
          <a:bodyPr>
            <a:normAutofit/>
          </a:bodyPr>
          <a:lstStyle/>
          <a:p>
            <a:r>
              <a:rPr lang="de-DE"/>
              <a:t>X-Isınına duyarlı filmin kaset içerisine yerleştirilerek, hastanın röntgeninin çekilmesi ve daha sonra kaset içerisinde pozlandırılan filmin, karanlık oda ortamında banyo edil</a:t>
            </a:r>
            <a:r>
              <a:rPr lang="tr-TR"/>
              <a:t>mesine dayanır.</a:t>
            </a:r>
            <a:endParaRPr lang="de-DE"/>
          </a:p>
        </p:txBody>
      </p:sp>
      <p:pic>
        <p:nvPicPr>
          <p:cNvPr id="4" name="Resim 3">
            <a:extLst>
              <a:ext uri="{FF2B5EF4-FFF2-40B4-BE49-F238E27FC236}">
                <a16:creationId xmlns:a16="http://schemas.microsoft.com/office/drawing/2014/main" id="{53628D88-DB3C-9FC5-1FDB-1D90BCE88176}"/>
              </a:ext>
            </a:extLst>
          </p:cNvPr>
          <p:cNvPicPr>
            <a:picLocks noChangeAspect="1"/>
          </p:cNvPicPr>
          <p:nvPr/>
        </p:nvPicPr>
        <p:blipFill rotWithShape="1">
          <a:blip r:embed="rId2"/>
          <a:srcRect r="28363"/>
          <a:stretch/>
        </p:blipFill>
        <p:spPr>
          <a:xfrm>
            <a:off x="4619543" y="1689130"/>
            <a:ext cx="6953577" cy="3154673"/>
          </a:xfrm>
          <a:prstGeom prst="rect">
            <a:avLst/>
          </a:prstGeom>
        </p:spPr>
      </p:pic>
      <p:sp>
        <p:nvSpPr>
          <p:cNvPr id="45"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242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077D6A0-F0C7-2C1D-E8C1-20EA46BA8A30}"/>
              </a:ext>
            </a:extLst>
          </p:cNvPr>
          <p:cNvSpPr>
            <a:spLocks noGrp="1"/>
          </p:cNvSpPr>
          <p:nvPr>
            <p:ph type="title"/>
          </p:nvPr>
        </p:nvSpPr>
        <p:spPr>
          <a:xfrm>
            <a:off x="1259893" y="3101093"/>
            <a:ext cx="2454052" cy="3029344"/>
          </a:xfrm>
        </p:spPr>
        <p:txBody>
          <a:bodyPr>
            <a:normAutofit/>
          </a:bodyPr>
          <a:lstStyle/>
          <a:p>
            <a:r>
              <a:rPr lang="tr-TR" sz="3200" b="1">
                <a:solidFill>
                  <a:schemeClr val="bg1"/>
                </a:solidFill>
              </a:rPr>
              <a:t>Dijital Röntgen</a:t>
            </a:r>
            <a:endParaRPr lang="de-DE" sz="3200" b="1">
              <a:solidFill>
                <a:schemeClr val="bg1"/>
              </a:solidFill>
            </a:endParaRPr>
          </a:p>
        </p:txBody>
      </p:sp>
      <p:sp>
        <p:nvSpPr>
          <p:cNvPr id="10"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tr-TR"/>
          </a:p>
        </p:txBody>
      </p:sp>
      <p:sp useBgFill="1">
        <p:nvSpPr>
          <p:cNvPr id="12" name="Rectangle 11">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950BB61-4044-CF53-1403-2AA398EF50FC}"/>
              </a:ext>
            </a:extLst>
          </p:cNvPr>
          <p:cNvSpPr>
            <a:spLocks noGrp="1"/>
          </p:cNvSpPr>
          <p:nvPr>
            <p:ph idx="1"/>
          </p:nvPr>
        </p:nvSpPr>
        <p:spPr>
          <a:xfrm>
            <a:off x="4706578" y="589722"/>
            <a:ext cx="6798033" cy="5321500"/>
          </a:xfrm>
        </p:spPr>
        <p:txBody>
          <a:bodyPr anchor="ctr">
            <a:normAutofit/>
          </a:bodyPr>
          <a:lstStyle/>
          <a:p>
            <a:r>
              <a:rPr lang="de-DE" dirty="0" err="1"/>
              <a:t>Bu</a:t>
            </a:r>
            <a:r>
              <a:rPr lang="de-DE" dirty="0"/>
              <a:t> </a:t>
            </a:r>
            <a:r>
              <a:rPr lang="de-DE" dirty="0" err="1"/>
              <a:t>yöntemde</a:t>
            </a:r>
            <a:r>
              <a:rPr lang="de-DE" dirty="0"/>
              <a:t> </a:t>
            </a:r>
            <a:r>
              <a:rPr lang="de-DE" dirty="0" err="1"/>
              <a:t>hastayı</a:t>
            </a:r>
            <a:r>
              <a:rPr lang="de-DE" dirty="0"/>
              <a:t> </a:t>
            </a:r>
            <a:r>
              <a:rPr lang="de-DE" dirty="0" err="1"/>
              <a:t>geçen</a:t>
            </a:r>
            <a:r>
              <a:rPr lang="de-DE" dirty="0"/>
              <a:t> x-ı</a:t>
            </a:r>
            <a:r>
              <a:rPr lang="tr-TR" dirty="0"/>
              <a:t>ş</a:t>
            </a:r>
            <a:r>
              <a:rPr lang="de-DE" dirty="0" err="1"/>
              <a:t>ınları</a:t>
            </a:r>
            <a:r>
              <a:rPr lang="de-DE" dirty="0"/>
              <a:t> röntgen </a:t>
            </a:r>
            <a:r>
              <a:rPr lang="de-DE" dirty="0" err="1"/>
              <a:t>filmi</a:t>
            </a:r>
            <a:r>
              <a:rPr lang="de-DE" dirty="0"/>
              <a:t> </a:t>
            </a:r>
            <a:r>
              <a:rPr lang="de-DE" dirty="0" err="1"/>
              <a:t>üzerine</a:t>
            </a:r>
            <a:r>
              <a:rPr lang="de-DE" dirty="0"/>
              <a:t> </a:t>
            </a:r>
            <a:r>
              <a:rPr lang="de-DE" dirty="0" err="1"/>
              <a:t>değil</a:t>
            </a:r>
            <a:r>
              <a:rPr lang="de-DE" dirty="0"/>
              <a:t> </a:t>
            </a:r>
            <a:r>
              <a:rPr lang="de-DE" dirty="0" err="1"/>
              <a:t>özel</a:t>
            </a:r>
            <a:r>
              <a:rPr lang="tr-TR" dirty="0"/>
              <a:t> </a:t>
            </a:r>
            <a:r>
              <a:rPr lang="de-DE" dirty="0" err="1"/>
              <a:t>görüntü</a:t>
            </a:r>
            <a:r>
              <a:rPr lang="de-DE" dirty="0"/>
              <a:t> </a:t>
            </a:r>
            <a:r>
              <a:rPr lang="de-DE" dirty="0" err="1"/>
              <a:t>alıcı</a:t>
            </a:r>
            <a:r>
              <a:rPr lang="de-DE" dirty="0"/>
              <a:t> </a:t>
            </a:r>
            <a:r>
              <a:rPr lang="de-DE" dirty="0" err="1"/>
              <a:t>düzenek</a:t>
            </a:r>
            <a:r>
              <a:rPr lang="de-DE" dirty="0"/>
              <a:t> </a:t>
            </a:r>
            <a:r>
              <a:rPr lang="de-DE" dirty="0" err="1"/>
              <a:t>üzerine</a:t>
            </a:r>
            <a:r>
              <a:rPr lang="de-DE" dirty="0"/>
              <a:t> </a:t>
            </a:r>
            <a:r>
              <a:rPr lang="de-DE" dirty="0" err="1"/>
              <a:t>dü</a:t>
            </a:r>
            <a:r>
              <a:rPr lang="tr-TR" dirty="0"/>
              <a:t>ş</a:t>
            </a:r>
            <a:r>
              <a:rPr lang="de-DE" dirty="0" err="1"/>
              <a:t>ürülür</a:t>
            </a:r>
            <a:r>
              <a:rPr lang="de-DE" dirty="0"/>
              <a:t>. </a:t>
            </a:r>
            <a:r>
              <a:rPr lang="de-DE" dirty="0" err="1"/>
              <a:t>Bu</a:t>
            </a:r>
            <a:r>
              <a:rPr lang="de-DE" dirty="0"/>
              <a:t> </a:t>
            </a:r>
            <a:r>
              <a:rPr lang="tr-TR" dirty="0"/>
              <a:t>ş</a:t>
            </a:r>
            <a:r>
              <a:rPr lang="de-DE" dirty="0" err="1"/>
              <a:t>ekilde</a:t>
            </a:r>
            <a:r>
              <a:rPr lang="de-DE" dirty="0"/>
              <a:t> </a:t>
            </a:r>
            <a:r>
              <a:rPr lang="de-DE" dirty="0" err="1"/>
              <a:t>görüntüyü</a:t>
            </a:r>
            <a:r>
              <a:rPr lang="de-DE" dirty="0"/>
              <a:t> </a:t>
            </a:r>
            <a:r>
              <a:rPr lang="de-DE" dirty="0" err="1"/>
              <a:t>meydana</a:t>
            </a:r>
            <a:r>
              <a:rPr lang="de-DE" dirty="0"/>
              <a:t> </a:t>
            </a:r>
            <a:r>
              <a:rPr lang="de-DE" dirty="0" err="1"/>
              <a:t>getiren</a:t>
            </a:r>
            <a:r>
              <a:rPr lang="de-DE" dirty="0"/>
              <a:t> </a:t>
            </a:r>
            <a:r>
              <a:rPr lang="de-DE" dirty="0" err="1"/>
              <a:t>veriler</a:t>
            </a:r>
            <a:r>
              <a:rPr lang="de-DE" dirty="0"/>
              <a:t> </a:t>
            </a:r>
            <a:r>
              <a:rPr lang="de-DE" dirty="0" err="1"/>
              <a:t>önce</a:t>
            </a:r>
            <a:r>
              <a:rPr lang="tr-TR" dirty="0"/>
              <a:t> </a:t>
            </a:r>
            <a:r>
              <a:rPr lang="de-DE" dirty="0" err="1"/>
              <a:t>rakamsal</a:t>
            </a:r>
            <a:r>
              <a:rPr lang="de-DE" dirty="0"/>
              <a:t> </a:t>
            </a:r>
            <a:r>
              <a:rPr lang="de-DE" dirty="0" err="1"/>
              <a:t>verilere</a:t>
            </a:r>
            <a:r>
              <a:rPr lang="de-DE" dirty="0"/>
              <a:t> </a:t>
            </a:r>
            <a:r>
              <a:rPr lang="de-DE" dirty="0" err="1"/>
              <a:t>ve</a:t>
            </a:r>
            <a:r>
              <a:rPr lang="de-DE" dirty="0"/>
              <a:t> </a:t>
            </a:r>
            <a:r>
              <a:rPr lang="de-DE" dirty="0" err="1"/>
              <a:t>daha</a:t>
            </a:r>
            <a:r>
              <a:rPr lang="de-DE" dirty="0"/>
              <a:t> </a:t>
            </a:r>
            <a:r>
              <a:rPr lang="de-DE" dirty="0" err="1"/>
              <a:t>sonra</a:t>
            </a:r>
            <a:r>
              <a:rPr lang="de-DE" dirty="0"/>
              <a:t> da </a:t>
            </a:r>
            <a:r>
              <a:rPr lang="de-DE" dirty="0" err="1"/>
              <a:t>görüntüye</a:t>
            </a:r>
            <a:r>
              <a:rPr lang="de-DE" dirty="0"/>
              <a:t> </a:t>
            </a:r>
            <a:r>
              <a:rPr lang="de-DE" dirty="0" err="1"/>
              <a:t>dönü</a:t>
            </a:r>
            <a:r>
              <a:rPr lang="tr-TR" dirty="0"/>
              <a:t>ş</a:t>
            </a:r>
            <a:r>
              <a:rPr lang="de-DE" dirty="0" err="1"/>
              <a:t>türülür</a:t>
            </a:r>
            <a:r>
              <a:rPr lang="de-DE" dirty="0"/>
              <a:t>.</a:t>
            </a:r>
            <a:endParaRPr lang="tr-TR" dirty="0"/>
          </a:p>
          <a:p>
            <a:r>
              <a:rPr lang="de-DE" dirty="0" err="1"/>
              <a:t>Konvansiyonel</a:t>
            </a:r>
            <a:r>
              <a:rPr lang="de-DE" dirty="0"/>
              <a:t> röntgende </a:t>
            </a:r>
            <a:r>
              <a:rPr lang="de-DE" dirty="0" err="1"/>
              <a:t>gümü</a:t>
            </a:r>
            <a:r>
              <a:rPr lang="tr-TR" dirty="0"/>
              <a:t>ş</a:t>
            </a:r>
            <a:r>
              <a:rPr lang="de-DE" dirty="0"/>
              <a:t> </a:t>
            </a:r>
            <a:r>
              <a:rPr lang="de-DE" dirty="0" err="1"/>
              <a:t>kristallerinde</a:t>
            </a:r>
            <a:r>
              <a:rPr lang="de-DE" dirty="0"/>
              <a:t> </a:t>
            </a:r>
            <a:r>
              <a:rPr lang="de-DE" dirty="0" err="1"/>
              <a:t>olu</a:t>
            </a:r>
            <a:r>
              <a:rPr lang="tr-TR" dirty="0"/>
              <a:t>ş</a:t>
            </a:r>
            <a:r>
              <a:rPr lang="de-DE" dirty="0"/>
              <a:t>an </a:t>
            </a:r>
            <a:r>
              <a:rPr lang="de-DE" dirty="0" err="1"/>
              <a:t>siyahla</a:t>
            </a:r>
            <a:r>
              <a:rPr lang="tr-TR" dirty="0"/>
              <a:t>ş</a:t>
            </a:r>
            <a:r>
              <a:rPr lang="de-DE" dirty="0" err="1"/>
              <a:t>manın</a:t>
            </a:r>
            <a:r>
              <a:rPr lang="de-DE" dirty="0"/>
              <a:t> </a:t>
            </a:r>
            <a:r>
              <a:rPr lang="de-DE" dirty="0" err="1"/>
              <a:t>etkisiyle</a:t>
            </a:r>
            <a:r>
              <a:rPr lang="de-DE" dirty="0"/>
              <a:t> </a:t>
            </a:r>
            <a:r>
              <a:rPr lang="de-DE" dirty="0" err="1"/>
              <a:t>ortaya</a:t>
            </a:r>
            <a:r>
              <a:rPr lang="de-DE" dirty="0"/>
              <a:t> </a:t>
            </a:r>
            <a:r>
              <a:rPr lang="de-DE" dirty="0" err="1"/>
              <a:t>çıkan</a:t>
            </a:r>
            <a:r>
              <a:rPr lang="tr-TR" dirty="0"/>
              <a:t> </a:t>
            </a:r>
            <a:r>
              <a:rPr lang="de-DE" dirty="0" err="1"/>
              <a:t>tonlama</a:t>
            </a:r>
            <a:r>
              <a:rPr lang="de-DE" dirty="0"/>
              <a:t>, </a:t>
            </a:r>
            <a:r>
              <a:rPr lang="de-DE" dirty="0" err="1"/>
              <a:t>bilgisayarda</a:t>
            </a:r>
            <a:r>
              <a:rPr lang="de-DE" dirty="0"/>
              <a:t> </a:t>
            </a:r>
            <a:r>
              <a:rPr lang="de-DE" dirty="0" err="1"/>
              <a:t>ilgili</a:t>
            </a:r>
            <a:r>
              <a:rPr lang="de-DE" dirty="0"/>
              <a:t> </a:t>
            </a:r>
            <a:r>
              <a:rPr lang="de-DE" dirty="0" err="1"/>
              <a:t>alana</a:t>
            </a:r>
            <a:r>
              <a:rPr lang="de-DE" dirty="0"/>
              <a:t> </a:t>
            </a:r>
            <a:r>
              <a:rPr lang="de-DE" dirty="0" err="1"/>
              <a:t>uyan</a:t>
            </a:r>
            <a:r>
              <a:rPr lang="de-DE" dirty="0"/>
              <a:t> </a:t>
            </a:r>
            <a:r>
              <a:rPr lang="de-DE" dirty="0" err="1"/>
              <a:t>rakamsal</a:t>
            </a:r>
            <a:r>
              <a:rPr lang="de-DE" dirty="0"/>
              <a:t> </a:t>
            </a:r>
            <a:r>
              <a:rPr lang="de-DE" dirty="0" err="1"/>
              <a:t>verinin</a:t>
            </a:r>
            <a:r>
              <a:rPr lang="de-DE" dirty="0"/>
              <a:t> </a:t>
            </a:r>
            <a:r>
              <a:rPr lang="de-DE" dirty="0" err="1"/>
              <a:t>renkle</a:t>
            </a:r>
            <a:r>
              <a:rPr lang="de-DE" dirty="0"/>
              <a:t> </a:t>
            </a:r>
            <a:r>
              <a:rPr lang="de-DE" dirty="0" err="1"/>
              <a:t>kodlanması</a:t>
            </a:r>
            <a:r>
              <a:rPr lang="de-DE" dirty="0"/>
              <a:t> </a:t>
            </a:r>
            <a:r>
              <a:rPr lang="de-DE" dirty="0" err="1"/>
              <a:t>ile</a:t>
            </a:r>
            <a:r>
              <a:rPr lang="tr-TR" dirty="0"/>
              <a:t> </a:t>
            </a:r>
            <a:r>
              <a:rPr lang="de-DE" dirty="0" err="1"/>
              <a:t>olu</a:t>
            </a:r>
            <a:r>
              <a:rPr lang="tr-TR" dirty="0"/>
              <a:t>ş</a:t>
            </a:r>
            <a:r>
              <a:rPr lang="de-DE" dirty="0" err="1"/>
              <a:t>turulmaktadır</a:t>
            </a:r>
            <a:r>
              <a:rPr lang="de-DE" dirty="0"/>
              <a:t>. </a:t>
            </a:r>
            <a:r>
              <a:rPr lang="tr-TR" dirty="0"/>
              <a:t>G</a:t>
            </a:r>
            <a:r>
              <a:rPr lang="de-DE" dirty="0" err="1"/>
              <a:t>örüntü</a:t>
            </a:r>
            <a:r>
              <a:rPr lang="de-DE" dirty="0"/>
              <a:t>, </a:t>
            </a:r>
            <a:r>
              <a:rPr lang="de-DE" dirty="0" err="1"/>
              <a:t>hastayı</a:t>
            </a:r>
            <a:r>
              <a:rPr lang="de-DE" dirty="0"/>
              <a:t> </a:t>
            </a:r>
            <a:r>
              <a:rPr lang="de-DE" dirty="0" err="1"/>
              <a:t>geçen</a:t>
            </a:r>
            <a:r>
              <a:rPr lang="de-DE" dirty="0"/>
              <a:t> x</a:t>
            </a:r>
            <a:r>
              <a:rPr lang="tr-TR" dirty="0"/>
              <a:t>-</a:t>
            </a:r>
            <a:r>
              <a:rPr lang="de-DE" dirty="0"/>
              <a:t>ı</a:t>
            </a:r>
            <a:r>
              <a:rPr lang="tr-TR" dirty="0"/>
              <a:t>ş</a:t>
            </a:r>
            <a:r>
              <a:rPr lang="de-DE" dirty="0" err="1"/>
              <a:t>ınlarının</a:t>
            </a:r>
            <a:r>
              <a:rPr lang="de-DE" dirty="0"/>
              <a:t> </a:t>
            </a:r>
            <a:r>
              <a:rPr lang="de-DE" dirty="0" err="1"/>
              <a:t>güçlü</a:t>
            </a:r>
            <a:r>
              <a:rPr lang="de-DE" dirty="0"/>
              <a:t> </a:t>
            </a:r>
            <a:r>
              <a:rPr lang="de-DE" dirty="0" err="1"/>
              <a:t>bilgisayarlarda</a:t>
            </a:r>
            <a:r>
              <a:rPr lang="de-DE" dirty="0"/>
              <a:t> </a:t>
            </a:r>
            <a:r>
              <a:rPr lang="de-DE" dirty="0" err="1"/>
              <a:t>sayısal</a:t>
            </a:r>
            <a:r>
              <a:rPr lang="de-DE" dirty="0"/>
              <a:t> </a:t>
            </a:r>
            <a:r>
              <a:rPr lang="de-DE" dirty="0" err="1"/>
              <a:t>olarak</a:t>
            </a:r>
            <a:r>
              <a:rPr lang="de-DE" dirty="0"/>
              <a:t> </a:t>
            </a:r>
            <a:r>
              <a:rPr lang="de-DE" dirty="0" err="1"/>
              <a:t>ölçülmesi</a:t>
            </a:r>
            <a:r>
              <a:rPr lang="de-DE" dirty="0"/>
              <a:t> </a:t>
            </a:r>
            <a:r>
              <a:rPr lang="de-DE" dirty="0" err="1"/>
              <a:t>ile</a:t>
            </a:r>
            <a:r>
              <a:rPr lang="de-DE" dirty="0"/>
              <a:t> </a:t>
            </a:r>
            <a:r>
              <a:rPr lang="de-DE" dirty="0" err="1"/>
              <a:t>olu</a:t>
            </a:r>
            <a:r>
              <a:rPr lang="tr-TR" dirty="0"/>
              <a:t>ş</a:t>
            </a:r>
            <a:r>
              <a:rPr lang="de-DE" dirty="0" err="1"/>
              <a:t>turulur</a:t>
            </a:r>
            <a:r>
              <a:rPr lang="de-DE" dirty="0"/>
              <a:t>.</a:t>
            </a:r>
          </a:p>
          <a:p>
            <a:endParaRPr lang="de-DE" dirty="0"/>
          </a:p>
        </p:txBody>
      </p:sp>
    </p:spTree>
    <p:extLst>
      <p:ext uri="{BB962C8B-B14F-4D97-AF65-F5344CB8AC3E}">
        <p14:creationId xmlns:p14="http://schemas.microsoft.com/office/powerpoint/2010/main" val="2542711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73237B-D536-4B4C-8928-3510CB0F8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F1DA52C-0422-8162-C33A-0632FB78BFE8}"/>
              </a:ext>
            </a:extLst>
          </p:cNvPr>
          <p:cNvSpPr>
            <a:spLocks noGrp="1"/>
          </p:cNvSpPr>
          <p:nvPr>
            <p:ph type="title"/>
          </p:nvPr>
        </p:nvSpPr>
        <p:spPr>
          <a:xfrm>
            <a:off x="649224" y="645106"/>
            <a:ext cx="3650279" cy="1259894"/>
          </a:xfrm>
        </p:spPr>
        <p:txBody>
          <a:bodyPr>
            <a:normAutofit/>
          </a:bodyPr>
          <a:lstStyle/>
          <a:p>
            <a:r>
              <a:rPr lang="tr-TR" b="1" dirty="0"/>
              <a:t>Mamografi</a:t>
            </a:r>
            <a:endParaRPr lang="de-DE" b="1" dirty="0"/>
          </a:p>
        </p:txBody>
      </p:sp>
      <p:sp>
        <p:nvSpPr>
          <p:cNvPr id="22" name="Rectangle 21">
            <a:extLst>
              <a:ext uri="{FF2B5EF4-FFF2-40B4-BE49-F238E27FC236}">
                <a16:creationId xmlns:a16="http://schemas.microsoft.com/office/drawing/2014/main" id="{488B1383-B33A-45D9-AF5F-DD1522135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99989F6C-5504-C3B2-EEE0-BA16C71AA784}"/>
              </a:ext>
            </a:extLst>
          </p:cNvPr>
          <p:cNvSpPr>
            <a:spLocks noGrp="1"/>
          </p:cNvSpPr>
          <p:nvPr>
            <p:ph idx="1"/>
          </p:nvPr>
        </p:nvSpPr>
        <p:spPr>
          <a:xfrm>
            <a:off x="6222974" y="190741"/>
            <a:ext cx="5969025" cy="1879219"/>
          </a:xfrm>
        </p:spPr>
        <p:txBody>
          <a:bodyPr>
            <a:normAutofit/>
          </a:bodyPr>
          <a:lstStyle/>
          <a:p>
            <a:r>
              <a:rPr lang="de-DE" dirty="0" err="1"/>
              <a:t>Mammografi</a:t>
            </a:r>
            <a:r>
              <a:rPr lang="de-DE" dirty="0"/>
              <a:t>, </a:t>
            </a:r>
            <a:r>
              <a:rPr lang="de-DE" dirty="0" err="1"/>
              <a:t>memenin</a:t>
            </a:r>
            <a:r>
              <a:rPr lang="de-DE" dirty="0"/>
              <a:t> x </a:t>
            </a:r>
            <a:r>
              <a:rPr lang="de-DE" dirty="0" err="1"/>
              <a:t>ışını</a:t>
            </a:r>
            <a:r>
              <a:rPr lang="de-DE" dirty="0"/>
              <a:t> </a:t>
            </a:r>
            <a:r>
              <a:rPr lang="de-DE" dirty="0" err="1"/>
              <a:t>kullanılarak</a:t>
            </a:r>
            <a:r>
              <a:rPr lang="tr-TR" dirty="0"/>
              <a:t> </a:t>
            </a:r>
            <a:r>
              <a:rPr lang="de-DE" dirty="0" err="1"/>
              <a:t>özel</a:t>
            </a:r>
            <a:r>
              <a:rPr lang="de-DE" dirty="0"/>
              <a:t> </a:t>
            </a:r>
            <a:r>
              <a:rPr lang="de-DE" dirty="0" err="1"/>
              <a:t>yumuşak</a:t>
            </a:r>
            <a:r>
              <a:rPr lang="de-DE" dirty="0"/>
              <a:t> </a:t>
            </a:r>
            <a:r>
              <a:rPr lang="de-DE" dirty="0" err="1"/>
              <a:t>doku</a:t>
            </a:r>
            <a:r>
              <a:rPr lang="de-DE" dirty="0"/>
              <a:t> </a:t>
            </a:r>
            <a:r>
              <a:rPr lang="de-DE" dirty="0" err="1"/>
              <a:t>tekniği</a:t>
            </a:r>
            <a:r>
              <a:rPr lang="de-DE" dirty="0"/>
              <a:t> </a:t>
            </a:r>
            <a:r>
              <a:rPr lang="de-DE" dirty="0" err="1"/>
              <a:t>ile</a:t>
            </a:r>
            <a:r>
              <a:rPr lang="de-DE" dirty="0"/>
              <a:t> </a:t>
            </a:r>
            <a:r>
              <a:rPr lang="de-DE" dirty="0" err="1"/>
              <a:t>elde</a:t>
            </a:r>
            <a:r>
              <a:rPr lang="de-DE" dirty="0"/>
              <a:t> </a:t>
            </a:r>
            <a:r>
              <a:rPr lang="tr-TR" dirty="0"/>
              <a:t>edilen</a:t>
            </a:r>
            <a:r>
              <a:rPr lang="de-DE" dirty="0"/>
              <a:t> film</a:t>
            </a:r>
            <a:r>
              <a:rPr lang="tr-TR" dirty="0"/>
              <a:t> </a:t>
            </a:r>
            <a:r>
              <a:rPr lang="de-DE" dirty="0" err="1"/>
              <a:t>görüntüsüdür</a:t>
            </a:r>
            <a:r>
              <a:rPr lang="de-DE" dirty="0"/>
              <a:t> </a:t>
            </a:r>
            <a:r>
              <a:rPr lang="de-DE" dirty="0" err="1"/>
              <a:t>ve</a:t>
            </a:r>
            <a:r>
              <a:rPr lang="de-DE" dirty="0"/>
              <a:t> </a:t>
            </a:r>
            <a:r>
              <a:rPr lang="de-DE" dirty="0" err="1"/>
              <a:t>özel</a:t>
            </a:r>
            <a:r>
              <a:rPr lang="de-DE" dirty="0"/>
              <a:t> </a:t>
            </a:r>
            <a:r>
              <a:rPr lang="de-DE" dirty="0" err="1"/>
              <a:t>cihazla</a:t>
            </a:r>
            <a:r>
              <a:rPr lang="de-DE" dirty="0"/>
              <a:t> </a:t>
            </a:r>
            <a:r>
              <a:rPr lang="de-DE" dirty="0" err="1"/>
              <a:t>gerçekleştirilir</a:t>
            </a:r>
            <a:r>
              <a:rPr lang="de-DE" dirty="0"/>
              <a:t>. </a:t>
            </a:r>
            <a:r>
              <a:rPr lang="de-DE" dirty="0" err="1"/>
              <a:t>Yöntemde</a:t>
            </a:r>
            <a:r>
              <a:rPr lang="de-DE" dirty="0"/>
              <a:t> </a:t>
            </a:r>
            <a:r>
              <a:rPr lang="de-DE" dirty="0" err="1"/>
              <a:t>kullanılan</a:t>
            </a:r>
            <a:r>
              <a:rPr lang="de-DE" dirty="0"/>
              <a:t> x </a:t>
            </a:r>
            <a:r>
              <a:rPr lang="de-DE" dirty="0" err="1"/>
              <a:t>ışını</a:t>
            </a:r>
            <a:r>
              <a:rPr lang="de-DE" dirty="0"/>
              <a:t> </a:t>
            </a:r>
            <a:r>
              <a:rPr lang="de-DE" dirty="0" err="1"/>
              <a:t>miktarı</a:t>
            </a:r>
            <a:r>
              <a:rPr lang="tr-TR" dirty="0"/>
              <a:t> </a:t>
            </a:r>
            <a:r>
              <a:rPr lang="de-DE" dirty="0" err="1"/>
              <a:t>göz</a:t>
            </a:r>
            <a:r>
              <a:rPr lang="de-DE" dirty="0"/>
              <a:t> </a:t>
            </a:r>
            <a:r>
              <a:rPr lang="de-DE" dirty="0" err="1"/>
              <a:t>ardı</a:t>
            </a:r>
            <a:r>
              <a:rPr lang="de-DE" dirty="0"/>
              <a:t> </a:t>
            </a:r>
            <a:r>
              <a:rPr lang="de-DE" dirty="0" err="1"/>
              <a:t>edilecek</a:t>
            </a:r>
            <a:r>
              <a:rPr lang="de-DE" dirty="0"/>
              <a:t> </a:t>
            </a:r>
            <a:r>
              <a:rPr lang="de-DE" dirty="0" err="1"/>
              <a:t>derecede</a:t>
            </a:r>
            <a:r>
              <a:rPr lang="de-DE" dirty="0"/>
              <a:t> </a:t>
            </a:r>
            <a:r>
              <a:rPr lang="de-DE" dirty="0" err="1"/>
              <a:t>düşüktür</a:t>
            </a:r>
            <a:r>
              <a:rPr lang="de-DE" dirty="0"/>
              <a:t>. </a:t>
            </a:r>
          </a:p>
        </p:txBody>
      </p:sp>
      <p:pic>
        <p:nvPicPr>
          <p:cNvPr id="6" name="Resim 5">
            <a:extLst>
              <a:ext uri="{FF2B5EF4-FFF2-40B4-BE49-F238E27FC236}">
                <a16:creationId xmlns:a16="http://schemas.microsoft.com/office/drawing/2014/main" id="{5CCDA71C-F9F6-0E3E-0D43-927166DD0585}"/>
              </a:ext>
            </a:extLst>
          </p:cNvPr>
          <p:cNvPicPr>
            <a:picLocks noChangeAspect="1"/>
          </p:cNvPicPr>
          <p:nvPr/>
        </p:nvPicPr>
        <p:blipFill>
          <a:blip r:embed="rId2"/>
          <a:stretch>
            <a:fillRect/>
          </a:stretch>
        </p:blipFill>
        <p:spPr>
          <a:xfrm>
            <a:off x="649224" y="1474006"/>
            <a:ext cx="5185418" cy="4109444"/>
          </a:xfrm>
          <a:prstGeom prst="rect">
            <a:avLst/>
          </a:prstGeom>
        </p:spPr>
      </p:pic>
      <p:pic>
        <p:nvPicPr>
          <p:cNvPr id="5" name="Resim 4">
            <a:extLst>
              <a:ext uri="{FF2B5EF4-FFF2-40B4-BE49-F238E27FC236}">
                <a16:creationId xmlns:a16="http://schemas.microsoft.com/office/drawing/2014/main" id="{3E5B15D1-0C2C-094D-9E71-F6604B9F5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2973" y="1990987"/>
            <a:ext cx="5505691" cy="3592463"/>
          </a:xfrm>
          <a:prstGeom prst="rect">
            <a:avLst/>
          </a:prstGeom>
        </p:spPr>
      </p:pic>
      <p:sp>
        <p:nvSpPr>
          <p:cNvPr id="24" name="Freeform 11">
            <a:extLst>
              <a:ext uri="{FF2B5EF4-FFF2-40B4-BE49-F238E27FC236}">
                <a16:creationId xmlns:a16="http://schemas.microsoft.com/office/drawing/2014/main" id="{ADD2565E-493E-4545-99C0-2F033FAF9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8132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067158-84F3-4571-33CF-A27B348A0FCE}"/>
              </a:ext>
            </a:extLst>
          </p:cNvPr>
          <p:cNvSpPr>
            <a:spLocks noGrp="1"/>
          </p:cNvSpPr>
          <p:nvPr>
            <p:ph type="title"/>
          </p:nvPr>
        </p:nvSpPr>
        <p:spPr>
          <a:xfrm>
            <a:off x="2592926" y="624110"/>
            <a:ext cx="4633466" cy="1280890"/>
          </a:xfrm>
        </p:spPr>
        <p:txBody>
          <a:bodyPr>
            <a:normAutofit/>
          </a:bodyPr>
          <a:lstStyle/>
          <a:p>
            <a:br>
              <a:rPr lang="tr-TR" b="1" dirty="0"/>
            </a:br>
            <a:r>
              <a:rPr lang="tr-TR" b="1" dirty="0"/>
              <a:t>Anjiyografi</a:t>
            </a:r>
            <a:endParaRPr lang="de-DE" b="1" dirty="0"/>
          </a:p>
        </p:txBody>
      </p:sp>
      <p:sp>
        <p:nvSpPr>
          <p:cNvPr id="3" name="İçerik Yer Tutucusu 2">
            <a:extLst>
              <a:ext uri="{FF2B5EF4-FFF2-40B4-BE49-F238E27FC236}">
                <a16:creationId xmlns:a16="http://schemas.microsoft.com/office/drawing/2014/main" id="{C03C95F2-9C42-216F-8BE5-D39A0FA7E89A}"/>
              </a:ext>
            </a:extLst>
          </p:cNvPr>
          <p:cNvSpPr>
            <a:spLocks noGrp="1"/>
          </p:cNvSpPr>
          <p:nvPr>
            <p:ph idx="1"/>
          </p:nvPr>
        </p:nvSpPr>
        <p:spPr>
          <a:xfrm>
            <a:off x="2589213" y="2040467"/>
            <a:ext cx="4637179" cy="3870755"/>
          </a:xfrm>
        </p:spPr>
        <p:txBody>
          <a:bodyPr>
            <a:normAutofit/>
          </a:bodyPr>
          <a:lstStyle/>
          <a:p>
            <a:r>
              <a:rPr lang="de-DE" dirty="0" err="1"/>
              <a:t>Anjiyografi</a:t>
            </a:r>
            <a:r>
              <a:rPr lang="de-DE" dirty="0"/>
              <a:t>, </a:t>
            </a:r>
            <a:r>
              <a:rPr lang="de-DE" dirty="0" err="1"/>
              <a:t>kalbin</a:t>
            </a:r>
            <a:r>
              <a:rPr lang="de-DE" dirty="0"/>
              <a:t> </a:t>
            </a:r>
            <a:r>
              <a:rPr lang="de-DE" dirty="0" err="1"/>
              <a:t>ve</a:t>
            </a:r>
            <a:r>
              <a:rPr lang="de-DE" dirty="0"/>
              <a:t> </a:t>
            </a:r>
            <a:r>
              <a:rPr lang="de-DE" dirty="0" err="1"/>
              <a:t>damarlarının</a:t>
            </a:r>
            <a:r>
              <a:rPr lang="de-DE" dirty="0"/>
              <a:t> </a:t>
            </a:r>
            <a:r>
              <a:rPr lang="de-DE" dirty="0" err="1"/>
              <a:t>kontrast</a:t>
            </a:r>
            <a:r>
              <a:rPr lang="de-DE" dirty="0"/>
              <a:t> </a:t>
            </a:r>
            <a:r>
              <a:rPr lang="de-DE" dirty="0" err="1"/>
              <a:t>madde</a:t>
            </a:r>
            <a:r>
              <a:rPr lang="de-DE" dirty="0"/>
              <a:t> </a:t>
            </a:r>
            <a:r>
              <a:rPr lang="de-DE" dirty="0" err="1"/>
              <a:t>verilerek</a:t>
            </a:r>
            <a:r>
              <a:rPr lang="de-DE" dirty="0"/>
              <a:t> </a:t>
            </a:r>
            <a:r>
              <a:rPr lang="de-DE" dirty="0" err="1"/>
              <a:t>yapılan</a:t>
            </a:r>
            <a:r>
              <a:rPr lang="tr-TR" dirty="0"/>
              <a:t> </a:t>
            </a:r>
            <a:r>
              <a:rPr lang="de-DE" dirty="0" err="1"/>
              <a:t>görüntülenmesidir</a:t>
            </a:r>
            <a:r>
              <a:rPr lang="de-DE" dirty="0"/>
              <a:t>. </a:t>
            </a:r>
            <a:r>
              <a:rPr lang="de-DE" dirty="0" err="1"/>
              <a:t>Anjiyografi</a:t>
            </a:r>
            <a:r>
              <a:rPr lang="de-DE" dirty="0"/>
              <a:t> </a:t>
            </a:r>
            <a:r>
              <a:rPr lang="de-DE" dirty="0" err="1"/>
              <a:t>denildiğinde</a:t>
            </a:r>
            <a:r>
              <a:rPr lang="de-DE" dirty="0"/>
              <a:t>, </a:t>
            </a:r>
            <a:r>
              <a:rPr lang="de-DE" dirty="0" err="1"/>
              <a:t>daha</a:t>
            </a:r>
            <a:r>
              <a:rPr lang="de-DE" dirty="0"/>
              <a:t> </a:t>
            </a:r>
            <a:r>
              <a:rPr lang="de-DE" dirty="0" err="1"/>
              <a:t>çok</a:t>
            </a:r>
            <a:r>
              <a:rPr lang="de-DE" dirty="0"/>
              <a:t> </a:t>
            </a:r>
            <a:r>
              <a:rPr lang="de-DE" dirty="0" err="1"/>
              <a:t>kalbi</a:t>
            </a:r>
            <a:r>
              <a:rPr lang="de-DE" dirty="0"/>
              <a:t> </a:t>
            </a:r>
            <a:r>
              <a:rPr lang="de-DE" dirty="0" err="1"/>
              <a:t>besleyen</a:t>
            </a:r>
            <a:r>
              <a:rPr lang="de-DE" dirty="0"/>
              <a:t> </a:t>
            </a:r>
            <a:r>
              <a:rPr lang="de-DE" dirty="0" err="1"/>
              <a:t>koroner</a:t>
            </a:r>
            <a:r>
              <a:rPr lang="de-DE" dirty="0"/>
              <a:t> </a:t>
            </a:r>
            <a:r>
              <a:rPr lang="de-DE" dirty="0" err="1"/>
              <a:t>arterlerin</a:t>
            </a:r>
            <a:r>
              <a:rPr lang="tr-TR" dirty="0"/>
              <a:t> </a:t>
            </a:r>
            <a:r>
              <a:rPr lang="de-DE" dirty="0" err="1"/>
              <a:t>incelendiği</a:t>
            </a:r>
            <a:r>
              <a:rPr lang="de-DE" dirty="0"/>
              <a:t>, </a:t>
            </a:r>
            <a:r>
              <a:rPr lang="de-DE" dirty="0" err="1"/>
              <a:t>koroner</a:t>
            </a:r>
            <a:r>
              <a:rPr lang="de-DE" dirty="0"/>
              <a:t> </a:t>
            </a:r>
            <a:r>
              <a:rPr lang="de-DE" dirty="0" err="1"/>
              <a:t>anjiyografi</a:t>
            </a:r>
            <a:r>
              <a:rPr lang="de-DE" dirty="0"/>
              <a:t> </a:t>
            </a:r>
            <a:r>
              <a:rPr lang="de-DE" dirty="0" err="1"/>
              <a:t>anla</a:t>
            </a:r>
            <a:r>
              <a:rPr lang="tr-TR" dirty="0"/>
              <a:t>ş</a:t>
            </a:r>
            <a:r>
              <a:rPr lang="de-DE" dirty="0" err="1"/>
              <a:t>ılmakla</a:t>
            </a:r>
            <a:r>
              <a:rPr lang="de-DE" dirty="0"/>
              <a:t> </a:t>
            </a:r>
            <a:r>
              <a:rPr lang="de-DE" dirty="0" err="1"/>
              <a:t>birlikte</a:t>
            </a:r>
            <a:r>
              <a:rPr lang="de-DE" dirty="0"/>
              <a:t> </a:t>
            </a:r>
            <a:r>
              <a:rPr lang="de-DE" dirty="0" err="1"/>
              <a:t>kalp</a:t>
            </a:r>
            <a:r>
              <a:rPr lang="de-DE" dirty="0"/>
              <a:t>, </a:t>
            </a:r>
            <a:r>
              <a:rPr lang="de-DE" dirty="0" err="1"/>
              <a:t>diğer</a:t>
            </a:r>
            <a:r>
              <a:rPr lang="de-DE" dirty="0"/>
              <a:t> </a:t>
            </a:r>
            <a:r>
              <a:rPr lang="de-DE" dirty="0" err="1"/>
              <a:t>arteler</a:t>
            </a:r>
            <a:r>
              <a:rPr lang="de-DE" dirty="0"/>
              <a:t>, </a:t>
            </a:r>
            <a:r>
              <a:rPr lang="de-DE" dirty="0" err="1"/>
              <a:t>venler</a:t>
            </a:r>
            <a:r>
              <a:rPr lang="de-DE" dirty="0"/>
              <a:t> </a:t>
            </a:r>
            <a:r>
              <a:rPr lang="de-DE" dirty="0" err="1"/>
              <a:t>ve</a:t>
            </a:r>
            <a:r>
              <a:rPr lang="de-DE" dirty="0"/>
              <a:t> </a:t>
            </a:r>
            <a:r>
              <a:rPr lang="de-DE" dirty="0" err="1"/>
              <a:t>lenf</a:t>
            </a:r>
            <a:r>
              <a:rPr lang="tr-TR" dirty="0"/>
              <a:t> </a:t>
            </a:r>
            <a:r>
              <a:rPr lang="de-DE" dirty="0" err="1"/>
              <a:t>damarları</a:t>
            </a:r>
            <a:r>
              <a:rPr lang="de-DE" dirty="0"/>
              <a:t> da </a:t>
            </a:r>
            <a:r>
              <a:rPr lang="de-DE" dirty="0" err="1"/>
              <a:t>incelenir</a:t>
            </a:r>
            <a:r>
              <a:rPr lang="de-DE" dirty="0"/>
              <a:t>. </a:t>
            </a:r>
            <a:r>
              <a:rPr lang="de-DE" dirty="0" err="1"/>
              <a:t>Anjiyografi</a:t>
            </a:r>
            <a:r>
              <a:rPr lang="de-DE" dirty="0"/>
              <a:t> </a:t>
            </a:r>
            <a:r>
              <a:rPr lang="de-DE" dirty="0" err="1"/>
              <a:t>genellikle</a:t>
            </a:r>
            <a:r>
              <a:rPr lang="de-DE" dirty="0"/>
              <a:t> </a:t>
            </a:r>
            <a:r>
              <a:rPr lang="de-DE" dirty="0" err="1"/>
              <a:t>incelenen</a:t>
            </a:r>
            <a:r>
              <a:rPr lang="de-DE" dirty="0"/>
              <a:t> </a:t>
            </a:r>
            <a:r>
              <a:rPr lang="de-DE" dirty="0" err="1"/>
              <a:t>bölge</a:t>
            </a:r>
            <a:r>
              <a:rPr lang="de-DE" dirty="0"/>
              <a:t> </a:t>
            </a:r>
            <a:r>
              <a:rPr lang="de-DE" dirty="0" err="1"/>
              <a:t>ve</a:t>
            </a:r>
            <a:r>
              <a:rPr lang="de-DE" dirty="0"/>
              <a:t> </a:t>
            </a:r>
            <a:r>
              <a:rPr lang="de-DE" dirty="0" err="1"/>
              <a:t>organa</a:t>
            </a:r>
            <a:r>
              <a:rPr lang="de-DE" dirty="0"/>
              <a:t> göre </a:t>
            </a:r>
            <a:r>
              <a:rPr lang="de-DE" dirty="0" err="1"/>
              <a:t>adlandırılır</a:t>
            </a:r>
            <a:r>
              <a:rPr lang="de-DE" dirty="0"/>
              <a:t>. </a:t>
            </a:r>
          </a:p>
        </p:txBody>
      </p:sp>
      <p:pic>
        <p:nvPicPr>
          <p:cNvPr id="5" name="Resim 4">
            <a:extLst>
              <a:ext uri="{FF2B5EF4-FFF2-40B4-BE49-F238E27FC236}">
                <a16:creationId xmlns:a16="http://schemas.microsoft.com/office/drawing/2014/main" id="{E5022F01-DA6D-734C-418D-9D08F00D3C4B}"/>
              </a:ext>
            </a:extLst>
          </p:cNvPr>
          <p:cNvPicPr>
            <a:picLocks noChangeAspect="1"/>
          </p:cNvPicPr>
          <p:nvPr/>
        </p:nvPicPr>
        <p:blipFill>
          <a:blip r:embed="rId2"/>
          <a:stretch>
            <a:fillRect/>
          </a:stretch>
        </p:blipFill>
        <p:spPr>
          <a:xfrm>
            <a:off x="7571247" y="645106"/>
            <a:ext cx="3963137" cy="2541577"/>
          </a:xfrm>
          <a:prstGeom prst="rect">
            <a:avLst/>
          </a:prstGeom>
        </p:spPr>
      </p:pic>
      <p:pic>
        <p:nvPicPr>
          <p:cNvPr id="4" name="Resim 3">
            <a:extLst>
              <a:ext uri="{FF2B5EF4-FFF2-40B4-BE49-F238E27FC236}">
                <a16:creationId xmlns:a16="http://schemas.microsoft.com/office/drawing/2014/main" id="{3F58D3FF-3CA9-5F27-199B-E1A151868987}"/>
              </a:ext>
            </a:extLst>
          </p:cNvPr>
          <p:cNvPicPr>
            <a:picLocks noChangeAspect="1"/>
          </p:cNvPicPr>
          <p:nvPr/>
        </p:nvPicPr>
        <p:blipFill>
          <a:blip r:embed="rId3"/>
          <a:stretch>
            <a:fillRect/>
          </a:stretch>
        </p:blipFill>
        <p:spPr>
          <a:xfrm>
            <a:off x="7562087" y="3539925"/>
            <a:ext cx="3981455" cy="2164278"/>
          </a:xfrm>
          <a:prstGeom prst="rect">
            <a:avLst/>
          </a:prstGeom>
        </p:spPr>
      </p:pic>
    </p:spTree>
    <p:extLst>
      <p:ext uri="{BB962C8B-B14F-4D97-AF65-F5344CB8AC3E}">
        <p14:creationId xmlns:p14="http://schemas.microsoft.com/office/powerpoint/2010/main" val="2644592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44C337-3893-4B29-A265-B1329150B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1E0B358-1267-4844-8B3D-B7A279B417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36169" y="228600"/>
            <a:ext cx="2851523" cy="6638625"/>
            <a:chOff x="2487613" y="285750"/>
            <a:chExt cx="2428875" cy="5654676"/>
          </a:xfrm>
        </p:grpSpPr>
        <p:sp>
          <p:nvSpPr>
            <p:cNvPr id="12" name="Freeform 11">
              <a:extLst>
                <a:ext uri="{FF2B5EF4-FFF2-40B4-BE49-F238E27FC236}">
                  <a16:creationId xmlns:a16="http://schemas.microsoft.com/office/drawing/2014/main" id="{B24AA06A-F1A5-4BB3-9486-9AE7A53B3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3" name="Freeform 12">
              <a:extLst>
                <a:ext uri="{FF2B5EF4-FFF2-40B4-BE49-F238E27FC236}">
                  <a16:creationId xmlns:a16="http://schemas.microsoft.com/office/drawing/2014/main" id="{BDF97590-C600-44CB-9303-4A3679F51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4" name="Freeform 13">
              <a:extLst>
                <a:ext uri="{FF2B5EF4-FFF2-40B4-BE49-F238E27FC236}">
                  <a16:creationId xmlns:a16="http://schemas.microsoft.com/office/drawing/2014/main" id="{A9BBE156-3FFA-4DC4-8468-35BD28DDC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5" name="Freeform 14">
              <a:extLst>
                <a:ext uri="{FF2B5EF4-FFF2-40B4-BE49-F238E27FC236}">
                  <a16:creationId xmlns:a16="http://schemas.microsoft.com/office/drawing/2014/main" id="{F7960DE5-3810-4B1E-B1E2-3BAFEA91E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6" name="Freeform 15">
              <a:extLst>
                <a:ext uri="{FF2B5EF4-FFF2-40B4-BE49-F238E27FC236}">
                  <a16:creationId xmlns:a16="http://schemas.microsoft.com/office/drawing/2014/main" id="{359E957C-CE11-446F-8AA7-B3E98390B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7" name="Freeform 16">
              <a:extLst>
                <a:ext uri="{FF2B5EF4-FFF2-40B4-BE49-F238E27FC236}">
                  <a16:creationId xmlns:a16="http://schemas.microsoft.com/office/drawing/2014/main" id="{A3E9FE34-CA9E-4443-BEBF-D1B9A1C6C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8" name="Freeform 17">
              <a:extLst>
                <a:ext uri="{FF2B5EF4-FFF2-40B4-BE49-F238E27FC236}">
                  <a16:creationId xmlns:a16="http://schemas.microsoft.com/office/drawing/2014/main" id="{4F39D814-8A48-4509-BDEB-826F10659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9" name="Freeform 18">
              <a:extLst>
                <a:ext uri="{FF2B5EF4-FFF2-40B4-BE49-F238E27FC236}">
                  <a16:creationId xmlns:a16="http://schemas.microsoft.com/office/drawing/2014/main" id="{8C6D08C0-8C49-4B87-9CF4-A1F08714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0" name="Freeform 19">
              <a:extLst>
                <a:ext uri="{FF2B5EF4-FFF2-40B4-BE49-F238E27FC236}">
                  <a16:creationId xmlns:a16="http://schemas.microsoft.com/office/drawing/2014/main" id="{308C612B-4C0D-4863-B9CD-F86ABAA1B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1" name="Freeform 20">
              <a:extLst>
                <a:ext uri="{FF2B5EF4-FFF2-40B4-BE49-F238E27FC236}">
                  <a16:creationId xmlns:a16="http://schemas.microsoft.com/office/drawing/2014/main" id="{600B1EC8-1B55-4390-A183-C33B5E227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2" name="Freeform 21">
              <a:extLst>
                <a:ext uri="{FF2B5EF4-FFF2-40B4-BE49-F238E27FC236}">
                  <a16:creationId xmlns:a16="http://schemas.microsoft.com/office/drawing/2014/main" id="{1790A225-91E1-4BE5-A801-5F1E32721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3" name="Freeform 22">
              <a:extLst>
                <a:ext uri="{FF2B5EF4-FFF2-40B4-BE49-F238E27FC236}">
                  <a16:creationId xmlns:a16="http://schemas.microsoft.com/office/drawing/2014/main" id="{DFFC46A2-6BBF-47FD-BC17-5EE1DF7CB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5" name="Group 24">
            <a:extLst>
              <a:ext uri="{FF2B5EF4-FFF2-40B4-BE49-F238E27FC236}">
                <a16:creationId xmlns:a16="http://schemas.microsoft.com/office/drawing/2014/main" id="{AF44CA9C-80E8-44E1-A79C-D6EBFC73BC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7117" y="-786"/>
            <a:ext cx="2356675" cy="6854040"/>
            <a:chOff x="6627813" y="194833"/>
            <a:chExt cx="1952625" cy="5678918"/>
          </a:xfrm>
        </p:grpSpPr>
        <p:sp>
          <p:nvSpPr>
            <p:cNvPr id="26" name="Freeform 27">
              <a:extLst>
                <a:ext uri="{FF2B5EF4-FFF2-40B4-BE49-F238E27FC236}">
                  <a16:creationId xmlns:a16="http://schemas.microsoft.com/office/drawing/2014/main" id="{8CB9417F-98D9-4998-B00B-A5932E4C7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7" name="Freeform 28">
              <a:extLst>
                <a:ext uri="{FF2B5EF4-FFF2-40B4-BE49-F238E27FC236}">
                  <a16:creationId xmlns:a16="http://schemas.microsoft.com/office/drawing/2014/main" id="{FA79AA3D-583E-4A1E-AF7E-CBD980F59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8" name="Freeform 29">
              <a:extLst>
                <a:ext uri="{FF2B5EF4-FFF2-40B4-BE49-F238E27FC236}">
                  <a16:creationId xmlns:a16="http://schemas.microsoft.com/office/drawing/2014/main" id="{D80C9F17-A6B2-4A12-BC77-F84264A66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9" name="Freeform 30">
              <a:extLst>
                <a:ext uri="{FF2B5EF4-FFF2-40B4-BE49-F238E27FC236}">
                  <a16:creationId xmlns:a16="http://schemas.microsoft.com/office/drawing/2014/main" id="{949C9A53-ED97-44CE-BDD5-ED24892116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0" name="Freeform 31">
              <a:extLst>
                <a:ext uri="{FF2B5EF4-FFF2-40B4-BE49-F238E27FC236}">
                  <a16:creationId xmlns:a16="http://schemas.microsoft.com/office/drawing/2014/main" id="{0F9FDAE7-225B-4072-8907-6EAA06174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1" name="Freeform 32">
              <a:extLst>
                <a:ext uri="{FF2B5EF4-FFF2-40B4-BE49-F238E27FC236}">
                  <a16:creationId xmlns:a16="http://schemas.microsoft.com/office/drawing/2014/main" id="{9D49818B-8EA3-4B41-9783-EFE0C618C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2" name="Freeform 33">
              <a:extLst>
                <a:ext uri="{FF2B5EF4-FFF2-40B4-BE49-F238E27FC236}">
                  <a16:creationId xmlns:a16="http://schemas.microsoft.com/office/drawing/2014/main" id="{01903E65-D822-4457-B0A5-2F4168224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3" name="Freeform 34">
              <a:extLst>
                <a:ext uri="{FF2B5EF4-FFF2-40B4-BE49-F238E27FC236}">
                  <a16:creationId xmlns:a16="http://schemas.microsoft.com/office/drawing/2014/main" id="{A5CF9DAB-75BF-43D9-B1E7-817D1FAA0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4" name="Freeform 35">
              <a:extLst>
                <a:ext uri="{FF2B5EF4-FFF2-40B4-BE49-F238E27FC236}">
                  <a16:creationId xmlns:a16="http://schemas.microsoft.com/office/drawing/2014/main" id="{BB22916D-4BCF-4A4C-8714-A2564D34C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5" name="Freeform 36">
              <a:extLst>
                <a:ext uri="{FF2B5EF4-FFF2-40B4-BE49-F238E27FC236}">
                  <a16:creationId xmlns:a16="http://schemas.microsoft.com/office/drawing/2014/main" id="{4CD9F734-569E-44E7-BD53-6214E0F18C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6" name="Freeform 37">
              <a:extLst>
                <a:ext uri="{FF2B5EF4-FFF2-40B4-BE49-F238E27FC236}">
                  <a16:creationId xmlns:a16="http://schemas.microsoft.com/office/drawing/2014/main" id="{7A5DAACB-2F42-40C8-BF6A-75B79299F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7" name="Freeform 38">
              <a:extLst>
                <a:ext uri="{FF2B5EF4-FFF2-40B4-BE49-F238E27FC236}">
                  <a16:creationId xmlns:a16="http://schemas.microsoft.com/office/drawing/2014/main" id="{AD78E0F9-8568-4672-A22F-4ED5B1A96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C1A380BD-840F-B5D9-7D1C-6F7DE3A7EE16}"/>
              </a:ext>
            </a:extLst>
          </p:cNvPr>
          <p:cNvSpPr>
            <a:spLocks noGrp="1"/>
          </p:cNvSpPr>
          <p:nvPr>
            <p:ph type="title"/>
          </p:nvPr>
        </p:nvSpPr>
        <p:spPr>
          <a:xfrm>
            <a:off x="6483096" y="624110"/>
            <a:ext cx="5021516" cy="1280890"/>
          </a:xfrm>
        </p:spPr>
        <p:txBody>
          <a:bodyPr>
            <a:normAutofit/>
          </a:bodyPr>
          <a:lstStyle/>
          <a:p>
            <a:r>
              <a:rPr lang="tr-TR" b="1" dirty="0"/>
              <a:t>Anjiyografi</a:t>
            </a:r>
            <a:endParaRPr lang="de-DE" b="1" dirty="0"/>
          </a:p>
        </p:txBody>
      </p:sp>
      <p:sp>
        <p:nvSpPr>
          <p:cNvPr id="39" name="Rectangle 38">
            <a:extLst>
              <a:ext uri="{FF2B5EF4-FFF2-40B4-BE49-F238E27FC236}">
                <a16:creationId xmlns:a16="http://schemas.microsoft.com/office/drawing/2014/main" id="{AA5CD610-ED7C-4CED-A9A1-174432C88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704"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1" name="Freeform 11">
            <a:extLst>
              <a:ext uri="{FF2B5EF4-FFF2-40B4-BE49-F238E27FC236}">
                <a16:creationId xmlns:a16="http://schemas.microsoft.com/office/drawing/2014/main" id="{0C4379BF-8C7A-480A-BC36-DA55D92A9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645704"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4" name="Resim 3">
            <a:extLst>
              <a:ext uri="{FF2B5EF4-FFF2-40B4-BE49-F238E27FC236}">
                <a16:creationId xmlns:a16="http://schemas.microsoft.com/office/drawing/2014/main" id="{6AE20D7E-66D4-323E-2E20-984A9D24471C}"/>
              </a:ext>
            </a:extLst>
          </p:cNvPr>
          <p:cNvPicPr>
            <a:picLocks noChangeAspect="1"/>
          </p:cNvPicPr>
          <p:nvPr/>
        </p:nvPicPr>
        <p:blipFill>
          <a:blip r:embed="rId2"/>
          <a:srcRect l="55354" r="14336"/>
          <a:stretch>
            <a:fillRect/>
          </a:stretch>
        </p:blipFill>
        <p:spPr>
          <a:xfrm>
            <a:off x="-1555" y="1731"/>
            <a:ext cx="4671091" cy="6858000"/>
          </a:xfrm>
          <a:prstGeom prst="rect">
            <a:avLst/>
          </a:prstGeom>
        </p:spPr>
      </p:pic>
      <p:sp>
        <p:nvSpPr>
          <p:cNvPr id="3" name="İçerik Yer Tutucusu 2">
            <a:extLst>
              <a:ext uri="{FF2B5EF4-FFF2-40B4-BE49-F238E27FC236}">
                <a16:creationId xmlns:a16="http://schemas.microsoft.com/office/drawing/2014/main" id="{8CB3A5D8-3380-6954-FB5B-C5563A547D7B}"/>
              </a:ext>
            </a:extLst>
          </p:cNvPr>
          <p:cNvSpPr>
            <a:spLocks noGrp="1"/>
          </p:cNvSpPr>
          <p:nvPr>
            <p:ph idx="1"/>
          </p:nvPr>
        </p:nvSpPr>
        <p:spPr>
          <a:xfrm>
            <a:off x="6438191" y="2133600"/>
            <a:ext cx="5066419" cy="3777622"/>
          </a:xfrm>
        </p:spPr>
        <p:txBody>
          <a:bodyPr>
            <a:normAutofit/>
          </a:bodyPr>
          <a:lstStyle/>
          <a:p>
            <a:r>
              <a:rPr lang="de-DE" dirty="0" err="1"/>
              <a:t>Anjiyografi</a:t>
            </a:r>
            <a:r>
              <a:rPr lang="de-DE" dirty="0"/>
              <a:t> </a:t>
            </a:r>
            <a:r>
              <a:rPr lang="de-DE" dirty="0" err="1"/>
              <a:t>cihazlarında</a:t>
            </a:r>
            <a:r>
              <a:rPr lang="de-DE" dirty="0"/>
              <a:t> </a:t>
            </a:r>
            <a:r>
              <a:rPr lang="de-DE" dirty="0" err="1"/>
              <a:t>görüntü</a:t>
            </a:r>
            <a:r>
              <a:rPr lang="de-DE" dirty="0"/>
              <a:t>, X ı</a:t>
            </a:r>
            <a:r>
              <a:rPr lang="tr-TR" dirty="0"/>
              <a:t>ş</a:t>
            </a:r>
            <a:r>
              <a:rPr lang="de-DE" dirty="0" err="1"/>
              <a:t>ını</a:t>
            </a:r>
            <a:r>
              <a:rPr lang="de-DE" dirty="0"/>
              <a:t> </a:t>
            </a:r>
            <a:r>
              <a:rPr lang="de-DE" dirty="0" err="1"/>
              <a:t>ile</a:t>
            </a:r>
            <a:r>
              <a:rPr lang="de-DE" dirty="0"/>
              <a:t> </a:t>
            </a:r>
            <a:r>
              <a:rPr lang="de-DE" dirty="0" err="1"/>
              <a:t>olu</a:t>
            </a:r>
            <a:r>
              <a:rPr lang="tr-TR" dirty="0"/>
              <a:t>ş</a:t>
            </a:r>
            <a:r>
              <a:rPr lang="de-DE" dirty="0" err="1"/>
              <a:t>turulur</a:t>
            </a:r>
            <a:r>
              <a:rPr lang="de-DE" dirty="0"/>
              <a:t>. X ı</a:t>
            </a:r>
            <a:r>
              <a:rPr lang="tr-TR" dirty="0"/>
              <a:t>ş</a:t>
            </a:r>
            <a:r>
              <a:rPr lang="de-DE" dirty="0" err="1"/>
              <a:t>ının</a:t>
            </a:r>
            <a:r>
              <a:rPr lang="de-DE" dirty="0"/>
              <a:t> </a:t>
            </a:r>
            <a:r>
              <a:rPr lang="de-DE" dirty="0" err="1"/>
              <a:t>olu</a:t>
            </a:r>
            <a:r>
              <a:rPr lang="tr-TR" dirty="0"/>
              <a:t>ş</a:t>
            </a:r>
            <a:r>
              <a:rPr lang="de-DE" dirty="0" err="1"/>
              <a:t>umu</a:t>
            </a:r>
            <a:r>
              <a:rPr lang="de-DE" dirty="0"/>
              <a:t>, </a:t>
            </a:r>
            <a:r>
              <a:rPr lang="de-DE" dirty="0" err="1"/>
              <a:t>radyografi</a:t>
            </a:r>
            <a:r>
              <a:rPr lang="tr-TR" dirty="0"/>
              <a:t> </a:t>
            </a:r>
            <a:r>
              <a:rPr lang="de-DE" dirty="0" err="1"/>
              <a:t>cihazlarında</a:t>
            </a:r>
            <a:r>
              <a:rPr lang="de-DE" dirty="0"/>
              <a:t> </a:t>
            </a:r>
            <a:r>
              <a:rPr lang="de-DE" dirty="0" err="1"/>
              <a:t>olduğu</a:t>
            </a:r>
            <a:r>
              <a:rPr lang="de-DE" dirty="0"/>
              <a:t> </a:t>
            </a:r>
            <a:r>
              <a:rPr lang="de-DE" dirty="0" err="1"/>
              <a:t>gibidir</a:t>
            </a:r>
            <a:r>
              <a:rPr lang="de-DE" dirty="0"/>
              <a:t>. </a:t>
            </a:r>
            <a:r>
              <a:rPr lang="de-DE" dirty="0" err="1"/>
              <a:t>Cihazlar</a:t>
            </a:r>
            <a:r>
              <a:rPr lang="de-DE" dirty="0"/>
              <a:t>, </a:t>
            </a:r>
            <a:r>
              <a:rPr lang="de-DE" dirty="0" err="1"/>
              <a:t>teknolojik</a:t>
            </a:r>
            <a:r>
              <a:rPr lang="de-DE" dirty="0"/>
              <a:t> </a:t>
            </a:r>
            <a:r>
              <a:rPr lang="de-DE" dirty="0" err="1"/>
              <a:t>olarak</a:t>
            </a:r>
            <a:r>
              <a:rPr lang="de-DE" dirty="0"/>
              <a:t> </a:t>
            </a:r>
            <a:r>
              <a:rPr lang="de-DE" dirty="0" err="1"/>
              <a:t>daha</a:t>
            </a:r>
            <a:r>
              <a:rPr lang="de-DE" dirty="0"/>
              <a:t> </a:t>
            </a:r>
            <a:r>
              <a:rPr lang="de-DE" dirty="0" err="1"/>
              <a:t>geli</a:t>
            </a:r>
            <a:r>
              <a:rPr lang="tr-TR" dirty="0"/>
              <a:t>ş</a:t>
            </a:r>
            <a:r>
              <a:rPr lang="de-DE" dirty="0"/>
              <a:t>mi</a:t>
            </a:r>
            <a:r>
              <a:rPr lang="tr-TR" dirty="0"/>
              <a:t>ş</a:t>
            </a:r>
            <a:r>
              <a:rPr lang="de-DE" dirty="0"/>
              <a:t>, C </a:t>
            </a:r>
            <a:r>
              <a:rPr lang="de-DE" dirty="0" err="1"/>
              <a:t>kollu</a:t>
            </a:r>
            <a:r>
              <a:rPr lang="de-DE" dirty="0"/>
              <a:t> röntgen </a:t>
            </a:r>
            <a:r>
              <a:rPr lang="de-DE" dirty="0" err="1"/>
              <a:t>cihazlarıdır</a:t>
            </a:r>
            <a:r>
              <a:rPr lang="de-DE" dirty="0"/>
              <a:t>.</a:t>
            </a:r>
            <a:endParaRPr lang="de-DE"/>
          </a:p>
          <a:p>
            <a:r>
              <a:rPr lang="de-DE" dirty="0" err="1"/>
              <a:t>Anjiyografi</a:t>
            </a:r>
            <a:r>
              <a:rPr lang="de-DE" dirty="0"/>
              <a:t> </a:t>
            </a:r>
            <a:r>
              <a:rPr lang="de-DE" dirty="0" err="1"/>
              <a:t>cihazlarında</a:t>
            </a:r>
            <a:r>
              <a:rPr lang="de-DE" dirty="0"/>
              <a:t> </a:t>
            </a:r>
            <a:r>
              <a:rPr lang="de-DE" dirty="0" err="1"/>
              <a:t>hasta</a:t>
            </a:r>
            <a:r>
              <a:rPr lang="de-DE" dirty="0"/>
              <a:t>, X ı</a:t>
            </a:r>
            <a:r>
              <a:rPr lang="tr-TR" dirty="0"/>
              <a:t>ş</a:t>
            </a:r>
            <a:r>
              <a:rPr lang="de-DE" dirty="0" err="1"/>
              <a:t>ını</a:t>
            </a:r>
            <a:r>
              <a:rPr lang="de-DE" dirty="0"/>
              <a:t> </a:t>
            </a:r>
            <a:r>
              <a:rPr lang="de-DE" dirty="0" err="1"/>
              <a:t>tüpü</a:t>
            </a:r>
            <a:r>
              <a:rPr lang="de-DE" dirty="0"/>
              <a:t> </a:t>
            </a:r>
            <a:r>
              <a:rPr lang="de-DE" dirty="0" err="1"/>
              <a:t>ile</a:t>
            </a:r>
            <a:r>
              <a:rPr lang="de-DE" dirty="0"/>
              <a:t> </a:t>
            </a:r>
            <a:r>
              <a:rPr lang="de-DE" dirty="0" err="1"/>
              <a:t>dedektör</a:t>
            </a:r>
            <a:r>
              <a:rPr lang="de-DE" dirty="0"/>
              <a:t> </a:t>
            </a:r>
            <a:r>
              <a:rPr lang="de-DE" dirty="0" err="1"/>
              <a:t>arasındadır</a:t>
            </a:r>
            <a:r>
              <a:rPr lang="de-DE" dirty="0"/>
              <a:t>. X</a:t>
            </a:r>
            <a:r>
              <a:rPr lang="tr-TR" dirty="0"/>
              <a:t> </a:t>
            </a:r>
            <a:r>
              <a:rPr lang="de-DE" dirty="0"/>
              <a:t>ı</a:t>
            </a:r>
            <a:r>
              <a:rPr lang="tr-TR" dirty="0"/>
              <a:t>ş</a:t>
            </a:r>
            <a:r>
              <a:rPr lang="de-DE" dirty="0" err="1"/>
              <a:t>ınları</a:t>
            </a:r>
            <a:r>
              <a:rPr lang="de-DE" dirty="0"/>
              <a:t> </a:t>
            </a:r>
            <a:r>
              <a:rPr lang="de-DE" dirty="0" err="1"/>
              <a:t>hastayı</a:t>
            </a:r>
            <a:r>
              <a:rPr lang="de-DE" dirty="0"/>
              <a:t> </a:t>
            </a:r>
            <a:r>
              <a:rPr lang="de-DE" dirty="0" err="1"/>
              <a:t>geçtikten</a:t>
            </a:r>
            <a:r>
              <a:rPr lang="de-DE" dirty="0"/>
              <a:t> </a:t>
            </a:r>
            <a:r>
              <a:rPr lang="de-DE" dirty="0" err="1"/>
              <a:t>sonra</a:t>
            </a:r>
            <a:r>
              <a:rPr lang="de-DE" dirty="0"/>
              <a:t> </a:t>
            </a:r>
            <a:r>
              <a:rPr lang="de-DE" dirty="0" err="1"/>
              <a:t>dedektör</a:t>
            </a:r>
            <a:r>
              <a:rPr lang="de-DE" dirty="0"/>
              <a:t> </a:t>
            </a:r>
            <a:r>
              <a:rPr lang="de-DE" dirty="0" err="1"/>
              <a:t>tarafından</a:t>
            </a:r>
            <a:r>
              <a:rPr lang="de-DE" dirty="0"/>
              <a:t> </a:t>
            </a:r>
            <a:r>
              <a:rPr lang="de-DE" dirty="0" err="1"/>
              <a:t>görüntü</a:t>
            </a:r>
            <a:r>
              <a:rPr lang="de-DE" dirty="0"/>
              <a:t> </a:t>
            </a:r>
            <a:r>
              <a:rPr lang="de-DE" dirty="0" err="1"/>
              <a:t>algılanır</a:t>
            </a:r>
            <a:r>
              <a:rPr lang="de-DE" dirty="0"/>
              <a:t>. </a:t>
            </a:r>
            <a:r>
              <a:rPr lang="de-DE" dirty="0" err="1"/>
              <a:t>Dedektörün</a:t>
            </a:r>
            <a:r>
              <a:rPr lang="de-DE" dirty="0"/>
              <a:t> </a:t>
            </a:r>
            <a:r>
              <a:rPr lang="de-DE" dirty="0" err="1"/>
              <a:t>aldığı</a:t>
            </a:r>
            <a:r>
              <a:rPr lang="tr-TR" dirty="0"/>
              <a:t> </a:t>
            </a:r>
            <a:r>
              <a:rPr lang="de-DE" dirty="0" err="1"/>
              <a:t>sinyaller</a:t>
            </a:r>
            <a:r>
              <a:rPr lang="de-DE" dirty="0"/>
              <a:t>, </a:t>
            </a:r>
            <a:r>
              <a:rPr lang="de-DE" dirty="0" err="1"/>
              <a:t>bilgisayarda</a:t>
            </a:r>
            <a:r>
              <a:rPr lang="de-DE" dirty="0"/>
              <a:t> </a:t>
            </a:r>
            <a:r>
              <a:rPr lang="de-DE" dirty="0" err="1"/>
              <a:t>görüntüye</a:t>
            </a:r>
            <a:r>
              <a:rPr lang="de-DE" dirty="0"/>
              <a:t> </a:t>
            </a:r>
            <a:r>
              <a:rPr lang="de-DE" dirty="0" err="1"/>
              <a:t>dönü</a:t>
            </a:r>
            <a:r>
              <a:rPr lang="tr-TR" dirty="0"/>
              <a:t>ş</a:t>
            </a:r>
            <a:r>
              <a:rPr lang="de-DE" dirty="0" err="1"/>
              <a:t>türülür</a:t>
            </a:r>
            <a:r>
              <a:rPr lang="de-DE" dirty="0"/>
              <a:t>.</a:t>
            </a:r>
            <a:endParaRPr lang="de-DE"/>
          </a:p>
        </p:txBody>
      </p:sp>
    </p:spTree>
    <p:extLst>
      <p:ext uri="{BB962C8B-B14F-4D97-AF65-F5344CB8AC3E}">
        <p14:creationId xmlns:p14="http://schemas.microsoft.com/office/powerpoint/2010/main" val="2941289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12"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3"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4"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5"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6"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7"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8"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9"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0"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1"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2"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3"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5" name="Group 24">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26"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7"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8"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9"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0"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1"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2"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3"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4"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5"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6"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7"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2" name="Başlık 1">
            <a:extLst>
              <a:ext uri="{FF2B5EF4-FFF2-40B4-BE49-F238E27FC236}">
                <a16:creationId xmlns:a16="http://schemas.microsoft.com/office/drawing/2014/main" id="{E7DA4A97-54A8-9D55-C7FE-E8626E8CE48C}"/>
              </a:ext>
            </a:extLst>
          </p:cNvPr>
          <p:cNvSpPr>
            <a:spLocks noGrp="1"/>
          </p:cNvSpPr>
          <p:nvPr>
            <p:ph type="title"/>
          </p:nvPr>
        </p:nvSpPr>
        <p:spPr>
          <a:xfrm>
            <a:off x="4659520" y="624110"/>
            <a:ext cx="6845092" cy="1280890"/>
          </a:xfrm>
        </p:spPr>
        <p:txBody>
          <a:bodyPr>
            <a:normAutofit/>
          </a:bodyPr>
          <a:lstStyle/>
          <a:p>
            <a:r>
              <a:rPr lang="tr-TR" b="1" dirty="0"/>
              <a:t>Anjiyografi</a:t>
            </a:r>
            <a:endParaRPr lang="tr-TR" dirty="0"/>
          </a:p>
        </p:txBody>
      </p:sp>
      <p:sp>
        <p:nvSpPr>
          <p:cNvPr id="39" name="Rectangle 38">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1"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5" name="Picture 4">
            <a:extLst>
              <a:ext uri="{FF2B5EF4-FFF2-40B4-BE49-F238E27FC236}">
                <a16:creationId xmlns:a16="http://schemas.microsoft.com/office/drawing/2014/main" id="{F19588B7-E09F-A301-F2C8-6DA7B1F74F9A}"/>
              </a:ext>
            </a:extLst>
          </p:cNvPr>
          <p:cNvPicPr>
            <a:picLocks noChangeAspect="1"/>
          </p:cNvPicPr>
          <p:nvPr/>
        </p:nvPicPr>
        <p:blipFill>
          <a:blip r:embed="rId2"/>
          <a:srcRect l="21638" r="56048"/>
          <a:stretch>
            <a:fillRect/>
          </a:stretch>
        </p:blipFill>
        <p:spPr>
          <a:xfrm>
            <a:off x="20" y="1730"/>
            <a:ext cx="2720524" cy="6858000"/>
          </a:xfrm>
          <a:prstGeom prst="rect">
            <a:avLst/>
          </a:prstGeom>
        </p:spPr>
      </p:pic>
      <p:sp>
        <p:nvSpPr>
          <p:cNvPr id="3" name="İçerik Yer Tutucusu 2">
            <a:extLst>
              <a:ext uri="{FF2B5EF4-FFF2-40B4-BE49-F238E27FC236}">
                <a16:creationId xmlns:a16="http://schemas.microsoft.com/office/drawing/2014/main" id="{1680328C-7F7D-ACE8-C4C3-482C38E024C1}"/>
              </a:ext>
            </a:extLst>
          </p:cNvPr>
          <p:cNvSpPr>
            <a:spLocks noGrp="1"/>
          </p:cNvSpPr>
          <p:nvPr>
            <p:ph idx="1"/>
          </p:nvPr>
        </p:nvSpPr>
        <p:spPr>
          <a:xfrm>
            <a:off x="4656667" y="2133600"/>
            <a:ext cx="6847944" cy="3777622"/>
          </a:xfrm>
        </p:spPr>
        <p:txBody>
          <a:bodyPr>
            <a:normAutofit/>
          </a:bodyPr>
          <a:lstStyle/>
          <a:p>
            <a:pPr>
              <a:lnSpc>
                <a:spcPct val="90000"/>
              </a:lnSpc>
            </a:pPr>
            <a:r>
              <a:rPr lang="tr-TR" sz="1500" err="1"/>
              <a:t>Anjiyogram</a:t>
            </a:r>
            <a:r>
              <a:rPr lang="tr-TR" sz="1500"/>
              <a:t> (veya anjiyografi), vücuttaki kan damarlarının durumunu, yapısını ve tıkanıklıklarını incelemek için kullanılan bir tıbbi görüntüleme tekniğidir. Temelde X-ışını (röntgen) prensibine dayanır ancak damarlar normal röntgen filmlerinde net görülmediği için özel bir yöntem izlenir.</a:t>
            </a:r>
          </a:p>
          <a:p>
            <a:pPr>
              <a:lnSpc>
                <a:spcPct val="90000"/>
              </a:lnSpc>
            </a:pPr>
            <a:r>
              <a:rPr lang="tr-TR" sz="1500"/>
              <a:t>Kan damarlarının görünür hale gelmesi için damar yolundan </a:t>
            </a:r>
            <a:r>
              <a:rPr lang="tr-TR" sz="1500" b="1"/>
              <a:t>kontrast madde</a:t>
            </a:r>
            <a:r>
              <a:rPr lang="tr-TR" sz="1500"/>
              <a:t> (iyot içerikli bir sıvı) enjekte edilir. Bu sıvı X-ışınlarını emer, böylece damarların içi tıpkı bir harita gibi ekranda belirir.</a:t>
            </a:r>
          </a:p>
          <a:p>
            <a:pPr>
              <a:lnSpc>
                <a:spcPct val="90000"/>
              </a:lnSpc>
            </a:pPr>
            <a:r>
              <a:rPr lang="tr-TR" sz="1500" b="1"/>
              <a:t>Giriş Yolu:</a:t>
            </a:r>
            <a:r>
              <a:rPr lang="tr-TR" sz="1500"/>
              <a:t> Genellikle kasık (</a:t>
            </a:r>
            <a:r>
              <a:rPr lang="tr-TR" sz="1500" err="1"/>
              <a:t>femoral</a:t>
            </a:r>
            <a:r>
              <a:rPr lang="tr-TR" sz="1500"/>
              <a:t>) veya bilek (</a:t>
            </a:r>
            <a:r>
              <a:rPr lang="tr-TR" sz="1500" err="1"/>
              <a:t>radial</a:t>
            </a:r>
            <a:r>
              <a:rPr lang="tr-TR" sz="1500"/>
              <a:t>) bölgesindeki bir atardamardan ince, esnek bir tüp olan </a:t>
            </a:r>
            <a:r>
              <a:rPr lang="tr-TR" sz="1500" b="1"/>
              <a:t>kateter</a:t>
            </a:r>
            <a:r>
              <a:rPr lang="tr-TR" sz="1500"/>
              <a:t> ile giriş yapılır.</a:t>
            </a:r>
          </a:p>
          <a:p>
            <a:pPr>
              <a:lnSpc>
                <a:spcPct val="90000"/>
              </a:lnSpc>
            </a:pPr>
            <a:r>
              <a:rPr lang="tr-TR" sz="1500" b="1"/>
              <a:t>İlerleme:</a:t>
            </a:r>
            <a:r>
              <a:rPr lang="tr-TR" sz="1500"/>
              <a:t> Kateter, incelenmek istenen bölgeye (örneğin kalp damarlarına) kadar ulaştırılır.</a:t>
            </a:r>
          </a:p>
          <a:p>
            <a:pPr>
              <a:lnSpc>
                <a:spcPct val="90000"/>
              </a:lnSpc>
            </a:pPr>
            <a:r>
              <a:rPr lang="tr-TR" sz="1500" b="1"/>
              <a:t>Görüntüleme:</a:t>
            </a:r>
            <a:r>
              <a:rPr lang="tr-TR" sz="1500"/>
              <a:t> Kontrast madde verildiği anda hızlı X-ışını çekimleri yapılarak damar içindeki akış ve olası daralmalar anlık olarak izlenir.</a:t>
            </a:r>
          </a:p>
          <a:p>
            <a:pPr>
              <a:lnSpc>
                <a:spcPct val="90000"/>
              </a:lnSpc>
            </a:pPr>
            <a:endParaRPr lang="tr-TR" sz="1500"/>
          </a:p>
        </p:txBody>
      </p:sp>
    </p:spTree>
    <p:extLst>
      <p:ext uri="{BB962C8B-B14F-4D97-AF65-F5344CB8AC3E}">
        <p14:creationId xmlns:p14="http://schemas.microsoft.com/office/powerpoint/2010/main" val="342773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126" name="Freeform 21">
            <a:extLst>
              <a:ext uri="{FF2B5EF4-FFF2-40B4-BE49-F238E27FC236}">
                <a16:creationId xmlns:a16="http://schemas.microsoft.com/office/drawing/2014/main" id="{04C56FBC-E865-4046-B28B-0CC2BE4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8170246" cy="6858000"/>
          </a:xfrm>
          <a:custGeom>
            <a:avLst/>
            <a:gdLst>
              <a:gd name="connsiteX0" fmla="*/ 0 w 8170246"/>
              <a:gd name="connsiteY0" fmla="*/ 0 h 6858000"/>
              <a:gd name="connsiteX1" fmla="*/ 98791 w 8170246"/>
              <a:gd name="connsiteY1" fmla="*/ 0 h 6858000"/>
              <a:gd name="connsiteX2" fmla="*/ 4862151 w 8170246"/>
              <a:gd name="connsiteY2" fmla="*/ 0 h 6858000"/>
              <a:gd name="connsiteX3" fmla="*/ 8088169 w 8170246"/>
              <a:gd name="connsiteY3" fmla="*/ 3226735 h 6858000"/>
              <a:gd name="connsiteX4" fmla="*/ 8088169 w 8170246"/>
              <a:gd name="connsiteY4" fmla="*/ 3626507 h 6858000"/>
              <a:gd name="connsiteX5" fmla="*/ 4857393 w 8170246"/>
              <a:gd name="connsiteY5" fmla="*/ 6858000 h 6858000"/>
              <a:gd name="connsiteX6" fmla="*/ 133398 w 8170246"/>
              <a:gd name="connsiteY6" fmla="*/ 6858000 h 6858000"/>
              <a:gd name="connsiteX7" fmla="*/ 0 w 81702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70246" h="6858000">
                <a:moveTo>
                  <a:pt x="0" y="0"/>
                </a:moveTo>
                <a:lnTo>
                  <a:pt x="98791" y="0"/>
                </a:lnTo>
                <a:cubicBezTo>
                  <a:pt x="1141045" y="0"/>
                  <a:pt x="2657051" y="0"/>
                  <a:pt x="4862151" y="0"/>
                </a:cubicBezTo>
                <a:cubicBezTo>
                  <a:pt x="4862151" y="0"/>
                  <a:pt x="4862151" y="0"/>
                  <a:pt x="8088169" y="3226735"/>
                </a:cubicBezTo>
                <a:cubicBezTo>
                  <a:pt x="8197606" y="3336196"/>
                  <a:pt x="8197606" y="3517045"/>
                  <a:pt x="8088169" y="3626507"/>
                </a:cubicBezTo>
                <a:cubicBezTo>
                  <a:pt x="8088169" y="3626507"/>
                  <a:pt x="8088169" y="3626507"/>
                  <a:pt x="4857393" y="6858000"/>
                </a:cubicBezTo>
                <a:cubicBezTo>
                  <a:pt x="4857393" y="6858000"/>
                  <a:pt x="4857393" y="6858000"/>
                  <a:pt x="133398" y="6858000"/>
                </a:cubicBezTo>
                <a:lnTo>
                  <a:pt x="0" y="6858000"/>
                </a:lnTo>
                <a:close/>
              </a:path>
            </a:pathLst>
          </a:custGeom>
          <a:solidFill>
            <a:schemeClr val="bg2">
              <a:lumMod val="10000"/>
            </a:schemeClr>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prstTxWarp prst="textNoShape">
              <a:avLst/>
            </a:prstTxWarp>
            <a:noAutofit/>
          </a:bodyPr>
          <a:lstStyle/>
          <a:p>
            <a:endParaRPr lang="en-US"/>
          </a:p>
        </p:txBody>
      </p:sp>
      <p:pic>
        <p:nvPicPr>
          <p:cNvPr id="3" name="Resim 2">
            <a:extLst>
              <a:ext uri="{FF2B5EF4-FFF2-40B4-BE49-F238E27FC236}">
                <a16:creationId xmlns:a16="http://schemas.microsoft.com/office/drawing/2014/main" id="{536B0E43-5303-E12A-11AD-6BD20CE51552}"/>
              </a:ext>
            </a:extLst>
          </p:cNvPr>
          <p:cNvPicPr>
            <a:picLocks noChangeAspect="1"/>
          </p:cNvPicPr>
          <p:nvPr/>
        </p:nvPicPr>
        <p:blipFill>
          <a:blip r:embed="rId2"/>
          <a:srcRect l="4876"/>
          <a:stretch>
            <a:fillRect/>
          </a:stretch>
        </p:blipFill>
        <p:spPr>
          <a:xfrm>
            <a:off x="4862152" y="10"/>
            <a:ext cx="7329848" cy="3428990"/>
          </a:xfrm>
          <a:custGeom>
            <a:avLst/>
            <a:gdLst/>
            <a:ahLst/>
            <a:cxnLst/>
            <a:rect l="l" t="t" r="r" b="b"/>
            <a:pathLst>
              <a:path w="7329848" h="3429000">
                <a:moveTo>
                  <a:pt x="0" y="0"/>
                </a:moveTo>
                <a:lnTo>
                  <a:pt x="7329848" y="0"/>
                </a:lnTo>
                <a:lnTo>
                  <a:pt x="7329848" y="3429000"/>
                </a:lnTo>
                <a:lnTo>
                  <a:pt x="3307637" y="3429000"/>
                </a:lnTo>
                <a:lnTo>
                  <a:pt x="3308095" y="3426621"/>
                </a:lnTo>
                <a:cubicBezTo>
                  <a:pt x="3308095" y="3354043"/>
                  <a:pt x="3280736" y="3281466"/>
                  <a:pt x="3226017" y="3226735"/>
                </a:cubicBezTo>
                <a:cubicBezTo>
                  <a:pt x="0" y="0"/>
                  <a:pt x="0" y="0"/>
                  <a:pt x="0" y="0"/>
                </a:cubicBezTo>
                <a:close/>
              </a:path>
            </a:pathLst>
          </a:custGeom>
        </p:spPr>
      </p:pic>
      <p:sp>
        <p:nvSpPr>
          <p:cNvPr id="3074" name="Rectangle 2">
            <a:extLst>
              <a:ext uri="{FF2B5EF4-FFF2-40B4-BE49-F238E27FC236}">
                <a16:creationId xmlns:a16="http://schemas.microsoft.com/office/drawing/2014/main" id="{DC702081-D369-96B3-ED4C-C5CF5C96D60B}"/>
              </a:ext>
            </a:extLst>
          </p:cNvPr>
          <p:cNvSpPr>
            <a:spLocks noGrp="1" noChangeArrowheads="1"/>
          </p:cNvSpPr>
          <p:nvPr>
            <p:ph type="title"/>
          </p:nvPr>
        </p:nvSpPr>
        <p:spPr>
          <a:xfrm>
            <a:off x="541868" y="626533"/>
            <a:ext cx="5282758" cy="1278467"/>
          </a:xfrm>
        </p:spPr>
        <p:txBody>
          <a:bodyPr anchor="ctr">
            <a:normAutofit/>
          </a:bodyPr>
          <a:lstStyle/>
          <a:p>
            <a:pPr eaLnBrk="1" hangingPunct="1"/>
            <a:r>
              <a:rPr lang="en-US" altLang="tr-TR" sz="3200" b="1">
                <a:solidFill>
                  <a:srgbClr val="FEFFFF"/>
                </a:solidFill>
              </a:rPr>
              <a:t>Bilgisayarlı Tomografi Cihazı (</a:t>
            </a:r>
            <a:r>
              <a:rPr lang="tr-TR" altLang="tr-TR" sz="3200" b="1">
                <a:solidFill>
                  <a:srgbClr val="FEFFFF"/>
                </a:solidFill>
              </a:rPr>
              <a:t>BT</a:t>
            </a:r>
            <a:r>
              <a:rPr lang="en-US" altLang="tr-TR" sz="3200" b="1">
                <a:solidFill>
                  <a:srgbClr val="FEFFFF"/>
                </a:solidFill>
              </a:rPr>
              <a:t>)</a:t>
            </a:r>
          </a:p>
        </p:txBody>
      </p:sp>
      <p:pic>
        <p:nvPicPr>
          <p:cNvPr id="6" name="Resim 5">
            <a:extLst>
              <a:ext uri="{FF2B5EF4-FFF2-40B4-BE49-F238E27FC236}">
                <a16:creationId xmlns:a16="http://schemas.microsoft.com/office/drawing/2014/main" id="{2FD6A901-9BC5-718E-3FF3-9A87EB142E62}"/>
              </a:ext>
            </a:extLst>
          </p:cNvPr>
          <p:cNvPicPr>
            <a:picLocks noChangeAspect="1"/>
          </p:cNvPicPr>
          <p:nvPr/>
        </p:nvPicPr>
        <p:blipFill>
          <a:blip r:embed="rId3">
            <a:extLst>
              <a:ext uri="{28A0092B-C50C-407E-A947-70E740481C1C}">
                <a14:useLocalDpi xmlns:a14="http://schemas.microsoft.com/office/drawing/2010/main" val="0"/>
              </a:ext>
            </a:extLst>
          </a:blip>
          <a:srcRect t="33351" r="1" b="31587"/>
          <a:stretch>
            <a:fillRect/>
          </a:stretch>
        </p:blipFill>
        <p:spPr>
          <a:xfrm>
            <a:off x="4857394" y="3429000"/>
            <a:ext cx="7334607" cy="3429000"/>
          </a:xfrm>
          <a:custGeom>
            <a:avLst/>
            <a:gdLst/>
            <a:ahLst/>
            <a:cxnLst/>
            <a:rect l="l" t="t" r="r" b="b"/>
            <a:pathLst>
              <a:path w="7334607" h="3429000">
                <a:moveTo>
                  <a:pt x="3312396" y="0"/>
                </a:moveTo>
                <a:lnTo>
                  <a:pt x="7334607" y="0"/>
                </a:lnTo>
                <a:lnTo>
                  <a:pt x="7334607" y="3429000"/>
                </a:lnTo>
                <a:lnTo>
                  <a:pt x="0" y="3429000"/>
                </a:lnTo>
                <a:cubicBezTo>
                  <a:pt x="3230776" y="197507"/>
                  <a:pt x="3230776" y="197507"/>
                  <a:pt x="3230776" y="197507"/>
                </a:cubicBezTo>
                <a:cubicBezTo>
                  <a:pt x="3258135" y="170142"/>
                  <a:pt x="3278655" y="138314"/>
                  <a:pt x="3292335" y="104256"/>
                </a:cubicBezTo>
                <a:close/>
              </a:path>
            </a:pathLst>
          </a:custGeom>
        </p:spPr>
      </p:pic>
      <p:sp>
        <p:nvSpPr>
          <p:cNvPr id="3075" name="Rectangle 3">
            <a:extLst>
              <a:ext uri="{FF2B5EF4-FFF2-40B4-BE49-F238E27FC236}">
                <a16:creationId xmlns:a16="http://schemas.microsoft.com/office/drawing/2014/main" id="{58A9EA61-5200-8E0D-81F4-1998613E1062}"/>
              </a:ext>
            </a:extLst>
          </p:cNvPr>
          <p:cNvSpPr>
            <a:spLocks noGrp="1" noChangeArrowheads="1"/>
          </p:cNvSpPr>
          <p:nvPr>
            <p:ph idx="1"/>
          </p:nvPr>
        </p:nvSpPr>
        <p:spPr>
          <a:xfrm>
            <a:off x="541869" y="2133599"/>
            <a:ext cx="5282758" cy="3809999"/>
          </a:xfrm>
        </p:spPr>
        <p:txBody>
          <a:bodyPr>
            <a:normAutofit/>
          </a:bodyPr>
          <a:lstStyle/>
          <a:p>
            <a:pPr eaLnBrk="1" hangingPunct="1"/>
            <a:r>
              <a:rPr lang="en-US" altLang="tr-TR">
                <a:solidFill>
                  <a:srgbClr val="FEFFFF"/>
                </a:solidFill>
              </a:rPr>
              <a:t>Bu cihaz X-ışın cihazlarının en gelişmişidir. Bu cihaz ile hekimler MR cihazında olduğu gibi vücudun</a:t>
            </a:r>
            <a:r>
              <a:rPr lang="tr-TR" altLang="tr-TR">
                <a:solidFill>
                  <a:srgbClr val="FEFFFF"/>
                </a:solidFill>
              </a:rPr>
              <a:t> </a:t>
            </a:r>
            <a:r>
              <a:rPr lang="en-US" altLang="tr-TR">
                <a:solidFill>
                  <a:srgbClr val="FEFFFF"/>
                </a:solidFill>
              </a:rPr>
              <a:t>belli bir bölgesinin kesit görüntüsünü çıkarabilme yeteneğine sahip olmuşlardır. </a:t>
            </a:r>
            <a:endParaRPr lang="tr-TR" altLang="tr-TR">
              <a:solidFill>
                <a:srgbClr val="FEFFFF"/>
              </a:solidFill>
            </a:endParaRPr>
          </a:p>
          <a:p>
            <a:pPr eaLnBrk="1" hangingPunct="1"/>
            <a:r>
              <a:rPr lang="en-US" altLang="tr-TR">
                <a:solidFill>
                  <a:srgbClr val="FEFFFF"/>
                </a:solidFill>
              </a:rPr>
              <a:t>Cihaz diğer r</a:t>
            </a:r>
            <a:r>
              <a:rPr lang="tr-TR" altLang="tr-TR">
                <a:solidFill>
                  <a:srgbClr val="FEFFFF"/>
                </a:solidFill>
              </a:rPr>
              <a:t>ö</a:t>
            </a:r>
            <a:r>
              <a:rPr lang="en-US" altLang="tr-TR">
                <a:solidFill>
                  <a:srgbClr val="FEFFFF"/>
                </a:solidFill>
              </a:rPr>
              <a:t>ntgen cihazları</a:t>
            </a:r>
            <a:r>
              <a:rPr lang="tr-TR" altLang="tr-TR">
                <a:solidFill>
                  <a:srgbClr val="FEFFFF"/>
                </a:solidFill>
              </a:rPr>
              <a:t> </a:t>
            </a:r>
            <a:r>
              <a:rPr lang="en-US" altLang="tr-TR">
                <a:solidFill>
                  <a:srgbClr val="FEFFFF"/>
                </a:solidFill>
              </a:rPr>
              <a:t>gibi bir X-ışını tüpüne sahiptir. Ancak bu cihazın sabit bir tüp yapısı yerine, hareketli bir GANTRY üzerine</a:t>
            </a:r>
            <a:r>
              <a:rPr lang="tr-TR" altLang="tr-TR">
                <a:solidFill>
                  <a:srgbClr val="FEFFFF"/>
                </a:solidFill>
              </a:rPr>
              <a:t> </a:t>
            </a:r>
            <a:r>
              <a:rPr lang="en-US" altLang="tr-TR">
                <a:solidFill>
                  <a:srgbClr val="FEFFFF"/>
                </a:solidFill>
              </a:rPr>
              <a:t>monte edilmiş bir tüp yapısı vardır.</a:t>
            </a:r>
            <a:endParaRPr lang="tr-TR" altLang="tr-TR">
              <a:solidFill>
                <a:srgbClr val="FEFFFF"/>
              </a:solidFill>
            </a:endParaRPr>
          </a:p>
          <a:p>
            <a:pPr eaLnBrk="1" hangingPunct="1">
              <a:buFontTx/>
              <a:buNone/>
            </a:pPr>
            <a:endParaRPr lang="en-US" altLang="tr-TR">
              <a:solidFill>
                <a:srgbClr val="FEFFFF"/>
              </a:solidFill>
            </a:endParaRPr>
          </a:p>
        </p:txBody>
      </p:sp>
    </p:spTree>
    <p:extLst>
      <p:ext uri="{BB962C8B-B14F-4D97-AF65-F5344CB8AC3E}">
        <p14:creationId xmlns:p14="http://schemas.microsoft.com/office/powerpoint/2010/main" val="2160884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164" name="Rectangle 5127">
            <a:extLst>
              <a:ext uri="{FF2B5EF4-FFF2-40B4-BE49-F238E27FC236}">
                <a16:creationId xmlns:a16="http://schemas.microsoft.com/office/drawing/2014/main" id="{A7DA8593-5BA7-45F3-B447-37FB2B9F7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Rectangle 2">
            <a:extLst>
              <a:ext uri="{FF2B5EF4-FFF2-40B4-BE49-F238E27FC236}">
                <a16:creationId xmlns:a16="http://schemas.microsoft.com/office/drawing/2014/main" id="{DC702081-D369-96B3-ED4C-C5CF5C96D60B}"/>
              </a:ext>
            </a:extLst>
          </p:cNvPr>
          <p:cNvSpPr>
            <a:spLocks noGrp="1" noChangeArrowheads="1"/>
          </p:cNvSpPr>
          <p:nvPr>
            <p:ph type="title"/>
          </p:nvPr>
        </p:nvSpPr>
        <p:spPr>
          <a:xfrm>
            <a:off x="649224" y="645106"/>
            <a:ext cx="6574536" cy="1259894"/>
          </a:xfrm>
        </p:spPr>
        <p:txBody>
          <a:bodyPr>
            <a:normAutofit/>
          </a:bodyPr>
          <a:lstStyle/>
          <a:p>
            <a:pPr eaLnBrk="1" hangingPunct="1"/>
            <a:r>
              <a:rPr lang="en-US" altLang="tr-TR" b="1" err="1"/>
              <a:t>Bilgisayarlı</a:t>
            </a:r>
            <a:r>
              <a:rPr lang="en-US" altLang="tr-TR" b="1"/>
              <a:t> </a:t>
            </a:r>
            <a:r>
              <a:rPr lang="en-US" altLang="tr-TR" b="1" err="1"/>
              <a:t>Tomografi</a:t>
            </a:r>
            <a:r>
              <a:rPr lang="en-US" altLang="tr-TR" b="1"/>
              <a:t> </a:t>
            </a:r>
            <a:r>
              <a:rPr lang="en-US" altLang="tr-TR" b="1" err="1"/>
              <a:t>Cihazı</a:t>
            </a:r>
            <a:r>
              <a:rPr lang="en-US" altLang="tr-TR" b="1"/>
              <a:t> (</a:t>
            </a:r>
            <a:r>
              <a:rPr lang="tr-TR" altLang="tr-TR" b="1"/>
              <a:t>BT</a:t>
            </a:r>
            <a:r>
              <a:rPr lang="en-US" altLang="tr-TR" b="1"/>
              <a:t>)</a:t>
            </a:r>
          </a:p>
        </p:txBody>
      </p:sp>
      <p:sp>
        <p:nvSpPr>
          <p:cNvPr id="5165" name="Rectangle 5129">
            <a:extLst>
              <a:ext uri="{FF2B5EF4-FFF2-40B4-BE49-F238E27FC236}">
                <a16:creationId xmlns:a16="http://schemas.microsoft.com/office/drawing/2014/main" id="{035CBF17-C0BF-49C1-8FB7-B43A3545D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075" name="Rectangle 3">
            <a:extLst>
              <a:ext uri="{FF2B5EF4-FFF2-40B4-BE49-F238E27FC236}">
                <a16:creationId xmlns:a16="http://schemas.microsoft.com/office/drawing/2014/main" id="{58A9EA61-5200-8E0D-81F4-1998613E1062}"/>
              </a:ext>
            </a:extLst>
          </p:cNvPr>
          <p:cNvSpPr>
            <a:spLocks noGrp="1" noChangeArrowheads="1"/>
          </p:cNvSpPr>
          <p:nvPr>
            <p:ph idx="1"/>
          </p:nvPr>
        </p:nvSpPr>
        <p:spPr>
          <a:xfrm>
            <a:off x="649224" y="2133600"/>
            <a:ext cx="6574535" cy="3759253"/>
          </a:xfrm>
        </p:spPr>
        <p:txBody>
          <a:bodyPr>
            <a:normAutofit/>
          </a:bodyPr>
          <a:lstStyle/>
          <a:p>
            <a:pPr eaLnBrk="1" hangingPunct="1"/>
            <a:r>
              <a:rPr lang="tr-TR" altLang="tr-TR"/>
              <a:t>G</a:t>
            </a:r>
            <a:r>
              <a:rPr lang="en-US" altLang="tr-TR" err="1"/>
              <a:t>antry</a:t>
            </a:r>
            <a:r>
              <a:rPr lang="en-US" altLang="tr-TR"/>
              <a:t> </a:t>
            </a:r>
            <a:r>
              <a:rPr lang="en-US" altLang="tr-TR" err="1"/>
              <a:t>sürekli</a:t>
            </a:r>
            <a:r>
              <a:rPr lang="en-US" altLang="tr-TR"/>
              <a:t> </a:t>
            </a:r>
            <a:r>
              <a:rPr lang="en-US" altLang="tr-TR" err="1"/>
              <a:t>ve</a:t>
            </a:r>
            <a:r>
              <a:rPr lang="en-US" altLang="tr-TR"/>
              <a:t> </a:t>
            </a:r>
            <a:r>
              <a:rPr lang="en-US" altLang="tr-TR" err="1"/>
              <a:t>belirli</a:t>
            </a:r>
            <a:r>
              <a:rPr lang="en-US" altLang="tr-TR"/>
              <a:t> </a:t>
            </a:r>
            <a:r>
              <a:rPr lang="en-US" altLang="tr-TR" err="1"/>
              <a:t>bir</a:t>
            </a:r>
            <a:r>
              <a:rPr lang="en-US" altLang="tr-TR"/>
              <a:t> </a:t>
            </a:r>
            <a:r>
              <a:rPr lang="en-US" altLang="tr-TR" err="1"/>
              <a:t>hızda</a:t>
            </a:r>
            <a:r>
              <a:rPr lang="en-US" altLang="tr-TR"/>
              <a:t> </a:t>
            </a:r>
            <a:r>
              <a:rPr lang="en-US" altLang="tr-TR" err="1"/>
              <a:t>dönerek</a:t>
            </a:r>
            <a:r>
              <a:rPr lang="en-US" altLang="tr-TR"/>
              <a:t> </a:t>
            </a:r>
            <a:r>
              <a:rPr lang="en-US" altLang="tr-TR" err="1"/>
              <a:t>şüpheli</a:t>
            </a:r>
            <a:r>
              <a:rPr lang="en-US" altLang="tr-TR"/>
              <a:t> </a:t>
            </a:r>
            <a:r>
              <a:rPr lang="en-US" altLang="tr-TR" err="1"/>
              <a:t>vücut</a:t>
            </a:r>
            <a:r>
              <a:rPr lang="en-US" altLang="tr-TR"/>
              <a:t> </a:t>
            </a:r>
            <a:r>
              <a:rPr lang="en-US" altLang="tr-TR" err="1"/>
              <a:t>bölgesinin</a:t>
            </a:r>
            <a:r>
              <a:rPr lang="tr-TR" altLang="tr-TR"/>
              <a:t> </a:t>
            </a:r>
            <a:r>
              <a:rPr lang="en-US" altLang="tr-TR" err="1"/>
              <a:t>üzerini</a:t>
            </a:r>
            <a:r>
              <a:rPr lang="en-US" altLang="tr-TR"/>
              <a:t> </a:t>
            </a:r>
            <a:r>
              <a:rPr lang="en-US" altLang="tr-TR" err="1"/>
              <a:t>taramış</a:t>
            </a:r>
            <a:r>
              <a:rPr lang="en-US" altLang="tr-TR"/>
              <a:t> </a:t>
            </a:r>
            <a:r>
              <a:rPr lang="en-US" altLang="tr-TR" err="1"/>
              <a:t>olur</a:t>
            </a:r>
            <a:r>
              <a:rPr lang="en-US" altLang="tr-TR"/>
              <a:t>. </a:t>
            </a:r>
            <a:endParaRPr lang="tr-TR" altLang="tr-TR"/>
          </a:p>
          <a:p>
            <a:pPr eaLnBrk="1" hangingPunct="1"/>
            <a:r>
              <a:rPr lang="en-US" altLang="tr-TR"/>
              <a:t>Bu </a:t>
            </a:r>
            <a:r>
              <a:rPr lang="en-US" altLang="tr-TR" err="1"/>
              <a:t>tarama</a:t>
            </a:r>
            <a:r>
              <a:rPr lang="en-US" altLang="tr-TR"/>
              <a:t>; X-</a:t>
            </a:r>
            <a:r>
              <a:rPr lang="en-US" altLang="tr-TR" err="1"/>
              <a:t>ışını</a:t>
            </a:r>
            <a:r>
              <a:rPr lang="en-US" altLang="tr-TR"/>
              <a:t> </a:t>
            </a:r>
            <a:r>
              <a:rPr lang="en-US" altLang="tr-TR" err="1"/>
              <a:t>dedektörüne</a:t>
            </a:r>
            <a:r>
              <a:rPr lang="en-US" altLang="tr-TR"/>
              <a:t> </a:t>
            </a:r>
            <a:r>
              <a:rPr lang="en-US" altLang="tr-TR" err="1"/>
              <a:t>gelen</a:t>
            </a:r>
            <a:r>
              <a:rPr lang="en-US" altLang="tr-TR"/>
              <a:t> </a:t>
            </a:r>
            <a:r>
              <a:rPr lang="en-US" altLang="tr-TR" err="1"/>
              <a:t>veriler</a:t>
            </a:r>
            <a:r>
              <a:rPr lang="en-US" altLang="tr-TR"/>
              <a:t> </a:t>
            </a:r>
            <a:r>
              <a:rPr lang="en-US" altLang="tr-TR" err="1"/>
              <a:t>doğrultusunda</a:t>
            </a:r>
            <a:r>
              <a:rPr lang="en-US" altLang="tr-TR"/>
              <a:t> </a:t>
            </a:r>
            <a:r>
              <a:rPr lang="en-US" altLang="tr-TR" err="1"/>
              <a:t>görüntü</a:t>
            </a:r>
            <a:r>
              <a:rPr lang="en-US" altLang="tr-TR"/>
              <a:t> </a:t>
            </a:r>
            <a:r>
              <a:rPr lang="en-US" altLang="tr-TR" err="1"/>
              <a:t>işleme</a:t>
            </a:r>
            <a:r>
              <a:rPr lang="en-US" altLang="tr-TR"/>
              <a:t> </a:t>
            </a:r>
            <a:r>
              <a:rPr lang="en-US" altLang="tr-TR" err="1"/>
              <a:t>bilgisayarlarıyla</a:t>
            </a:r>
            <a:r>
              <a:rPr lang="tr-TR" altLang="tr-TR"/>
              <a:t> B</a:t>
            </a:r>
            <a:r>
              <a:rPr lang="en-US" altLang="tr-TR"/>
              <a:t>T </a:t>
            </a:r>
            <a:r>
              <a:rPr lang="en-US" altLang="tr-TR" err="1"/>
              <a:t>görüntüleri</a:t>
            </a:r>
            <a:r>
              <a:rPr lang="en-US" altLang="tr-TR"/>
              <a:t> </a:t>
            </a:r>
            <a:r>
              <a:rPr lang="en-US" altLang="tr-TR" err="1"/>
              <a:t>oluşturur</a:t>
            </a:r>
            <a:r>
              <a:rPr lang="en-US" altLang="tr-TR"/>
              <a:t>. </a:t>
            </a:r>
            <a:endParaRPr lang="tr-TR" altLang="tr-TR"/>
          </a:p>
          <a:p>
            <a:pPr eaLnBrk="1" hangingPunct="1"/>
            <a:r>
              <a:rPr lang="tr-TR" altLang="tr-TR"/>
              <a:t>BT cihazının etkili olduğu dokuları ve vücut bölgelerini incelediğimizde daha çok yapısı ve çalışma prensibi itibariyle kemikli dokuların incelenmesinde, yumuşak dokularınkine oranla daha başarılıdır.</a:t>
            </a:r>
          </a:p>
          <a:p>
            <a:pPr eaLnBrk="1" hangingPunct="1">
              <a:buFontTx/>
              <a:buNone/>
            </a:pPr>
            <a:endParaRPr lang="en-US" altLang="tr-TR"/>
          </a:p>
        </p:txBody>
      </p:sp>
      <p:pic>
        <p:nvPicPr>
          <p:cNvPr id="3" name="Resim 2">
            <a:extLst>
              <a:ext uri="{FF2B5EF4-FFF2-40B4-BE49-F238E27FC236}">
                <a16:creationId xmlns:a16="http://schemas.microsoft.com/office/drawing/2014/main" id="{6C18AB65-74DA-E16C-65CB-F3B6964F4F48}"/>
              </a:ext>
            </a:extLst>
          </p:cNvPr>
          <p:cNvPicPr>
            <a:picLocks noChangeAspect="1"/>
          </p:cNvPicPr>
          <p:nvPr/>
        </p:nvPicPr>
        <p:blipFill>
          <a:blip r:embed="rId2"/>
          <a:stretch>
            <a:fillRect/>
          </a:stretch>
        </p:blipFill>
        <p:spPr>
          <a:xfrm>
            <a:off x="8133318" y="19083"/>
            <a:ext cx="3319792" cy="4229034"/>
          </a:xfrm>
          <a:prstGeom prst="rect">
            <a:avLst/>
          </a:prstGeom>
        </p:spPr>
      </p:pic>
      <p:pic>
        <p:nvPicPr>
          <p:cNvPr id="5123" name="Picture 6">
            <a:extLst>
              <a:ext uri="{FF2B5EF4-FFF2-40B4-BE49-F238E27FC236}">
                <a16:creationId xmlns:a16="http://schemas.microsoft.com/office/drawing/2014/main" id="{32028505-31CC-E4C5-0B58-CEFC6BCFB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8862" b="-2"/>
          <a:stretch>
            <a:fillRect/>
          </a:stretch>
        </p:blipFill>
        <p:spPr>
          <a:xfrm>
            <a:off x="7818230" y="4235530"/>
            <a:ext cx="3779298" cy="2541578"/>
          </a:xfrm>
          <a:prstGeom prst="rect">
            <a:avLst/>
          </a:prstGeom>
          <a:noFill/>
        </p:spPr>
      </p:pic>
      <p:sp>
        <p:nvSpPr>
          <p:cNvPr id="5166" name="Freeform 11">
            <a:extLst>
              <a:ext uri="{FF2B5EF4-FFF2-40B4-BE49-F238E27FC236}">
                <a16:creationId xmlns:a16="http://schemas.microsoft.com/office/drawing/2014/main" id="{F5147F3F-3E4A-4255-8C92-856618C47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6277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6215" name="Rectangle 6152">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216" name="Group 6154">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6156"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6157"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6158"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6159"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6160"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6161"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6162"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6163"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6164"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6165"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6166"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6167"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6169" name="Group 6168">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6170"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6171"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6172"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6173"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6174"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6175"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6176"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6177"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6178"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6179"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6180"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6181"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6146" name="Rectangle 2">
            <a:extLst>
              <a:ext uri="{FF2B5EF4-FFF2-40B4-BE49-F238E27FC236}">
                <a16:creationId xmlns:a16="http://schemas.microsoft.com/office/drawing/2014/main" id="{94F58E8B-FDCE-0074-682C-42EB6E32F728}"/>
              </a:ext>
            </a:extLst>
          </p:cNvPr>
          <p:cNvSpPr>
            <a:spLocks noGrp="1" noChangeArrowheads="1"/>
          </p:cNvSpPr>
          <p:nvPr>
            <p:ph type="title"/>
          </p:nvPr>
        </p:nvSpPr>
        <p:spPr>
          <a:xfrm>
            <a:off x="4659520" y="624110"/>
            <a:ext cx="6845092" cy="1280890"/>
          </a:xfrm>
        </p:spPr>
        <p:txBody>
          <a:bodyPr>
            <a:normAutofit/>
          </a:bodyPr>
          <a:lstStyle/>
          <a:p>
            <a:pPr eaLnBrk="1" hangingPunct="1"/>
            <a:r>
              <a:rPr lang="tr-TR" altLang="tr-TR" b="1"/>
              <a:t>BT</a:t>
            </a:r>
            <a:r>
              <a:rPr lang="en-US" altLang="tr-TR" b="1"/>
              <a:t> </a:t>
            </a:r>
            <a:r>
              <a:rPr lang="en-US" altLang="tr-TR" b="1" err="1"/>
              <a:t>Temelleri</a:t>
            </a:r>
            <a:r>
              <a:rPr lang="en-US" altLang="tr-TR" b="1"/>
              <a:t> </a:t>
            </a:r>
            <a:r>
              <a:rPr lang="en-US" altLang="tr-TR" b="1" err="1"/>
              <a:t>ve</a:t>
            </a:r>
            <a:r>
              <a:rPr lang="en-US" altLang="tr-TR" b="1"/>
              <a:t> </a:t>
            </a:r>
            <a:r>
              <a:rPr lang="en-US" altLang="tr-TR" b="1" err="1"/>
              <a:t>Cihazın</a:t>
            </a:r>
            <a:r>
              <a:rPr lang="en-US" altLang="tr-TR" b="1"/>
              <a:t> </a:t>
            </a:r>
            <a:r>
              <a:rPr lang="en-US" altLang="tr-TR" b="1" err="1"/>
              <a:t>Bileşenleri</a:t>
            </a:r>
            <a:endParaRPr lang="en-US" altLang="tr-TR" b="1"/>
          </a:p>
        </p:txBody>
      </p:sp>
      <p:sp>
        <p:nvSpPr>
          <p:cNvPr id="6183" name="Rectangle 6182">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6185"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pic>
        <p:nvPicPr>
          <p:cNvPr id="6217" name="Picture 6148" descr="Gökkuşağı renkli balon">
            <a:extLst>
              <a:ext uri="{FF2B5EF4-FFF2-40B4-BE49-F238E27FC236}">
                <a16:creationId xmlns:a16="http://schemas.microsoft.com/office/drawing/2014/main" id="{D5E52C89-88FC-4A61-9471-058DDFDD444D}"/>
              </a:ext>
            </a:extLst>
          </p:cNvPr>
          <p:cNvPicPr>
            <a:picLocks noChangeAspect="1"/>
          </p:cNvPicPr>
          <p:nvPr/>
        </p:nvPicPr>
        <p:blipFill>
          <a:blip r:embed="rId2"/>
          <a:srcRect l="33935" r="34032" b="-1"/>
          <a:stretch>
            <a:fillRect/>
          </a:stretch>
        </p:blipFill>
        <p:spPr>
          <a:xfrm>
            <a:off x="20" y="1730"/>
            <a:ext cx="2720524" cy="6858000"/>
          </a:xfrm>
          <a:prstGeom prst="rect">
            <a:avLst/>
          </a:prstGeom>
        </p:spPr>
      </p:pic>
      <p:sp>
        <p:nvSpPr>
          <p:cNvPr id="6147" name="Rectangle 3">
            <a:extLst>
              <a:ext uri="{FF2B5EF4-FFF2-40B4-BE49-F238E27FC236}">
                <a16:creationId xmlns:a16="http://schemas.microsoft.com/office/drawing/2014/main" id="{3B429D9C-2009-102E-1890-0F0DD21109AA}"/>
              </a:ext>
            </a:extLst>
          </p:cNvPr>
          <p:cNvSpPr>
            <a:spLocks noGrp="1" noChangeArrowheads="1"/>
          </p:cNvSpPr>
          <p:nvPr>
            <p:ph idx="1"/>
          </p:nvPr>
        </p:nvSpPr>
        <p:spPr>
          <a:xfrm>
            <a:off x="4656667" y="2133600"/>
            <a:ext cx="6847944" cy="3777622"/>
          </a:xfrm>
        </p:spPr>
        <p:txBody>
          <a:bodyPr>
            <a:normAutofit/>
          </a:bodyPr>
          <a:lstStyle/>
          <a:p>
            <a:pPr eaLnBrk="1" hangingPunct="1">
              <a:lnSpc>
                <a:spcPct val="90000"/>
              </a:lnSpc>
            </a:pPr>
            <a:r>
              <a:rPr lang="en-US" altLang="tr-TR" sz="1300" err="1"/>
              <a:t>Bilgisayarlı</a:t>
            </a:r>
            <a:r>
              <a:rPr lang="en-US" altLang="tr-TR" sz="1300"/>
              <a:t> </a:t>
            </a:r>
            <a:r>
              <a:rPr lang="en-US" altLang="tr-TR" sz="1300" err="1"/>
              <a:t>Tomografi</a:t>
            </a:r>
            <a:r>
              <a:rPr lang="en-US" altLang="tr-TR" sz="1300"/>
              <a:t> </a:t>
            </a:r>
            <a:r>
              <a:rPr lang="en-US" altLang="tr-TR" sz="1300" err="1"/>
              <a:t>cihazını</a:t>
            </a:r>
            <a:r>
              <a:rPr lang="en-US" altLang="tr-TR" sz="1300"/>
              <a:t> </a:t>
            </a:r>
            <a:r>
              <a:rPr lang="en-US" altLang="tr-TR" sz="1300" err="1"/>
              <a:t>incelediğimizde</a:t>
            </a:r>
            <a:r>
              <a:rPr lang="en-US" altLang="tr-TR" sz="1300"/>
              <a:t> </a:t>
            </a:r>
            <a:r>
              <a:rPr lang="en-US" altLang="tr-TR" sz="1300" err="1"/>
              <a:t>cihazın</a:t>
            </a:r>
            <a:r>
              <a:rPr lang="en-US" altLang="tr-TR" sz="1300"/>
              <a:t> MR </a:t>
            </a:r>
            <a:r>
              <a:rPr lang="en-US" altLang="tr-TR" sz="1300" err="1"/>
              <a:t>cihazında</a:t>
            </a:r>
            <a:r>
              <a:rPr lang="en-US" altLang="tr-TR" sz="1300"/>
              <a:t> </a:t>
            </a:r>
            <a:r>
              <a:rPr lang="en-US" altLang="tr-TR" sz="1300" err="1"/>
              <a:t>olduğu</a:t>
            </a:r>
            <a:r>
              <a:rPr lang="en-US" altLang="tr-TR" sz="1300"/>
              <a:t> </a:t>
            </a:r>
            <a:r>
              <a:rPr lang="en-US" altLang="tr-TR" sz="1300" err="1"/>
              <a:t>gibi</a:t>
            </a:r>
            <a:r>
              <a:rPr lang="en-US" altLang="tr-TR" sz="1300"/>
              <a:t> </a:t>
            </a:r>
            <a:r>
              <a:rPr lang="en-US" altLang="tr-TR" sz="1300" err="1"/>
              <a:t>üç</a:t>
            </a:r>
            <a:r>
              <a:rPr lang="en-US" altLang="tr-TR" sz="1300"/>
              <a:t> ana </a:t>
            </a:r>
            <a:r>
              <a:rPr lang="en-US" altLang="tr-TR" sz="1300" err="1"/>
              <a:t>kısımdan</a:t>
            </a:r>
            <a:r>
              <a:rPr lang="tr-TR" altLang="tr-TR" sz="1300"/>
              <a:t> </a:t>
            </a:r>
            <a:r>
              <a:rPr lang="en-US" altLang="tr-TR" sz="1300" err="1"/>
              <a:t>oluştuğunu</a:t>
            </a:r>
            <a:r>
              <a:rPr lang="en-US" altLang="tr-TR" sz="1300"/>
              <a:t> </a:t>
            </a:r>
            <a:r>
              <a:rPr lang="en-US" altLang="tr-TR" sz="1300" err="1"/>
              <a:t>görmekteyiz</a:t>
            </a:r>
            <a:r>
              <a:rPr lang="en-US" altLang="tr-TR" sz="1300"/>
              <a:t>. Bu </a:t>
            </a:r>
            <a:r>
              <a:rPr lang="en-US" altLang="tr-TR" sz="1300" err="1"/>
              <a:t>üç</a:t>
            </a:r>
            <a:r>
              <a:rPr lang="en-US" altLang="tr-TR" sz="1300"/>
              <a:t> ana </a:t>
            </a:r>
            <a:r>
              <a:rPr lang="en-US" altLang="tr-TR" sz="1300" err="1"/>
              <a:t>kısmı</a:t>
            </a:r>
            <a:r>
              <a:rPr lang="en-US" altLang="tr-TR" sz="1300"/>
              <a:t> </a:t>
            </a:r>
            <a:r>
              <a:rPr lang="en-US" altLang="tr-TR" sz="1300" err="1"/>
              <a:t>maddeler</a:t>
            </a:r>
            <a:r>
              <a:rPr lang="en-US" altLang="tr-TR" sz="1300"/>
              <a:t> </a:t>
            </a:r>
            <a:r>
              <a:rPr lang="en-US" altLang="tr-TR" sz="1300" err="1"/>
              <a:t>halinde</a:t>
            </a:r>
            <a:r>
              <a:rPr lang="en-US" altLang="tr-TR" sz="1300"/>
              <a:t> </a:t>
            </a:r>
            <a:r>
              <a:rPr lang="en-US" altLang="tr-TR" sz="1300" err="1"/>
              <a:t>sıraladığımızda</a:t>
            </a:r>
            <a:r>
              <a:rPr lang="en-US" altLang="tr-TR" sz="1300"/>
              <a:t>;</a:t>
            </a:r>
          </a:p>
          <a:p>
            <a:pPr eaLnBrk="1" hangingPunct="1">
              <a:lnSpc>
                <a:spcPct val="90000"/>
              </a:lnSpc>
              <a:buFontTx/>
              <a:buNone/>
            </a:pPr>
            <a:r>
              <a:rPr lang="tr-TR" altLang="tr-TR" sz="1300"/>
              <a:t>     </a:t>
            </a:r>
            <a:r>
              <a:rPr lang="en-US" altLang="tr-TR" sz="1300"/>
              <a:t>• Gantry</a:t>
            </a:r>
          </a:p>
          <a:p>
            <a:pPr eaLnBrk="1" hangingPunct="1">
              <a:lnSpc>
                <a:spcPct val="90000"/>
              </a:lnSpc>
              <a:buFontTx/>
              <a:buNone/>
            </a:pPr>
            <a:r>
              <a:rPr lang="tr-TR" altLang="tr-TR" sz="1300"/>
              <a:t>     </a:t>
            </a:r>
            <a:r>
              <a:rPr lang="en-US" altLang="tr-TR" sz="1300"/>
              <a:t>• </a:t>
            </a:r>
            <a:r>
              <a:rPr lang="en-US" altLang="tr-TR" sz="1300" err="1"/>
              <a:t>Kabinetler</a:t>
            </a:r>
            <a:endParaRPr lang="en-US" altLang="tr-TR" sz="1300"/>
          </a:p>
          <a:p>
            <a:pPr eaLnBrk="1" hangingPunct="1">
              <a:lnSpc>
                <a:spcPct val="90000"/>
              </a:lnSpc>
              <a:buFontTx/>
              <a:buNone/>
            </a:pPr>
            <a:r>
              <a:rPr lang="tr-TR" altLang="tr-TR" sz="1300"/>
              <a:t>     </a:t>
            </a:r>
            <a:r>
              <a:rPr lang="en-US" altLang="tr-TR" sz="1300"/>
              <a:t>• </a:t>
            </a:r>
            <a:r>
              <a:rPr lang="en-US" altLang="tr-TR" sz="1300" err="1"/>
              <a:t>Görüntü</a:t>
            </a:r>
            <a:r>
              <a:rPr lang="en-US" altLang="tr-TR" sz="1300"/>
              <a:t> </a:t>
            </a:r>
            <a:r>
              <a:rPr lang="en-US" altLang="tr-TR" sz="1300" err="1"/>
              <a:t>İşleme</a:t>
            </a:r>
            <a:r>
              <a:rPr lang="en-US" altLang="tr-TR" sz="1300"/>
              <a:t> </a:t>
            </a:r>
            <a:r>
              <a:rPr lang="en-US" altLang="tr-TR" sz="1300" err="1"/>
              <a:t>ve</a:t>
            </a:r>
            <a:r>
              <a:rPr lang="en-US" altLang="tr-TR" sz="1300"/>
              <a:t> </a:t>
            </a:r>
            <a:r>
              <a:rPr lang="en-US" altLang="tr-TR" sz="1300" err="1"/>
              <a:t>Operatör</a:t>
            </a:r>
            <a:r>
              <a:rPr lang="en-US" altLang="tr-TR" sz="1300"/>
              <a:t> </a:t>
            </a:r>
            <a:r>
              <a:rPr lang="en-US" altLang="tr-TR" sz="1300" err="1"/>
              <a:t>Bilgisayarları</a:t>
            </a:r>
            <a:endParaRPr lang="en-US" altLang="tr-TR" sz="1300"/>
          </a:p>
          <a:p>
            <a:pPr eaLnBrk="1" hangingPunct="1">
              <a:lnSpc>
                <a:spcPct val="90000"/>
              </a:lnSpc>
            </a:pPr>
            <a:r>
              <a:rPr lang="en-US" altLang="tr-TR" sz="1300" err="1"/>
              <a:t>Bilgisayarlı</a:t>
            </a:r>
            <a:r>
              <a:rPr lang="en-US" altLang="tr-TR" sz="1300"/>
              <a:t> </a:t>
            </a:r>
            <a:r>
              <a:rPr lang="en-US" altLang="tr-TR" sz="1300" err="1"/>
              <a:t>tomografi</a:t>
            </a:r>
            <a:r>
              <a:rPr lang="en-US" altLang="tr-TR" sz="1300"/>
              <a:t> </a:t>
            </a:r>
            <a:r>
              <a:rPr lang="en-US" altLang="tr-TR" sz="1300" err="1"/>
              <a:t>cihazının</a:t>
            </a:r>
            <a:r>
              <a:rPr lang="en-US" altLang="tr-TR" sz="1300"/>
              <a:t> ilk </a:t>
            </a:r>
            <a:r>
              <a:rPr lang="en-US" altLang="tr-TR" sz="1300" err="1"/>
              <a:t>ve</a:t>
            </a:r>
            <a:r>
              <a:rPr lang="en-US" altLang="tr-TR" sz="1300"/>
              <a:t> </a:t>
            </a:r>
            <a:r>
              <a:rPr lang="en-US" altLang="tr-TR" sz="1300" err="1"/>
              <a:t>en</a:t>
            </a:r>
            <a:r>
              <a:rPr lang="en-US" altLang="tr-TR" sz="1300"/>
              <a:t> </a:t>
            </a:r>
            <a:r>
              <a:rPr lang="en-US" altLang="tr-TR" sz="1300" err="1"/>
              <a:t>önemli</a:t>
            </a:r>
            <a:r>
              <a:rPr lang="en-US" altLang="tr-TR" sz="1300"/>
              <a:t> </a:t>
            </a:r>
            <a:r>
              <a:rPr lang="en-US" altLang="tr-TR" sz="1300" err="1"/>
              <a:t>bileşeni</a:t>
            </a:r>
            <a:r>
              <a:rPr lang="en-US" altLang="tr-TR" sz="1300"/>
              <a:t> </a:t>
            </a:r>
            <a:r>
              <a:rPr lang="en-US" altLang="tr-TR" sz="1300" err="1"/>
              <a:t>olan</a:t>
            </a:r>
            <a:r>
              <a:rPr lang="en-US" altLang="tr-TR" sz="1300"/>
              <a:t> GANTRY; </a:t>
            </a:r>
            <a:r>
              <a:rPr lang="en-US" altLang="tr-TR" sz="1300" err="1"/>
              <a:t>basit</a:t>
            </a:r>
            <a:r>
              <a:rPr lang="en-US" altLang="tr-TR" sz="1300"/>
              <a:t> </a:t>
            </a:r>
            <a:r>
              <a:rPr lang="en-US" altLang="tr-TR" sz="1300" err="1"/>
              <a:t>olarak</a:t>
            </a:r>
            <a:r>
              <a:rPr lang="en-US" altLang="tr-TR" sz="1300"/>
              <a:t> </a:t>
            </a:r>
            <a:r>
              <a:rPr lang="en-US" altLang="tr-TR" sz="1300" err="1"/>
              <a:t>ifade</a:t>
            </a:r>
            <a:r>
              <a:rPr lang="en-US" altLang="tr-TR" sz="1300"/>
              <a:t> </a:t>
            </a:r>
            <a:r>
              <a:rPr lang="en-US" altLang="tr-TR" sz="1300" err="1"/>
              <a:t>edilirse</a:t>
            </a:r>
            <a:r>
              <a:rPr lang="tr-TR" altLang="tr-TR" sz="1300"/>
              <a:t> </a:t>
            </a:r>
            <a:r>
              <a:rPr lang="en-US" altLang="tr-TR" sz="1300" err="1"/>
              <a:t>dönen</a:t>
            </a:r>
            <a:r>
              <a:rPr lang="en-US" altLang="tr-TR" sz="1300"/>
              <a:t> </a:t>
            </a:r>
            <a:r>
              <a:rPr lang="en-US" altLang="tr-TR" sz="1300" err="1"/>
              <a:t>bir</a:t>
            </a:r>
            <a:r>
              <a:rPr lang="en-US" altLang="tr-TR" sz="1300"/>
              <a:t> </a:t>
            </a:r>
            <a:r>
              <a:rPr lang="en-US" altLang="tr-TR" sz="1300" err="1"/>
              <a:t>halkadır</a:t>
            </a:r>
            <a:r>
              <a:rPr lang="en-US" altLang="tr-TR" sz="1300"/>
              <a:t>. Gantry; </a:t>
            </a:r>
            <a:r>
              <a:rPr lang="en-US" altLang="tr-TR" sz="1300" err="1"/>
              <a:t>halka</a:t>
            </a:r>
            <a:r>
              <a:rPr lang="en-US" altLang="tr-TR" sz="1300"/>
              <a:t> </a:t>
            </a:r>
            <a:r>
              <a:rPr lang="en-US" altLang="tr-TR" sz="1300" err="1"/>
              <a:t>şeklinde</a:t>
            </a:r>
            <a:r>
              <a:rPr lang="en-US" altLang="tr-TR" sz="1300"/>
              <a:t> </a:t>
            </a:r>
            <a:r>
              <a:rPr lang="en-US" altLang="tr-TR" sz="1300" err="1"/>
              <a:t>bir</a:t>
            </a:r>
            <a:r>
              <a:rPr lang="en-US" altLang="tr-TR" sz="1300"/>
              <a:t> </a:t>
            </a:r>
            <a:r>
              <a:rPr lang="en-US" altLang="tr-TR" sz="1300" err="1"/>
              <a:t>geometriye</a:t>
            </a:r>
            <a:r>
              <a:rPr lang="en-US" altLang="tr-TR" sz="1300"/>
              <a:t> </a:t>
            </a:r>
            <a:r>
              <a:rPr lang="en-US" altLang="tr-TR" sz="1300" err="1"/>
              <a:t>sahiptir</a:t>
            </a:r>
            <a:r>
              <a:rPr lang="en-US" altLang="tr-TR" sz="1300"/>
              <a:t>.</a:t>
            </a:r>
            <a:endParaRPr lang="tr-TR" altLang="tr-TR" sz="1300"/>
          </a:p>
          <a:p>
            <a:pPr>
              <a:lnSpc>
                <a:spcPct val="90000"/>
              </a:lnSpc>
            </a:pPr>
            <a:r>
              <a:rPr lang="en-US" altLang="tr-TR" sz="1300"/>
              <a:t>CT </a:t>
            </a:r>
            <a:r>
              <a:rPr lang="en-US" altLang="tr-TR" sz="1300" err="1"/>
              <a:t>cihazının</a:t>
            </a:r>
            <a:r>
              <a:rPr lang="en-US" altLang="tr-TR" sz="1300"/>
              <a:t> </a:t>
            </a:r>
            <a:r>
              <a:rPr lang="en-US" altLang="tr-TR" sz="1300" err="1"/>
              <a:t>ikinci</a:t>
            </a:r>
            <a:r>
              <a:rPr lang="en-US" altLang="tr-TR" sz="1300"/>
              <a:t> </a:t>
            </a:r>
            <a:r>
              <a:rPr lang="en-US" altLang="tr-TR" sz="1300" err="1"/>
              <a:t>bileşeni</a:t>
            </a:r>
            <a:r>
              <a:rPr lang="en-US" altLang="tr-TR" sz="1300"/>
              <a:t> </a:t>
            </a:r>
            <a:r>
              <a:rPr lang="en-US" altLang="tr-TR" sz="1300" err="1"/>
              <a:t>olan</a:t>
            </a:r>
            <a:r>
              <a:rPr lang="en-US" altLang="tr-TR" sz="1300"/>
              <a:t> </a:t>
            </a:r>
            <a:r>
              <a:rPr lang="en-US" altLang="tr-TR" sz="1300" i="1" err="1"/>
              <a:t>kabinetler</a:t>
            </a:r>
            <a:r>
              <a:rPr lang="en-US" altLang="tr-TR" sz="1300"/>
              <a:t>, </a:t>
            </a:r>
            <a:r>
              <a:rPr lang="en-US" altLang="tr-TR" sz="1300" err="1"/>
              <a:t>gantrynin</a:t>
            </a:r>
            <a:r>
              <a:rPr lang="en-US" altLang="tr-TR" sz="1300"/>
              <a:t> </a:t>
            </a:r>
            <a:r>
              <a:rPr lang="en-US" altLang="tr-TR" sz="1300" err="1"/>
              <a:t>devirdaim</a:t>
            </a:r>
            <a:r>
              <a:rPr lang="en-US" altLang="tr-TR" sz="1300"/>
              <a:t> </a:t>
            </a:r>
            <a:r>
              <a:rPr lang="en-US" altLang="tr-TR" sz="1300" err="1"/>
              <a:t>sürekliliğini</a:t>
            </a:r>
            <a:r>
              <a:rPr lang="en-US" altLang="tr-TR" sz="1300"/>
              <a:t> </a:t>
            </a:r>
            <a:r>
              <a:rPr lang="en-US" altLang="tr-TR" sz="1300" err="1"/>
              <a:t>sağlayan</a:t>
            </a:r>
            <a:r>
              <a:rPr lang="en-US" altLang="tr-TR" sz="1300"/>
              <a:t> </a:t>
            </a:r>
            <a:r>
              <a:rPr lang="en-US" altLang="tr-TR" sz="1300" err="1"/>
              <a:t>komponentleri</a:t>
            </a:r>
            <a:r>
              <a:rPr lang="tr-TR" altLang="tr-TR" sz="1300"/>
              <a:t> </a:t>
            </a:r>
            <a:r>
              <a:rPr lang="en-US" altLang="tr-TR" sz="1300" err="1"/>
              <a:t>taşırlar</a:t>
            </a:r>
            <a:r>
              <a:rPr lang="en-US" altLang="tr-TR" sz="1300"/>
              <a:t>, </a:t>
            </a:r>
            <a:r>
              <a:rPr lang="en-US" altLang="tr-TR" sz="1300" err="1"/>
              <a:t>bunun</a:t>
            </a:r>
            <a:r>
              <a:rPr lang="en-US" altLang="tr-TR" sz="1300"/>
              <a:t> </a:t>
            </a:r>
            <a:r>
              <a:rPr lang="en-US" altLang="tr-TR" sz="1300" err="1"/>
              <a:t>yanında</a:t>
            </a:r>
            <a:r>
              <a:rPr lang="en-US" altLang="tr-TR" sz="1300"/>
              <a:t> </a:t>
            </a:r>
            <a:r>
              <a:rPr lang="en-US" altLang="tr-TR" sz="1300" err="1"/>
              <a:t>görüntü</a:t>
            </a:r>
            <a:r>
              <a:rPr lang="en-US" altLang="tr-TR" sz="1300"/>
              <a:t> </a:t>
            </a:r>
            <a:r>
              <a:rPr lang="en-US" altLang="tr-TR" sz="1300" err="1"/>
              <a:t>bilgisayarı</a:t>
            </a:r>
            <a:r>
              <a:rPr lang="en-US" altLang="tr-TR" sz="1300"/>
              <a:t> </a:t>
            </a:r>
            <a:r>
              <a:rPr lang="en-US" altLang="tr-TR" sz="1300" err="1"/>
              <a:t>ile</a:t>
            </a:r>
            <a:r>
              <a:rPr lang="en-US" altLang="tr-TR" sz="1300"/>
              <a:t> </a:t>
            </a:r>
            <a:r>
              <a:rPr lang="en-US" altLang="tr-TR" sz="1300" err="1"/>
              <a:t>gantrynin</a:t>
            </a:r>
            <a:r>
              <a:rPr lang="en-US" altLang="tr-TR" sz="1300"/>
              <a:t> </a:t>
            </a:r>
            <a:r>
              <a:rPr lang="en-US" altLang="tr-TR" sz="1300" err="1"/>
              <a:t>veri</a:t>
            </a:r>
            <a:r>
              <a:rPr lang="en-US" altLang="tr-TR" sz="1300"/>
              <a:t> </a:t>
            </a:r>
            <a:r>
              <a:rPr lang="en-US" altLang="tr-TR" sz="1300" err="1"/>
              <a:t>akışı</a:t>
            </a:r>
            <a:r>
              <a:rPr lang="en-US" altLang="tr-TR" sz="1300"/>
              <a:t> </a:t>
            </a:r>
            <a:r>
              <a:rPr lang="en-US" altLang="tr-TR" sz="1300" err="1"/>
              <a:t>için</a:t>
            </a:r>
            <a:r>
              <a:rPr lang="en-US" altLang="tr-TR" sz="1300"/>
              <a:t> </a:t>
            </a:r>
            <a:r>
              <a:rPr lang="en-US" altLang="tr-TR" sz="1300" err="1"/>
              <a:t>arayüzü</a:t>
            </a:r>
            <a:r>
              <a:rPr lang="en-US" altLang="tr-TR" sz="1300"/>
              <a:t> </a:t>
            </a:r>
            <a:r>
              <a:rPr lang="en-US" altLang="tr-TR" sz="1300" err="1"/>
              <a:t>oluşturur</a:t>
            </a:r>
            <a:r>
              <a:rPr lang="en-US" altLang="tr-TR" sz="1300"/>
              <a:t>. </a:t>
            </a:r>
            <a:endParaRPr lang="tr-TR" altLang="tr-TR" sz="1300"/>
          </a:p>
          <a:p>
            <a:pPr eaLnBrk="1" hangingPunct="1">
              <a:lnSpc>
                <a:spcPct val="90000"/>
              </a:lnSpc>
            </a:pPr>
            <a:r>
              <a:rPr lang="en-US" altLang="tr-TR" sz="1300"/>
              <a:t> </a:t>
            </a:r>
            <a:r>
              <a:rPr lang="tr-TR" altLang="tr-TR" sz="1300"/>
              <a:t>Görüntü işleme ve operatör bilgisayarları, B</a:t>
            </a:r>
            <a:r>
              <a:rPr lang="en-US" altLang="tr-TR" sz="1300"/>
              <a:t>T </a:t>
            </a:r>
            <a:r>
              <a:rPr lang="en-US" altLang="tr-TR" sz="1300" err="1"/>
              <a:t>cihazının</a:t>
            </a:r>
            <a:r>
              <a:rPr lang="en-US" altLang="tr-TR" sz="1300"/>
              <a:t> </a:t>
            </a:r>
            <a:r>
              <a:rPr lang="en-US" altLang="tr-TR" sz="1300" err="1"/>
              <a:t>ürettiği</a:t>
            </a:r>
            <a:r>
              <a:rPr lang="en-US" altLang="tr-TR" sz="1300"/>
              <a:t> </a:t>
            </a:r>
            <a:r>
              <a:rPr lang="en-US" altLang="tr-TR" sz="1300" err="1"/>
              <a:t>verileri</a:t>
            </a:r>
            <a:r>
              <a:rPr lang="en-US" altLang="tr-TR" sz="1300"/>
              <a:t> </a:t>
            </a:r>
            <a:r>
              <a:rPr lang="en-US" altLang="tr-TR" sz="1300" err="1"/>
              <a:t>görünür</a:t>
            </a:r>
            <a:r>
              <a:rPr lang="en-US" altLang="tr-TR" sz="1300"/>
              <a:t> </a:t>
            </a:r>
            <a:r>
              <a:rPr lang="en-US" altLang="tr-TR" sz="1300" err="1"/>
              <a:t>ve</a:t>
            </a:r>
            <a:r>
              <a:rPr lang="en-US" altLang="tr-TR" sz="1300"/>
              <a:t> </a:t>
            </a:r>
            <a:r>
              <a:rPr lang="en-US" altLang="tr-TR" sz="1300" err="1"/>
              <a:t>elle</a:t>
            </a:r>
            <a:r>
              <a:rPr lang="en-US" altLang="tr-TR" sz="1300"/>
              <a:t> </a:t>
            </a:r>
            <a:r>
              <a:rPr lang="en-US" altLang="tr-TR" sz="1300" err="1"/>
              <a:t>tutulur</a:t>
            </a:r>
            <a:r>
              <a:rPr lang="en-US" altLang="tr-TR" sz="1300"/>
              <a:t> hale </a:t>
            </a:r>
            <a:r>
              <a:rPr lang="en-US" altLang="tr-TR" sz="1300" err="1"/>
              <a:t>getiren</a:t>
            </a:r>
            <a:r>
              <a:rPr lang="en-US" altLang="tr-TR" sz="1300"/>
              <a:t> </a:t>
            </a:r>
            <a:r>
              <a:rPr lang="en-US" altLang="tr-TR" sz="1300" err="1"/>
              <a:t>parçalardır</a:t>
            </a:r>
            <a:r>
              <a:rPr lang="en-US" altLang="tr-TR" sz="1300"/>
              <a:t>. </a:t>
            </a:r>
            <a:r>
              <a:rPr lang="en-US" altLang="tr-TR" sz="1300" err="1"/>
              <a:t>Cihazın</a:t>
            </a:r>
            <a:r>
              <a:rPr lang="en-US" altLang="tr-TR" sz="1300"/>
              <a:t> </a:t>
            </a:r>
            <a:r>
              <a:rPr lang="tr-TR" altLang="tr-TR" sz="1300"/>
              <a:t>d</a:t>
            </a:r>
            <a:r>
              <a:rPr lang="en-US" altLang="tr-TR" sz="1300" err="1"/>
              <a:t>eded</a:t>
            </a:r>
            <a:r>
              <a:rPr lang="tr-TR" altLang="tr-TR" sz="1300"/>
              <a:t>e</a:t>
            </a:r>
            <a:r>
              <a:rPr lang="en-US" altLang="tr-TR" sz="1300" err="1"/>
              <a:t>ktörlerinden</a:t>
            </a:r>
            <a:r>
              <a:rPr lang="en-US" altLang="tr-TR" sz="1300"/>
              <a:t> </a:t>
            </a:r>
            <a:r>
              <a:rPr lang="en-US" altLang="tr-TR" sz="1300" err="1"/>
              <a:t>alınan</a:t>
            </a:r>
            <a:r>
              <a:rPr lang="en-US" altLang="tr-TR" sz="1300"/>
              <a:t> </a:t>
            </a:r>
            <a:r>
              <a:rPr lang="en-US" altLang="tr-TR" sz="1300" err="1"/>
              <a:t>veriler</a:t>
            </a:r>
            <a:r>
              <a:rPr lang="en-US" altLang="tr-TR" sz="1300"/>
              <a:t> </a:t>
            </a:r>
            <a:r>
              <a:rPr lang="en-US" altLang="tr-TR" sz="1300" err="1"/>
              <a:t>iletim</a:t>
            </a:r>
            <a:r>
              <a:rPr lang="en-US" altLang="tr-TR" sz="1300"/>
              <a:t> </a:t>
            </a:r>
            <a:r>
              <a:rPr lang="en-US" altLang="tr-TR" sz="1300" err="1"/>
              <a:t>hatları</a:t>
            </a:r>
            <a:r>
              <a:rPr lang="en-US" altLang="tr-TR" sz="1300"/>
              <a:t> </a:t>
            </a:r>
            <a:r>
              <a:rPr lang="en-US" altLang="tr-TR" sz="1300" err="1"/>
              <a:t>aracılığıyla</a:t>
            </a:r>
            <a:r>
              <a:rPr lang="en-US" altLang="tr-TR" sz="1300"/>
              <a:t> </a:t>
            </a:r>
            <a:r>
              <a:rPr lang="en-US" altLang="tr-TR" sz="1300" err="1"/>
              <a:t>Görüntü</a:t>
            </a:r>
            <a:r>
              <a:rPr lang="en-US" altLang="tr-TR" sz="1300"/>
              <a:t> </a:t>
            </a:r>
            <a:r>
              <a:rPr lang="en-US" altLang="tr-TR" sz="1300" err="1"/>
              <a:t>İşlem</a:t>
            </a:r>
            <a:r>
              <a:rPr lang="en-US" altLang="tr-TR" sz="1300"/>
              <a:t> </a:t>
            </a:r>
            <a:r>
              <a:rPr lang="en-US" altLang="tr-TR" sz="1300" err="1"/>
              <a:t>Bilgisayarına</a:t>
            </a:r>
            <a:r>
              <a:rPr lang="en-US" altLang="tr-TR" sz="1300"/>
              <a:t> </a:t>
            </a:r>
            <a:r>
              <a:rPr lang="en-US" altLang="tr-TR" sz="1300" err="1"/>
              <a:t>geli</a:t>
            </a:r>
            <a:r>
              <a:rPr lang="tr-TR" altLang="tr-TR" sz="1300"/>
              <a:t>r.</a:t>
            </a:r>
          </a:p>
          <a:p>
            <a:pPr eaLnBrk="1" hangingPunct="1">
              <a:lnSpc>
                <a:spcPct val="90000"/>
              </a:lnSpc>
            </a:pPr>
            <a:endParaRPr lang="tr-TR" altLang="tr-TR" sz="1300"/>
          </a:p>
        </p:txBody>
      </p:sp>
    </p:spTree>
    <p:extLst>
      <p:ext uri="{BB962C8B-B14F-4D97-AF65-F5344CB8AC3E}">
        <p14:creationId xmlns:p14="http://schemas.microsoft.com/office/powerpoint/2010/main" val="2158068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53255" name="Group 53254">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3256"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53257"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53258"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53259"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53260"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53261"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53262"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53263"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53264"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53265"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53266"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53267"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53269" name="Group 53268">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53270"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53271"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53272"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53273"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53274"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53275"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53276"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53277"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53278"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53279"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53280"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53281"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53283" name="Rectangle 53282">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3285"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 useBgFill="1">
        <p:nvSpPr>
          <p:cNvPr id="53287" name="Rectangle 53286">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89" name="Rectangle 53288">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3250" name="Rectangle 2">
            <a:extLst>
              <a:ext uri="{FF2B5EF4-FFF2-40B4-BE49-F238E27FC236}">
                <a16:creationId xmlns:a16="http://schemas.microsoft.com/office/drawing/2014/main" id="{E84B257A-808D-0DDF-933F-0C483ED513A4}"/>
              </a:ext>
            </a:extLst>
          </p:cNvPr>
          <p:cNvSpPr>
            <a:spLocks noGrp="1" noChangeArrowheads="1"/>
          </p:cNvSpPr>
          <p:nvPr>
            <p:ph type="title"/>
          </p:nvPr>
        </p:nvSpPr>
        <p:spPr>
          <a:xfrm>
            <a:off x="540279" y="967417"/>
            <a:ext cx="3778870" cy="3943250"/>
          </a:xfrm>
        </p:spPr>
        <p:txBody>
          <a:bodyPr vert="horz" lIns="91440" tIns="45720" rIns="91440" bIns="45720" rtlCol="0" anchor="b">
            <a:normAutofit/>
          </a:bodyPr>
          <a:lstStyle/>
          <a:p>
            <a:r>
              <a:rPr lang="en-US" altLang="tr-TR" sz="4000" b="1">
                <a:solidFill>
                  <a:srgbClr val="FEFFFF"/>
                </a:solidFill>
              </a:rPr>
              <a:t>Bilgisayarlı Tomografi Görüntü</a:t>
            </a:r>
            <a:endParaRPr lang="en-US" altLang="tr-TR" sz="4000">
              <a:solidFill>
                <a:srgbClr val="FEFFFF"/>
              </a:solidFill>
            </a:endParaRPr>
          </a:p>
        </p:txBody>
      </p:sp>
      <p:sp>
        <p:nvSpPr>
          <p:cNvPr id="53291"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6" name="Resim 5">
            <a:extLst>
              <a:ext uri="{FF2B5EF4-FFF2-40B4-BE49-F238E27FC236}">
                <a16:creationId xmlns:a16="http://schemas.microsoft.com/office/drawing/2014/main" id="{CF7E99DA-ECB2-95DB-B07E-D61EE2455EC1}"/>
              </a:ext>
            </a:extLst>
          </p:cNvPr>
          <p:cNvPicPr>
            <a:picLocks noChangeAspect="1"/>
          </p:cNvPicPr>
          <p:nvPr/>
        </p:nvPicPr>
        <p:blipFill>
          <a:blip r:embed="rId2"/>
          <a:stretch>
            <a:fillRect/>
          </a:stretch>
        </p:blipFill>
        <p:spPr>
          <a:xfrm>
            <a:off x="5873300" y="967417"/>
            <a:ext cx="5069889" cy="4930468"/>
          </a:xfrm>
          <a:prstGeom prst="rect">
            <a:avLst/>
          </a:prstGeom>
        </p:spPr>
      </p:pic>
    </p:spTree>
    <p:extLst>
      <p:ext uri="{BB962C8B-B14F-4D97-AF65-F5344CB8AC3E}">
        <p14:creationId xmlns:p14="http://schemas.microsoft.com/office/powerpoint/2010/main" val="1219877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3" name="Rectangle 4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F4D1E1-4981-A83C-AAA5-CFF5E65E9908}"/>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b="1"/>
              <a:t>Ultrasonografi</a:t>
            </a:r>
          </a:p>
        </p:txBody>
      </p:sp>
      <p:sp>
        <p:nvSpPr>
          <p:cNvPr id="45" name="Rectangle 4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E547220C-404B-0E09-2F2E-4AEF5D5080FC}"/>
              </a:ext>
            </a:extLst>
          </p:cNvPr>
          <p:cNvSpPr>
            <a:spLocks noGrp="1"/>
          </p:cNvSpPr>
          <p:nvPr>
            <p:ph sz="half" idx="1"/>
          </p:nvPr>
        </p:nvSpPr>
        <p:spPr>
          <a:xfrm>
            <a:off x="649225" y="2133600"/>
            <a:ext cx="3650278" cy="3759253"/>
          </a:xfrm>
        </p:spPr>
        <p:txBody>
          <a:bodyPr vert="horz" lIns="91440" tIns="45720" rIns="91440" bIns="45720" rtlCol="0">
            <a:normAutofit/>
          </a:bodyPr>
          <a:lstStyle/>
          <a:p>
            <a:r>
              <a:rPr lang="en-US"/>
              <a:t>Ultrason insan kulağının duyamadığı frekanstaki ses dalgalarıdır.</a:t>
            </a:r>
          </a:p>
          <a:p>
            <a:r>
              <a:rPr lang="en-US"/>
              <a:t> Ses, dalga şeklindeki bir enerji çeşididir. Ses dalgaları geçtikleri hava, sıvı ya da katılardaki moleküllerin titreşimine neden olur.</a:t>
            </a:r>
          </a:p>
          <a:p>
            <a:r>
              <a:rPr lang="en-US"/>
              <a:t> Ses dalgasının molekülleri saniyede kaç kez titreştirdiği frekans (Hertz) terimi ile ifade edilir. </a:t>
            </a:r>
          </a:p>
        </p:txBody>
      </p:sp>
      <p:pic>
        <p:nvPicPr>
          <p:cNvPr id="6" name="Resim 5">
            <a:extLst>
              <a:ext uri="{FF2B5EF4-FFF2-40B4-BE49-F238E27FC236}">
                <a16:creationId xmlns:a16="http://schemas.microsoft.com/office/drawing/2014/main" id="{388BF03B-22D3-C649-EA1E-AE93406A2CB2}"/>
              </a:ext>
            </a:extLst>
          </p:cNvPr>
          <p:cNvPicPr>
            <a:picLocks noChangeAspect="1"/>
          </p:cNvPicPr>
          <p:nvPr/>
        </p:nvPicPr>
        <p:blipFill>
          <a:blip r:embed="rId2"/>
          <a:stretch>
            <a:fillRect/>
          </a:stretch>
        </p:blipFill>
        <p:spPr>
          <a:xfrm>
            <a:off x="4619543" y="1806216"/>
            <a:ext cx="6953577" cy="2920501"/>
          </a:xfrm>
          <a:prstGeom prst="rect">
            <a:avLst/>
          </a:prstGeom>
        </p:spPr>
      </p:pic>
      <p:sp>
        <p:nvSpPr>
          <p:cNvPr id="4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0455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9"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70" name="Rectangle 40">
            <a:extLst>
              <a:ext uri="{FF2B5EF4-FFF2-40B4-BE49-F238E27FC236}">
                <a16:creationId xmlns:a16="http://schemas.microsoft.com/office/drawing/2014/main" id="{763516C8-F227-4B77-9AA7-61B9A0B78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F4D1E1-4981-A83C-AAA5-CFF5E65E9908}"/>
              </a:ext>
            </a:extLst>
          </p:cNvPr>
          <p:cNvSpPr>
            <a:spLocks noGrp="1"/>
          </p:cNvSpPr>
          <p:nvPr>
            <p:ph type="title"/>
          </p:nvPr>
        </p:nvSpPr>
        <p:spPr>
          <a:xfrm>
            <a:off x="2592925" y="3979877"/>
            <a:ext cx="8911687" cy="778589"/>
          </a:xfrm>
        </p:spPr>
        <p:txBody>
          <a:bodyPr vert="horz" lIns="91440" tIns="45720" rIns="91440" bIns="45720" rtlCol="0" anchor="b">
            <a:normAutofit/>
          </a:bodyPr>
          <a:lstStyle/>
          <a:p>
            <a:r>
              <a:rPr lang="en-US" sz="2800" b="1"/>
              <a:t>Ultrasonografi</a:t>
            </a:r>
          </a:p>
        </p:txBody>
      </p:sp>
      <p:sp>
        <p:nvSpPr>
          <p:cNvPr id="71" name="Rectangle 42">
            <a:extLst>
              <a:ext uri="{FF2B5EF4-FFF2-40B4-BE49-F238E27FC236}">
                <a16:creationId xmlns:a16="http://schemas.microsoft.com/office/drawing/2014/main" id="{D91B420C-C4C8-44DF-96B2-FBD101464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rgbClr val="72615B"/>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4" name="Resim 3" descr="metin içeren bir resim&#10;&#10;Açıklama otomatik olarak oluşturuldu">
            <a:extLst>
              <a:ext uri="{FF2B5EF4-FFF2-40B4-BE49-F238E27FC236}">
                <a16:creationId xmlns:a16="http://schemas.microsoft.com/office/drawing/2014/main" id="{132A34FB-AC6B-6F2D-C0F0-1CC08F247B5D}"/>
              </a:ext>
            </a:extLst>
          </p:cNvPr>
          <p:cNvPicPr>
            <a:picLocks noChangeAspect="1"/>
          </p:cNvPicPr>
          <p:nvPr/>
        </p:nvPicPr>
        <p:blipFill>
          <a:blip r:embed="rId2"/>
          <a:stretch>
            <a:fillRect/>
          </a:stretch>
        </p:blipFill>
        <p:spPr>
          <a:xfrm>
            <a:off x="2580799" y="615880"/>
            <a:ext cx="6516117" cy="3217333"/>
          </a:xfrm>
          <a:prstGeom prst="rect">
            <a:avLst/>
          </a:prstGeom>
        </p:spPr>
      </p:pic>
      <p:sp>
        <p:nvSpPr>
          <p:cNvPr id="72" name="Freeform 33">
            <a:extLst>
              <a:ext uri="{FF2B5EF4-FFF2-40B4-BE49-F238E27FC236}">
                <a16:creationId xmlns:a16="http://schemas.microsoft.com/office/drawing/2014/main" id="{070928B1-3E69-44AC-A1EE-B4E4270A7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6917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
        <p:nvSpPr>
          <p:cNvPr id="3" name="İçerik Yer Tutucusu 2">
            <a:extLst>
              <a:ext uri="{FF2B5EF4-FFF2-40B4-BE49-F238E27FC236}">
                <a16:creationId xmlns:a16="http://schemas.microsoft.com/office/drawing/2014/main" id="{E547220C-404B-0E09-2F2E-4AEF5D5080FC}"/>
              </a:ext>
            </a:extLst>
          </p:cNvPr>
          <p:cNvSpPr>
            <a:spLocks noGrp="1"/>
          </p:cNvSpPr>
          <p:nvPr>
            <p:ph sz="half" idx="1"/>
          </p:nvPr>
        </p:nvSpPr>
        <p:spPr>
          <a:xfrm>
            <a:off x="2589212" y="4845585"/>
            <a:ext cx="8915400" cy="1280890"/>
          </a:xfrm>
        </p:spPr>
        <p:txBody>
          <a:bodyPr vert="horz" lIns="91440" tIns="45720" rIns="91440" bIns="45720" rtlCol="0">
            <a:normAutofit/>
          </a:bodyPr>
          <a:lstStyle/>
          <a:p>
            <a:pPr>
              <a:lnSpc>
                <a:spcPct val="90000"/>
              </a:lnSpc>
            </a:pPr>
            <a:r>
              <a:rPr lang="en-US" sz="1300"/>
              <a:t>Ultrason insan kulağının işitmeyeceği kadar çok yüksek frekanslı ses dalgasıdır. </a:t>
            </a:r>
          </a:p>
          <a:p>
            <a:pPr>
              <a:lnSpc>
                <a:spcPct val="90000"/>
              </a:lnSpc>
            </a:pPr>
            <a:r>
              <a:rPr lang="en-US" sz="1300"/>
              <a:t>Ultrasonografi, vücuda çok yüksek frekanslı ses dalgaları göndererek farklı doku yüzeylerinden gelen ekoları (yankıları) saptama esasına dayanan bir görüntüleme yöntemidir. </a:t>
            </a:r>
          </a:p>
          <a:p>
            <a:pPr>
              <a:lnSpc>
                <a:spcPct val="90000"/>
              </a:lnSpc>
            </a:pPr>
            <a:r>
              <a:rPr lang="en-US" sz="1300"/>
              <a:t>Kullanımının kolay olması ve iyonizan radyasyon riskini taşımaması nedeniyle sıklıkla başvurulan bir yöntemdir.</a:t>
            </a:r>
          </a:p>
          <a:p>
            <a:pPr>
              <a:lnSpc>
                <a:spcPct val="90000"/>
              </a:lnSpc>
            </a:pPr>
            <a:endParaRPr lang="en-US" sz="1300"/>
          </a:p>
        </p:txBody>
      </p:sp>
    </p:spTree>
    <p:extLst>
      <p:ext uri="{BB962C8B-B14F-4D97-AF65-F5344CB8AC3E}">
        <p14:creationId xmlns:p14="http://schemas.microsoft.com/office/powerpoint/2010/main" val="917946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2"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3"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4"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5"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6"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7"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8"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9"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0"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1"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2"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4" name="Group 23">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6"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7"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8"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9"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0"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1"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2"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3"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4"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5"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6"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38" name="Rectangle 37">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0"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2" name="Rectangle 41">
            <a:extLst>
              <a:ext uri="{FF2B5EF4-FFF2-40B4-BE49-F238E27FC236}">
                <a16:creationId xmlns:a16="http://schemas.microsoft.com/office/drawing/2014/main" id="{55BDDF5B-1133-45D7-A901-9F28E0872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F4D1E1-4981-A83C-AAA5-CFF5E65E9908}"/>
              </a:ext>
            </a:extLst>
          </p:cNvPr>
          <p:cNvSpPr>
            <a:spLocks noGrp="1"/>
          </p:cNvSpPr>
          <p:nvPr>
            <p:ph type="title"/>
          </p:nvPr>
        </p:nvSpPr>
        <p:spPr>
          <a:xfrm>
            <a:off x="649224" y="645106"/>
            <a:ext cx="5122652" cy="1259894"/>
          </a:xfrm>
        </p:spPr>
        <p:txBody>
          <a:bodyPr vert="horz" lIns="91440" tIns="45720" rIns="91440" bIns="45720" rtlCol="0" anchor="t">
            <a:normAutofit/>
          </a:bodyPr>
          <a:lstStyle/>
          <a:p>
            <a:r>
              <a:rPr lang="en-US" b="1"/>
              <a:t>Ultrasonografi</a:t>
            </a:r>
          </a:p>
        </p:txBody>
      </p:sp>
      <p:sp>
        <p:nvSpPr>
          <p:cNvPr id="44" name="Rectangle 43">
            <a:extLst>
              <a:ext uri="{FF2B5EF4-FFF2-40B4-BE49-F238E27FC236}">
                <a16:creationId xmlns:a16="http://schemas.microsoft.com/office/drawing/2014/main" id="{F22C7101-14DA-4743-898E-3563B0FC9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E547220C-404B-0E09-2F2E-4AEF5D5080FC}"/>
              </a:ext>
            </a:extLst>
          </p:cNvPr>
          <p:cNvSpPr>
            <a:spLocks noGrp="1"/>
          </p:cNvSpPr>
          <p:nvPr>
            <p:ph sz="half" idx="1"/>
          </p:nvPr>
        </p:nvSpPr>
        <p:spPr>
          <a:xfrm>
            <a:off x="649225" y="2133600"/>
            <a:ext cx="5122652" cy="3759253"/>
          </a:xfrm>
        </p:spPr>
        <p:txBody>
          <a:bodyPr vert="horz" lIns="91440" tIns="45720" rIns="91440" bIns="45720" rtlCol="0">
            <a:normAutofit/>
          </a:bodyPr>
          <a:lstStyle/>
          <a:p>
            <a:r>
              <a:rPr lang="en-US"/>
              <a:t>USG cihazlarında kullanılan ses dalgalarının frekansı 2-10 MHz arasındadır. </a:t>
            </a:r>
          </a:p>
          <a:p>
            <a:r>
              <a:rPr lang="en-US"/>
              <a:t>Bu kadar yüksek frekanslı ses elde etmek için “Piezoelektrik olay” dan yararlanılmaktadır.</a:t>
            </a:r>
          </a:p>
          <a:p>
            <a:r>
              <a:rPr lang="en-US"/>
              <a:t>Piezo elektrik olay quartz gibi kristallerin mekanik ve elektrik enerjilerinin birbirine çevrilmesi olayına dayanır. </a:t>
            </a:r>
          </a:p>
          <a:p>
            <a:pPr marL="0" indent="0"/>
            <a:endParaRPr lang="en-US"/>
          </a:p>
        </p:txBody>
      </p:sp>
      <p:sp>
        <p:nvSpPr>
          <p:cNvPr id="46" name="Rectangle 45">
            <a:extLst>
              <a:ext uri="{FF2B5EF4-FFF2-40B4-BE49-F238E27FC236}">
                <a16:creationId xmlns:a16="http://schemas.microsoft.com/office/drawing/2014/main" id="{EDD0748D-5151-4F2A-8DD0-FC4BB9444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6040" y="645106"/>
            <a:ext cx="5451627" cy="5247747"/>
          </a:xfrm>
          <a:prstGeom prst="rect">
            <a:avLst/>
          </a:prstGeom>
          <a:solidFill>
            <a:srgbClr val="FFFFFE"/>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3">
            <a:extLst>
              <a:ext uri="{FF2B5EF4-FFF2-40B4-BE49-F238E27FC236}">
                <a16:creationId xmlns:a16="http://schemas.microsoft.com/office/drawing/2014/main" id="{FF1FB741-4B49-4BBB-9088-0A57D8810541}"/>
              </a:ext>
            </a:extLst>
          </p:cNvPr>
          <p:cNvPicPr>
            <a:picLocks noChangeAspect="1"/>
          </p:cNvPicPr>
          <p:nvPr/>
        </p:nvPicPr>
        <p:blipFill>
          <a:blip r:embed="rId2"/>
          <a:stretch>
            <a:fillRect/>
          </a:stretch>
        </p:blipFill>
        <p:spPr>
          <a:xfrm>
            <a:off x="6545434" y="809698"/>
            <a:ext cx="4525426" cy="2534239"/>
          </a:xfrm>
          <a:prstGeom prst="rect">
            <a:avLst/>
          </a:prstGeom>
        </p:spPr>
      </p:pic>
      <p:pic>
        <p:nvPicPr>
          <p:cNvPr id="5" name="Resim 4">
            <a:extLst>
              <a:ext uri="{FF2B5EF4-FFF2-40B4-BE49-F238E27FC236}">
                <a16:creationId xmlns:a16="http://schemas.microsoft.com/office/drawing/2014/main" id="{CB206772-6A1A-A576-D5CF-3C8C4CC3EB98}"/>
              </a:ext>
            </a:extLst>
          </p:cNvPr>
          <p:cNvPicPr>
            <a:picLocks noChangeAspect="1"/>
          </p:cNvPicPr>
          <p:nvPr/>
        </p:nvPicPr>
        <p:blipFill>
          <a:blip r:embed="rId3"/>
          <a:stretch>
            <a:fillRect/>
          </a:stretch>
        </p:blipFill>
        <p:spPr>
          <a:xfrm>
            <a:off x="6442887" y="3508529"/>
            <a:ext cx="4737932" cy="2214984"/>
          </a:xfrm>
          <a:prstGeom prst="rect">
            <a:avLst/>
          </a:prstGeom>
        </p:spPr>
      </p:pic>
      <p:sp>
        <p:nvSpPr>
          <p:cNvPr id="48" name="Freeform 12">
            <a:extLst>
              <a:ext uri="{FF2B5EF4-FFF2-40B4-BE49-F238E27FC236}">
                <a16:creationId xmlns:a16="http://schemas.microsoft.com/office/drawing/2014/main" id="{EE1A7EAA-DE31-45FD-8A51-7ADE79018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3521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2"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3"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4"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5"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6"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7"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8"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9"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0"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1"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2"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4" name="Group 23">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6"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7"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8"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9"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0"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1"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2"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3"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4"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5"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6"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38" name="Rectangle 37">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0"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2" name="Rectangle 4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8D5C5DA-E337-3789-B03D-7F262F44DC7F}"/>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a:t>Doppler Ultrason</a:t>
            </a:r>
          </a:p>
        </p:txBody>
      </p:sp>
      <p:sp>
        <p:nvSpPr>
          <p:cNvPr id="44" name="Rectangle 4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6342689C-7BDC-FA23-6E83-8BF602B344E7}"/>
              </a:ext>
            </a:extLst>
          </p:cNvPr>
          <p:cNvSpPr>
            <a:spLocks noGrp="1"/>
          </p:cNvSpPr>
          <p:nvPr>
            <p:ph sz="half" idx="1"/>
          </p:nvPr>
        </p:nvSpPr>
        <p:spPr>
          <a:xfrm>
            <a:off x="649225" y="2133600"/>
            <a:ext cx="3650278" cy="3759253"/>
          </a:xfrm>
        </p:spPr>
        <p:txBody>
          <a:bodyPr vert="horz" lIns="91440" tIns="45720" rIns="91440" bIns="45720" rtlCol="0">
            <a:normAutofit/>
          </a:bodyPr>
          <a:lstStyle/>
          <a:p>
            <a:pPr>
              <a:lnSpc>
                <a:spcPct val="90000"/>
              </a:lnSpc>
            </a:pPr>
            <a:r>
              <a:rPr lang="en-US" sz="1500"/>
              <a:t>Doppler ultrasonografi, yüksek frenkanslı ses dalgaları kullanılarak yapılan,  ulaşılması kolay, invaziv olmayan ultrasonografik bir görüntüleme yöntemidir. Doppler etkisi prensibine dayanır. </a:t>
            </a:r>
          </a:p>
          <a:p>
            <a:pPr marL="0" indent="0">
              <a:lnSpc>
                <a:spcPct val="90000"/>
              </a:lnSpc>
            </a:pPr>
            <a:r>
              <a:rPr lang="en-US" sz="1500"/>
              <a:t>(Doppler etkisi: kısaca dalga özelliği gösteren herhangi bir fiziksel varlığın frekans ve dalga boyunun hareketli (yakınlaşan veya uzaklaşan) bir gözlemci tarafından farklı zaman veya konumlarda farklı algılanması olayıdır.)</a:t>
            </a:r>
          </a:p>
        </p:txBody>
      </p:sp>
      <p:pic>
        <p:nvPicPr>
          <p:cNvPr id="5" name="Resim 4">
            <a:extLst>
              <a:ext uri="{FF2B5EF4-FFF2-40B4-BE49-F238E27FC236}">
                <a16:creationId xmlns:a16="http://schemas.microsoft.com/office/drawing/2014/main" id="{FBA4147D-07F4-B3B5-3431-6CA3229F5CF4}"/>
              </a:ext>
            </a:extLst>
          </p:cNvPr>
          <p:cNvPicPr>
            <a:picLocks noChangeAspect="1"/>
          </p:cNvPicPr>
          <p:nvPr/>
        </p:nvPicPr>
        <p:blipFill>
          <a:blip r:embed="rId2"/>
          <a:stretch>
            <a:fillRect/>
          </a:stretch>
        </p:blipFill>
        <p:spPr>
          <a:xfrm>
            <a:off x="4619543" y="1310773"/>
            <a:ext cx="6953577" cy="3911386"/>
          </a:xfrm>
          <a:prstGeom prst="rect">
            <a:avLst/>
          </a:prstGeom>
        </p:spPr>
      </p:pic>
      <p:sp>
        <p:nvSpPr>
          <p:cNvPr id="4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420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9"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1" name="Rectangle 40">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6E39FF2-5575-F0EE-576E-AC56D5C6D6F2}"/>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a:t>Doppler Ultrason</a:t>
            </a:r>
          </a:p>
        </p:txBody>
      </p:sp>
      <p:sp>
        <p:nvSpPr>
          <p:cNvPr id="43" name="Rectangle 42">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A363683D-DEC4-3E94-C73D-8E87F1EF9BA9}"/>
              </a:ext>
            </a:extLst>
          </p:cNvPr>
          <p:cNvSpPr>
            <a:spLocks noGrp="1"/>
          </p:cNvSpPr>
          <p:nvPr>
            <p:ph sz="half" idx="1"/>
          </p:nvPr>
        </p:nvSpPr>
        <p:spPr>
          <a:xfrm>
            <a:off x="649225" y="2133600"/>
            <a:ext cx="3650278" cy="3759253"/>
          </a:xfrm>
        </p:spPr>
        <p:txBody>
          <a:bodyPr vert="horz" lIns="91440" tIns="45720" rIns="91440" bIns="45720" rtlCol="0">
            <a:normAutofit/>
          </a:bodyPr>
          <a:lstStyle/>
          <a:p>
            <a:pPr>
              <a:lnSpc>
                <a:spcPct val="90000"/>
              </a:lnSpc>
            </a:pPr>
            <a:r>
              <a:rPr lang="en-US" sz="1300"/>
              <a:t>Ultrason dalgaları ile Doppler etkisinden faydalanılarak kan akış hızı ölçülebilir. Bu etki aynen günlük hayatta ambulans sireninin yaklaşırken frekansının artması ve uzaklaşırken azalması etkisi gibidir. Kandan geri gelen ultrason dalgaları ~ 5-7 μm olan alyuvarlardan saçılır. Kan akışı ya dönüştürücüye doğrudur veya dönüştürücüden uzaklaşmaktadır. Dolayısıyla oluşturduğu Doppler frekansı da buna göre değişmektedir. Örneğin dönüştürücüye doğru gelen akış için frekans daha yüksek olarak tespit edilmektedir. Doppler vücut içindeki akışkan (genel itibariyle kan) dinamiklerini incelemek için kullanılan görüntüleme tekniğidir.</a:t>
            </a:r>
          </a:p>
        </p:txBody>
      </p:sp>
      <p:pic>
        <p:nvPicPr>
          <p:cNvPr id="4" name="Resim 3">
            <a:extLst>
              <a:ext uri="{FF2B5EF4-FFF2-40B4-BE49-F238E27FC236}">
                <a16:creationId xmlns:a16="http://schemas.microsoft.com/office/drawing/2014/main" id="{C80B0210-3334-0E26-0487-D0D12DE04695}"/>
              </a:ext>
            </a:extLst>
          </p:cNvPr>
          <p:cNvPicPr>
            <a:picLocks noChangeAspect="1"/>
          </p:cNvPicPr>
          <p:nvPr/>
        </p:nvPicPr>
        <p:blipFill>
          <a:blip r:embed="rId2"/>
          <a:stretch>
            <a:fillRect/>
          </a:stretch>
        </p:blipFill>
        <p:spPr>
          <a:xfrm>
            <a:off x="4619543" y="719719"/>
            <a:ext cx="6953577" cy="5093495"/>
          </a:xfrm>
          <a:prstGeom prst="rect">
            <a:avLst/>
          </a:prstGeom>
        </p:spPr>
      </p:pic>
      <p:sp>
        <p:nvSpPr>
          <p:cNvPr id="45"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722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4"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5"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6"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7"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8"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9"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20"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1"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2"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3"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4"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26" name="Group 25">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8"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9"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30"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1"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2"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3"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4"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5"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6"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7"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8"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40" name="Rectangle 39">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2"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4" name="Rectangle 43">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EDD8F32-9CA4-FD7A-E480-6B3D54823A53}"/>
              </a:ext>
            </a:extLst>
          </p:cNvPr>
          <p:cNvSpPr>
            <a:spLocks noGrp="1"/>
          </p:cNvSpPr>
          <p:nvPr>
            <p:ph type="title"/>
          </p:nvPr>
        </p:nvSpPr>
        <p:spPr>
          <a:xfrm>
            <a:off x="649224" y="645106"/>
            <a:ext cx="3650279" cy="1259894"/>
          </a:xfrm>
        </p:spPr>
        <p:txBody>
          <a:bodyPr vert="horz" lIns="91440" tIns="45720" rIns="91440" bIns="45720" rtlCol="0" anchor="t">
            <a:normAutofit/>
          </a:bodyPr>
          <a:lstStyle/>
          <a:p>
            <a:r>
              <a:rPr lang="en-US" sz="3300" b="1"/>
              <a:t>Pozitron Emisyon Tomografi (PET)</a:t>
            </a:r>
          </a:p>
        </p:txBody>
      </p:sp>
      <p:sp>
        <p:nvSpPr>
          <p:cNvPr id="46" name="Rectangle 45">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432A22B4-F47B-3DB2-1630-313C2AA4B7B4}"/>
              </a:ext>
            </a:extLst>
          </p:cNvPr>
          <p:cNvSpPr>
            <a:spLocks noGrp="1"/>
          </p:cNvSpPr>
          <p:nvPr>
            <p:ph sz="half" idx="1"/>
          </p:nvPr>
        </p:nvSpPr>
        <p:spPr>
          <a:xfrm>
            <a:off x="649225" y="2133600"/>
            <a:ext cx="3650278" cy="3759253"/>
          </a:xfrm>
        </p:spPr>
        <p:txBody>
          <a:bodyPr vert="horz" lIns="91440" tIns="45720" rIns="91440" bIns="45720" rtlCol="0">
            <a:normAutofit/>
          </a:bodyPr>
          <a:lstStyle/>
          <a:p>
            <a:pPr>
              <a:lnSpc>
                <a:spcPct val="90000"/>
              </a:lnSpc>
            </a:pPr>
            <a:r>
              <a:rPr lang="en-US" sz="1700"/>
              <a:t>Pet organ ve dokularda ortaya çıkan fonksiyonel değişikleri gösteren bir nükleer tıp görüntüleme tekniğidir.</a:t>
            </a:r>
          </a:p>
          <a:p>
            <a:pPr>
              <a:lnSpc>
                <a:spcPct val="90000"/>
              </a:lnSpc>
            </a:pPr>
            <a:r>
              <a:rPr lang="en-US" sz="1700"/>
              <a:t>Bu teknikte damar yolu ile enjekte edilen radyoaktif ajanların biriktiği normal veya patolojik dokuları görüntülenmesi gerçekleştirilir. Radyoaktif ajan, taşıyıcı bir moleküle tutturulmuş radyoaktif izotoplardan oluşur. Kullanılacak taşıyıcı molekül, taraması yapılan hastalığa göre değişebilir.</a:t>
            </a:r>
          </a:p>
        </p:txBody>
      </p:sp>
      <p:pic>
        <p:nvPicPr>
          <p:cNvPr id="7" name="Resim 6">
            <a:extLst>
              <a:ext uri="{FF2B5EF4-FFF2-40B4-BE49-F238E27FC236}">
                <a16:creationId xmlns:a16="http://schemas.microsoft.com/office/drawing/2014/main" id="{D58A48F0-AA12-A39D-C10C-CC66E2DF539E}"/>
              </a:ext>
            </a:extLst>
          </p:cNvPr>
          <p:cNvPicPr>
            <a:picLocks noChangeAspect="1"/>
          </p:cNvPicPr>
          <p:nvPr/>
        </p:nvPicPr>
        <p:blipFill>
          <a:blip r:embed="rId2"/>
          <a:stretch>
            <a:fillRect/>
          </a:stretch>
        </p:blipFill>
        <p:spPr>
          <a:xfrm>
            <a:off x="4619543" y="1562840"/>
            <a:ext cx="6953577" cy="3407252"/>
          </a:xfrm>
          <a:prstGeom prst="rect">
            <a:avLst/>
          </a:prstGeom>
        </p:spPr>
      </p:pic>
      <p:sp>
        <p:nvSpPr>
          <p:cNvPr id="48"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432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9" name="Group 12">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5"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6"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7"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8"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9"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20"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21"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2"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3"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4"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5"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50" name="Group 26">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9"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30"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31"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2"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3"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4"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5"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6"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7"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8"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9"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51" name="Rectangle 40">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2"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p:nvSpPr>
          <p:cNvPr id="2" name="Başlık 1">
            <a:extLst>
              <a:ext uri="{FF2B5EF4-FFF2-40B4-BE49-F238E27FC236}">
                <a16:creationId xmlns:a16="http://schemas.microsoft.com/office/drawing/2014/main" id="{BEDD8F32-9CA4-FD7A-E480-6B3D54823A53}"/>
              </a:ext>
            </a:extLst>
          </p:cNvPr>
          <p:cNvSpPr>
            <a:spLocks noGrp="1"/>
          </p:cNvSpPr>
          <p:nvPr>
            <p:ph type="title"/>
          </p:nvPr>
        </p:nvSpPr>
        <p:spPr>
          <a:xfrm>
            <a:off x="1687669" y="624110"/>
            <a:ext cx="4137059" cy="1280890"/>
          </a:xfrm>
        </p:spPr>
        <p:txBody>
          <a:bodyPr vert="horz" lIns="91440" tIns="45720" rIns="91440" bIns="45720" rtlCol="0" anchor="t">
            <a:normAutofit/>
          </a:bodyPr>
          <a:lstStyle/>
          <a:p>
            <a:r>
              <a:rPr lang="en-US" sz="3200" b="1"/>
              <a:t>Pozitron Emisyon Tomografi (PET)</a:t>
            </a:r>
          </a:p>
        </p:txBody>
      </p:sp>
      <p:sp>
        <p:nvSpPr>
          <p:cNvPr id="3" name="İçerik Yer Tutucusu 2">
            <a:extLst>
              <a:ext uri="{FF2B5EF4-FFF2-40B4-BE49-F238E27FC236}">
                <a16:creationId xmlns:a16="http://schemas.microsoft.com/office/drawing/2014/main" id="{432A22B4-F47B-3DB2-1630-313C2AA4B7B4}"/>
              </a:ext>
            </a:extLst>
          </p:cNvPr>
          <p:cNvSpPr>
            <a:spLocks noGrp="1"/>
          </p:cNvSpPr>
          <p:nvPr>
            <p:ph sz="half" idx="1"/>
          </p:nvPr>
        </p:nvSpPr>
        <p:spPr>
          <a:xfrm>
            <a:off x="1683956" y="2133600"/>
            <a:ext cx="4140772" cy="3777622"/>
          </a:xfrm>
        </p:spPr>
        <p:txBody>
          <a:bodyPr vert="horz" lIns="91440" tIns="45720" rIns="91440" bIns="45720" rtlCol="0">
            <a:normAutofit/>
          </a:bodyPr>
          <a:lstStyle/>
          <a:p>
            <a:r>
              <a:rPr lang="en-US" sz="1600">
                <a:solidFill>
                  <a:schemeClr val="tx1"/>
                </a:solidFill>
              </a:rPr>
              <a:t>Amaca uygun şekilde seçilen radyofarmasötik madde intravenöz yol ile hastaya enjekte edilir. Örneğin taşıyıcı olarak  FDG kullanılmışsa (bir tür şeker) bu kanserli dokularda daha fazla birikecek ve radyoizotop maddenin parçalanması ile ortaya çıkan pozitronlar cihazın dedektörleri tarafından algılanarak kanserli bölgelerin daha parlak görüleceği görüntüler oluşacaktır.</a:t>
            </a:r>
          </a:p>
        </p:txBody>
      </p:sp>
      <p:pic>
        <p:nvPicPr>
          <p:cNvPr id="5" name="Resim 4">
            <a:extLst>
              <a:ext uri="{FF2B5EF4-FFF2-40B4-BE49-F238E27FC236}">
                <a16:creationId xmlns:a16="http://schemas.microsoft.com/office/drawing/2014/main" id="{0FB816D7-B720-3095-B03F-C1DF0B1F3400}"/>
              </a:ext>
            </a:extLst>
          </p:cNvPr>
          <p:cNvPicPr>
            <a:picLocks noChangeAspect="1"/>
          </p:cNvPicPr>
          <p:nvPr/>
        </p:nvPicPr>
        <p:blipFill>
          <a:blip r:embed="rId2"/>
          <a:stretch>
            <a:fillRect/>
          </a:stretch>
        </p:blipFill>
        <p:spPr>
          <a:xfrm>
            <a:off x="6318812" y="645106"/>
            <a:ext cx="4997835" cy="2698831"/>
          </a:xfrm>
          <a:prstGeom prst="rect">
            <a:avLst/>
          </a:prstGeom>
        </p:spPr>
      </p:pic>
      <p:pic>
        <p:nvPicPr>
          <p:cNvPr id="8" name="Resim 7">
            <a:extLst>
              <a:ext uri="{FF2B5EF4-FFF2-40B4-BE49-F238E27FC236}">
                <a16:creationId xmlns:a16="http://schemas.microsoft.com/office/drawing/2014/main" id="{D6E59EE5-B558-1AB3-D446-CFF7AAF72A3F}"/>
              </a:ext>
            </a:extLst>
          </p:cNvPr>
          <p:cNvPicPr>
            <a:picLocks noChangeAspect="1"/>
          </p:cNvPicPr>
          <p:nvPr/>
        </p:nvPicPr>
        <p:blipFill>
          <a:blip r:embed="rId3"/>
          <a:stretch>
            <a:fillRect/>
          </a:stretch>
        </p:blipFill>
        <p:spPr>
          <a:xfrm>
            <a:off x="6162605" y="3508529"/>
            <a:ext cx="5298497" cy="2384324"/>
          </a:xfrm>
          <a:prstGeom prst="rect">
            <a:avLst/>
          </a:prstGeom>
        </p:spPr>
      </p:pic>
    </p:spTree>
    <p:extLst>
      <p:ext uri="{BB962C8B-B14F-4D97-AF65-F5344CB8AC3E}">
        <p14:creationId xmlns:p14="http://schemas.microsoft.com/office/powerpoint/2010/main" val="2394233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3" name="Group 9">
            <a:extLst>
              <a:ext uri="{FF2B5EF4-FFF2-40B4-BE49-F238E27FC236}">
                <a16:creationId xmlns:a16="http://schemas.microsoft.com/office/drawing/2014/main" id="{8D44E099-FC66-4167-A593-8F6FBB5EE0E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47171E04-FEC4-4208-A619-A786E4234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2" name="Freeform 12">
              <a:extLst>
                <a:ext uri="{FF2B5EF4-FFF2-40B4-BE49-F238E27FC236}">
                  <a16:creationId xmlns:a16="http://schemas.microsoft.com/office/drawing/2014/main" id="{F3DE8019-884E-41C9-A54C-AC668CA526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3" name="Freeform 13">
              <a:extLst>
                <a:ext uri="{FF2B5EF4-FFF2-40B4-BE49-F238E27FC236}">
                  <a16:creationId xmlns:a16="http://schemas.microsoft.com/office/drawing/2014/main" id="{462C1647-5880-4037-8FCE-16E1F646C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4" name="Freeform 14">
              <a:extLst>
                <a:ext uri="{FF2B5EF4-FFF2-40B4-BE49-F238E27FC236}">
                  <a16:creationId xmlns:a16="http://schemas.microsoft.com/office/drawing/2014/main" id="{C91082BE-FDAA-4A80-88B6-C5F5AD0C2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5" name="Freeform 15">
              <a:extLst>
                <a:ext uri="{FF2B5EF4-FFF2-40B4-BE49-F238E27FC236}">
                  <a16:creationId xmlns:a16="http://schemas.microsoft.com/office/drawing/2014/main" id="{059FE918-3CB9-43E6-8025-22A9C21C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6" name="Freeform 16">
              <a:extLst>
                <a:ext uri="{FF2B5EF4-FFF2-40B4-BE49-F238E27FC236}">
                  <a16:creationId xmlns:a16="http://schemas.microsoft.com/office/drawing/2014/main" id="{E30464D7-34FF-42C8-8686-C3A865E90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7" name="Freeform 17">
              <a:extLst>
                <a:ext uri="{FF2B5EF4-FFF2-40B4-BE49-F238E27FC236}">
                  <a16:creationId xmlns:a16="http://schemas.microsoft.com/office/drawing/2014/main" id="{07281894-7888-434B-BC17-FB67B4879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8" name="Freeform 18">
              <a:extLst>
                <a:ext uri="{FF2B5EF4-FFF2-40B4-BE49-F238E27FC236}">
                  <a16:creationId xmlns:a16="http://schemas.microsoft.com/office/drawing/2014/main" id="{7CDF6636-2EE5-4477-B1E7-136C9B4F3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19" name="Freeform 19">
              <a:extLst>
                <a:ext uri="{FF2B5EF4-FFF2-40B4-BE49-F238E27FC236}">
                  <a16:creationId xmlns:a16="http://schemas.microsoft.com/office/drawing/2014/main" id="{6A01C238-0F7D-4DF5-A879-329020008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0" name="Freeform 20">
              <a:extLst>
                <a:ext uri="{FF2B5EF4-FFF2-40B4-BE49-F238E27FC236}">
                  <a16:creationId xmlns:a16="http://schemas.microsoft.com/office/drawing/2014/main" id="{AA10B8D3-BE6D-40AB-BA54-12C4758E5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1" name="Freeform 21">
              <a:extLst>
                <a:ext uri="{FF2B5EF4-FFF2-40B4-BE49-F238E27FC236}">
                  <a16:creationId xmlns:a16="http://schemas.microsoft.com/office/drawing/2014/main" id="{4CD8C1DF-88C2-4F11-AA23-36D5B5BD3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2" name="Freeform 22">
              <a:extLst>
                <a:ext uri="{FF2B5EF4-FFF2-40B4-BE49-F238E27FC236}">
                  <a16:creationId xmlns:a16="http://schemas.microsoft.com/office/drawing/2014/main" id="{9AF01696-99FF-4093-938A-38D0C7223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45" name="Group 23">
            <a:extLst>
              <a:ext uri="{FF2B5EF4-FFF2-40B4-BE49-F238E27FC236}">
                <a16:creationId xmlns:a16="http://schemas.microsoft.com/office/drawing/2014/main" id="{629FAB3C-6A93-4306-8525-B9FC787B15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8838005D-B3A9-4E56-9BFB-3DD99E4BBB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6" name="Freeform 28">
              <a:extLst>
                <a:ext uri="{FF2B5EF4-FFF2-40B4-BE49-F238E27FC236}">
                  <a16:creationId xmlns:a16="http://schemas.microsoft.com/office/drawing/2014/main" id="{6450237E-A2DE-4BA3-AF9F-06399E5CF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7" name="Freeform 29">
              <a:extLst>
                <a:ext uri="{FF2B5EF4-FFF2-40B4-BE49-F238E27FC236}">
                  <a16:creationId xmlns:a16="http://schemas.microsoft.com/office/drawing/2014/main" id="{A643E849-3FBA-4248-B0DF-9D6737E23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8" name="Freeform 30">
              <a:extLst>
                <a:ext uri="{FF2B5EF4-FFF2-40B4-BE49-F238E27FC236}">
                  <a16:creationId xmlns:a16="http://schemas.microsoft.com/office/drawing/2014/main" id="{231C0782-59AA-4C4F-8B86-85102F701A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29" name="Freeform 31">
              <a:extLst>
                <a:ext uri="{FF2B5EF4-FFF2-40B4-BE49-F238E27FC236}">
                  <a16:creationId xmlns:a16="http://schemas.microsoft.com/office/drawing/2014/main" id="{E19975F5-4F93-41BF-9A6D-1E6CFDFF1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0" name="Freeform 32">
              <a:extLst>
                <a:ext uri="{FF2B5EF4-FFF2-40B4-BE49-F238E27FC236}">
                  <a16:creationId xmlns:a16="http://schemas.microsoft.com/office/drawing/2014/main" id="{AE6458FC-D3D9-469F-A8FB-0431BD156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1" name="Freeform 33">
              <a:extLst>
                <a:ext uri="{FF2B5EF4-FFF2-40B4-BE49-F238E27FC236}">
                  <a16:creationId xmlns:a16="http://schemas.microsoft.com/office/drawing/2014/main" id="{90B9693F-2248-4DB8-A528-52C13C636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2" name="Freeform 34">
              <a:extLst>
                <a:ext uri="{FF2B5EF4-FFF2-40B4-BE49-F238E27FC236}">
                  <a16:creationId xmlns:a16="http://schemas.microsoft.com/office/drawing/2014/main" id="{11CC5E15-09A8-41A0-930D-434F7D8D6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3" name="Freeform 35">
              <a:extLst>
                <a:ext uri="{FF2B5EF4-FFF2-40B4-BE49-F238E27FC236}">
                  <a16:creationId xmlns:a16="http://schemas.microsoft.com/office/drawing/2014/main" id="{B5566C56-67EC-43D7-A3D2-3CCBEDAFC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4" name="Freeform 36">
              <a:extLst>
                <a:ext uri="{FF2B5EF4-FFF2-40B4-BE49-F238E27FC236}">
                  <a16:creationId xmlns:a16="http://schemas.microsoft.com/office/drawing/2014/main" id="{CF74AC36-5E17-4D3B-A93B-1645741EB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5" name="Freeform 37">
              <a:extLst>
                <a:ext uri="{FF2B5EF4-FFF2-40B4-BE49-F238E27FC236}">
                  <a16:creationId xmlns:a16="http://schemas.microsoft.com/office/drawing/2014/main" id="{39818481-D2FB-4507-B11D-8C6342ACF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6" name="Freeform 38">
              <a:extLst>
                <a:ext uri="{FF2B5EF4-FFF2-40B4-BE49-F238E27FC236}">
                  <a16:creationId xmlns:a16="http://schemas.microsoft.com/office/drawing/2014/main" id="{E996F5F0-3979-44D1-9AE3-1251DA5D2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47" name="Rectangle 37">
            <a:extLst>
              <a:ext uri="{FF2B5EF4-FFF2-40B4-BE49-F238E27FC236}">
                <a16:creationId xmlns:a16="http://schemas.microsoft.com/office/drawing/2014/main" id="{05C469C2-FE8F-491E-9139-7E7F8BB38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48" name="Freeform 11">
            <a:extLst>
              <a:ext uri="{FF2B5EF4-FFF2-40B4-BE49-F238E27FC236}">
                <a16:creationId xmlns:a16="http://schemas.microsoft.com/office/drawing/2014/main" id="{0D31E63E-1DE1-4400-9D1A-FA0378B29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useBgFill="1">
        <p:nvSpPr>
          <p:cNvPr id="42" name="Rectangle 41">
            <a:extLst>
              <a:ext uri="{FF2B5EF4-FFF2-40B4-BE49-F238E27FC236}">
                <a16:creationId xmlns:a16="http://schemas.microsoft.com/office/drawing/2014/main" id="{0C8B6C4B-A867-4D7E-9851-29BB2D60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2033FEE-3C8B-E3E5-1AFA-4F37C20F8AE8}"/>
              </a:ext>
            </a:extLst>
          </p:cNvPr>
          <p:cNvSpPr>
            <a:spLocks noGrp="1"/>
          </p:cNvSpPr>
          <p:nvPr>
            <p:ph type="title"/>
          </p:nvPr>
        </p:nvSpPr>
        <p:spPr>
          <a:xfrm>
            <a:off x="649224" y="645106"/>
            <a:ext cx="3650279" cy="1259894"/>
          </a:xfrm>
        </p:spPr>
        <p:txBody>
          <a:bodyPr vert="horz" lIns="91440" tIns="45720" rIns="91440" bIns="45720" rtlCol="0" anchor="t">
            <a:normAutofit/>
          </a:bodyPr>
          <a:lstStyle/>
          <a:p>
            <a:pPr>
              <a:lnSpc>
                <a:spcPct val="90000"/>
              </a:lnSpc>
            </a:pPr>
            <a:r>
              <a:rPr lang="en-US" sz="2800"/>
              <a:t>Manyetik Rezonans Görüntüleme (MRG)</a:t>
            </a:r>
          </a:p>
        </p:txBody>
      </p:sp>
      <p:sp>
        <p:nvSpPr>
          <p:cNvPr id="44" name="Rectangle 43">
            <a:extLst>
              <a:ext uri="{FF2B5EF4-FFF2-40B4-BE49-F238E27FC236}">
                <a16:creationId xmlns:a16="http://schemas.microsoft.com/office/drawing/2014/main" id="{470BD5D9-CDC5-465C-9E25-2EB0249FE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8E2CB3D9-C530-B711-5250-FE36DA6D33C0}"/>
              </a:ext>
            </a:extLst>
          </p:cNvPr>
          <p:cNvSpPr>
            <a:spLocks noGrp="1"/>
          </p:cNvSpPr>
          <p:nvPr>
            <p:ph sz="half" idx="1"/>
          </p:nvPr>
        </p:nvSpPr>
        <p:spPr>
          <a:xfrm>
            <a:off x="649225" y="2133600"/>
            <a:ext cx="3650278" cy="3774537"/>
          </a:xfrm>
        </p:spPr>
        <p:txBody>
          <a:bodyPr vert="horz" lIns="91440" tIns="45720" rIns="91440" bIns="45720" rtlCol="0">
            <a:normAutofit/>
          </a:bodyPr>
          <a:lstStyle/>
          <a:p>
            <a:pPr>
              <a:lnSpc>
                <a:spcPct val="90000"/>
              </a:lnSpc>
            </a:pPr>
            <a:r>
              <a:rPr lang="en-US" sz="1500"/>
              <a:t>Manyetik rezonans görüntüleme su ve yağın, dolayısı ile de vücudumuzun büyük bir bölümünün yapısında mevcut bulunan (%63) hidrojen atomlarının, güçlü bir manyetik alan içerisinde kendilerini rezonansa uğratacak bir radyofrekans (RF) dalgası ile uyarılıp  dokudan gelen sinyallerin toplanarak bilgisayar sistemleri tarafından görüntü oluşturulmasına dayanan bir görüntüleme tekniğidir.</a:t>
            </a:r>
          </a:p>
        </p:txBody>
      </p:sp>
      <p:pic>
        <p:nvPicPr>
          <p:cNvPr id="5" name="Resim 4">
            <a:extLst>
              <a:ext uri="{FF2B5EF4-FFF2-40B4-BE49-F238E27FC236}">
                <a16:creationId xmlns:a16="http://schemas.microsoft.com/office/drawing/2014/main" id="{8DA2A3CF-5E45-49FD-B9D5-DE758EF6CEF0}"/>
              </a:ext>
            </a:extLst>
          </p:cNvPr>
          <p:cNvPicPr>
            <a:picLocks noChangeAspect="1"/>
          </p:cNvPicPr>
          <p:nvPr/>
        </p:nvPicPr>
        <p:blipFill rotWithShape="1">
          <a:blip r:embed="rId2"/>
          <a:srcRect l="18963" r="16912" b="1"/>
          <a:stretch>
            <a:fillRect/>
          </a:stretch>
        </p:blipFill>
        <p:spPr>
          <a:xfrm>
            <a:off x="4619544" y="640080"/>
            <a:ext cx="3380136" cy="5271142"/>
          </a:xfrm>
          <a:prstGeom prst="rect">
            <a:avLst/>
          </a:prstGeom>
        </p:spPr>
      </p:pic>
      <p:pic>
        <p:nvPicPr>
          <p:cNvPr id="4" name="Resim 3" descr="iç mekan, yer, beyaz içeren bir resim&#10;&#10;Açıklama otomatik olarak oluşturuldu">
            <a:extLst>
              <a:ext uri="{FF2B5EF4-FFF2-40B4-BE49-F238E27FC236}">
                <a16:creationId xmlns:a16="http://schemas.microsoft.com/office/drawing/2014/main" id="{A3B57153-134C-B5C8-E17C-34DE32E50D36}"/>
              </a:ext>
            </a:extLst>
          </p:cNvPr>
          <p:cNvPicPr>
            <a:picLocks noChangeAspect="1"/>
          </p:cNvPicPr>
          <p:nvPr/>
        </p:nvPicPr>
        <p:blipFill rotWithShape="1">
          <a:blip r:embed="rId3"/>
          <a:srcRect l="27225" r="34127"/>
          <a:stretch>
            <a:fillRect/>
          </a:stretch>
        </p:blipFill>
        <p:spPr>
          <a:xfrm>
            <a:off x="8163406" y="640080"/>
            <a:ext cx="3395275" cy="5271142"/>
          </a:xfrm>
          <a:prstGeom prst="rect">
            <a:avLst/>
          </a:prstGeom>
        </p:spPr>
      </p:pic>
      <p:sp>
        <p:nvSpPr>
          <p:cNvPr id="46" name="Freeform 11">
            <a:extLst>
              <a:ext uri="{FF2B5EF4-FFF2-40B4-BE49-F238E27FC236}">
                <a16:creationId xmlns:a16="http://schemas.microsoft.com/office/drawing/2014/main" id="{9185F495-8EFA-407B-AAD7-A2F52AE2C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9880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9" name="Group 10">
            <a:extLst>
              <a:ext uri="{FF2B5EF4-FFF2-40B4-BE49-F238E27FC236}">
                <a16:creationId xmlns:a16="http://schemas.microsoft.com/office/drawing/2014/main" id="{EB9B5B69-A297-4D2F-8B89-529DA8A273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E39D215-BF38-4094-82D7-61DED1145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13" name="Freeform 12">
              <a:extLst>
                <a:ext uri="{FF2B5EF4-FFF2-40B4-BE49-F238E27FC236}">
                  <a16:creationId xmlns:a16="http://schemas.microsoft.com/office/drawing/2014/main" id="{7412700A-91C4-4126-8F17-3B9449DBB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14" name="Freeform 13">
              <a:extLst>
                <a:ext uri="{FF2B5EF4-FFF2-40B4-BE49-F238E27FC236}">
                  <a16:creationId xmlns:a16="http://schemas.microsoft.com/office/drawing/2014/main" id="{DF985802-25A8-4B99-89F0-2A42EC325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15" name="Freeform 14">
              <a:extLst>
                <a:ext uri="{FF2B5EF4-FFF2-40B4-BE49-F238E27FC236}">
                  <a16:creationId xmlns:a16="http://schemas.microsoft.com/office/drawing/2014/main" id="{F54C35AF-DB92-4205-A779-2A385B7143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16" name="Freeform 15">
              <a:extLst>
                <a:ext uri="{FF2B5EF4-FFF2-40B4-BE49-F238E27FC236}">
                  <a16:creationId xmlns:a16="http://schemas.microsoft.com/office/drawing/2014/main" id="{9F845211-1F53-4E0A-891E-B78A206F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17" name="Freeform 16">
              <a:extLst>
                <a:ext uri="{FF2B5EF4-FFF2-40B4-BE49-F238E27FC236}">
                  <a16:creationId xmlns:a16="http://schemas.microsoft.com/office/drawing/2014/main" id="{9149C7DD-9998-4805-BFC8-CEF5F5DF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18" name="Freeform 17">
              <a:extLst>
                <a:ext uri="{FF2B5EF4-FFF2-40B4-BE49-F238E27FC236}">
                  <a16:creationId xmlns:a16="http://schemas.microsoft.com/office/drawing/2014/main" id="{47C8036D-3ECA-43DA-BAF5-3C65CF411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19" name="Freeform 18">
              <a:extLst>
                <a:ext uri="{FF2B5EF4-FFF2-40B4-BE49-F238E27FC236}">
                  <a16:creationId xmlns:a16="http://schemas.microsoft.com/office/drawing/2014/main" id="{29C15912-CDE8-4DF3-9324-273FB4C86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20" name="Freeform 19">
              <a:extLst>
                <a:ext uri="{FF2B5EF4-FFF2-40B4-BE49-F238E27FC236}">
                  <a16:creationId xmlns:a16="http://schemas.microsoft.com/office/drawing/2014/main" id="{37C68D51-B7DA-4572-AB7E-708540B3C6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21" name="Freeform 20">
              <a:extLst>
                <a:ext uri="{FF2B5EF4-FFF2-40B4-BE49-F238E27FC236}">
                  <a16:creationId xmlns:a16="http://schemas.microsoft.com/office/drawing/2014/main" id="{1AF802CB-4E9E-4895-9363-C1199149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22" name="Freeform 21">
              <a:extLst>
                <a:ext uri="{FF2B5EF4-FFF2-40B4-BE49-F238E27FC236}">
                  <a16:creationId xmlns:a16="http://schemas.microsoft.com/office/drawing/2014/main" id="{615760E5-5F27-4735-B01C-78E05F3FB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23" name="Freeform 22">
              <a:extLst>
                <a:ext uri="{FF2B5EF4-FFF2-40B4-BE49-F238E27FC236}">
                  <a16:creationId xmlns:a16="http://schemas.microsoft.com/office/drawing/2014/main" id="{DB9C6516-B2DB-432F-BD3A-A1792BD46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50" name="Group 24">
            <a:extLst>
              <a:ext uri="{FF2B5EF4-FFF2-40B4-BE49-F238E27FC236}">
                <a16:creationId xmlns:a16="http://schemas.microsoft.com/office/drawing/2014/main" id="{BC9C8D0D-644B-4B97-B83C-CC8E64361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F8BE1EA6-80CF-446B-A4FE-3F935A51C0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27" name="Freeform 28">
              <a:extLst>
                <a:ext uri="{FF2B5EF4-FFF2-40B4-BE49-F238E27FC236}">
                  <a16:creationId xmlns:a16="http://schemas.microsoft.com/office/drawing/2014/main" id="{10E39808-F4F7-43DE-AB53-82B7B55EA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28" name="Freeform 29">
              <a:extLst>
                <a:ext uri="{FF2B5EF4-FFF2-40B4-BE49-F238E27FC236}">
                  <a16:creationId xmlns:a16="http://schemas.microsoft.com/office/drawing/2014/main" id="{6ED5109A-600A-4C23-9BB3-C4C19C2D9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29" name="Freeform 30">
              <a:extLst>
                <a:ext uri="{FF2B5EF4-FFF2-40B4-BE49-F238E27FC236}">
                  <a16:creationId xmlns:a16="http://schemas.microsoft.com/office/drawing/2014/main" id="{D76FF73F-8CA3-42B0-A680-353805CD2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30" name="Freeform 31">
              <a:extLst>
                <a:ext uri="{FF2B5EF4-FFF2-40B4-BE49-F238E27FC236}">
                  <a16:creationId xmlns:a16="http://schemas.microsoft.com/office/drawing/2014/main" id="{B26A6949-3BEB-422A-854C-D4E26E4CF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31" name="Freeform 32">
              <a:extLst>
                <a:ext uri="{FF2B5EF4-FFF2-40B4-BE49-F238E27FC236}">
                  <a16:creationId xmlns:a16="http://schemas.microsoft.com/office/drawing/2014/main" id="{FE07AD25-30AF-40CD-B901-DF1EDBD68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32" name="Freeform 33">
              <a:extLst>
                <a:ext uri="{FF2B5EF4-FFF2-40B4-BE49-F238E27FC236}">
                  <a16:creationId xmlns:a16="http://schemas.microsoft.com/office/drawing/2014/main" id="{5AA460AF-7760-4F15-881A-6F0BFDBCD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33" name="Freeform 34">
              <a:extLst>
                <a:ext uri="{FF2B5EF4-FFF2-40B4-BE49-F238E27FC236}">
                  <a16:creationId xmlns:a16="http://schemas.microsoft.com/office/drawing/2014/main" id="{EE53C70E-5D92-4C42-A34F-9F7D16006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34" name="Freeform 35">
              <a:extLst>
                <a:ext uri="{FF2B5EF4-FFF2-40B4-BE49-F238E27FC236}">
                  <a16:creationId xmlns:a16="http://schemas.microsoft.com/office/drawing/2014/main" id="{C27614EE-0086-4D34-99BD-52F03708D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35" name="Freeform 36">
              <a:extLst>
                <a:ext uri="{FF2B5EF4-FFF2-40B4-BE49-F238E27FC236}">
                  <a16:creationId xmlns:a16="http://schemas.microsoft.com/office/drawing/2014/main" id="{326919B9-3ED4-4744-A713-326B3BAF6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36" name="Freeform 37">
              <a:extLst>
                <a:ext uri="{FF2B5EF4-FFF2-40B4-BE49-F238E27FC236}">
                  <a16:creationId xmlns:a16="http://schemas.microsoft.com/office/drawing/2014/main" id="{898BDBF5-8AA3-49CD-999A-ABA1F7AE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37" name="Freeform 38">
              <a:extLst>
                <a:ext uri="{FF2B5EF4-FFF2-40B4-BE49-F238E27FC236}">
                  <a16:creationId xmlns:a16="http://schemas.microsoft.com/office/drawing/2014/main" id="{AF8ED3E0-CBE7-48C4-8F9E-FF98079CD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51" name="Rectangle 38">
            <a:extLst>
              <a:ext uri="{FF2B5EF4-FFF2-40B4-BE49-F238E27FC236}">
                <a16:creationId xmlns:a16="http://schemas.microsoft.com/office/drawing/2014/main" id="{A84F153B-2093-4171-BD2D-1631695C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52" name="Freeform 11">
            <a:extLst>
              <a:ext uri="{FF2B5EF4-FFF2-40B4-BE49-F238E27FC236}">
                <a16:creationId xmlns:a16="http://schemas.microsoft.com/office/drawing/2014/main" id="{99499096-7355-478E-8CCB-A47EA1B79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p:nvSpPr>
          <p:cNvPr id="2" name="Başlık 1">
            <a:extLst>
              <a:ext uri="{FF2B5EF4-FFF2-40B4-BE49-F238E27FC236}">
                <a16:creationId xmlns:a16="http://schemas.microsoft.com/office/drawing/2014/main" id="{F270CD2A-206E-FECF-1B23-9DE1B1FAF716}"/>
              </a:ext>
            </a:extLst>
          </p:cNvPr>
          <p:cNvSpPr>
            <a:spLocks noGrp="1"/>
          </p:cNvSpPr>
          <p:nvPr>
            <p:ph type="title"/>
          </p:nvPr>
        </p:nvSpPr>
        <p:spPr>
          <a:xfrm>
            <a:off x="1687669" y="624110"/>
            <a:ext cx="4137059" cy="1280890"/>
          </a:xfrm>
        </p:spPr>
        <p:txBody>
          <a:bodyPr vert="horz" lIns="91440" tIns="45720" rIns="91440" bIns="45720" rtlCol="0" anchor="t">
            <a:normAutofit/>
          </a:bodyPr>
          <a:lstStyle/>
          <a:p>
            <a:r>
              <a:rPr lang="en-US" sz="3200" b="1"/>
              <a:t>Manyetik Rezonans Görüntüleme (MRG)</a:t>
            </a:r>
          </a:p>
        </p:txBody>
      </p:sp>
      <p:sp>
        <p:nvSpPr>
          <p:cNvPr id="3" name="İçerik Yer Tutucusu 2">
            <a:extLst>
              <a:ext uri="{FF2B5EF4-FFF2-40B4-BE49-F238E27FC236}">
                <a16:creationId xmlns:a16="http://schemas.microsoft.com/office/drawing/2014/main" id="{2F0A0805-5BC3-2EF3-C094-306F7A4CC289}"/>
              </a:ext>
            </a:extLst>
          </p:cNvPr>
          <p:cNvSpPr>
            <a:spLocks noGrp="1"/>
          </p:cNvSpPr>
          <p:nvPr>
            <p:ph sz="half" idx="1"/>
          </p:nvPr>
        </p:nvSpPr>
        <p:spPr>
          <a:xfrm>
            <a:off x="1683956" y="2133600"/>
            <a:ext cx="4140772" cy="3777622"/>
          </a:xfrm>
        </p:spPr>
        <p:txBody>
          <a:bodyPr vert="horz" lIns="91440" tIns="45720" rIns="91440" bIns="45720" rtlCol="0">
            <a:normAutofit/>
          </a:bodyPr>
          <a:lstStyle/>
          <a:p>
            <a:r>
              <a:rPr lang="en-US" sz="1600">
                <a:solidFill>
                  <a:schemeClr val="tx1"/>
                </a:solidFill>
              </a:rPr>
              <a:t>Hasta çok güçlü bir manyetik alan içerisine yerleştirilir. Bu manyetik etkiyle protonlar manyetik alana uygun şekilde dizilir.</a:t>
            </a:r>
          </a:p>
          <a:p>
            <a:r>
              <a:rPr lang="en-US" sz="1600">
                <a:solidFill>
                  <a:schemeClr val="tx1"/>
                </a:solidFill>
              </a:rPr>
              <a:t>Kesit alınacak bölgeye RF (radyo frekans) enerjisi gönderilir. Protonlar bu enerjiyi alır ve enerjinin miktarına göre konumlarından saparlar.</a:t>
            </a:r>
          </a:p>
          <a:p>
            <a:r>
              <a:rPr lang="en-US" sz="1600">
                <a:solidFill>
                  <a:schemeClr val="tx1"/>
                </a:solidFill>
              </a:rPr>
              <a:t>RF enerjisi kesilir. Protonlar eski konumlarına dönerler. Bu dönüş sürecinde aldıkları enerjiyi bir sinyal şeklinde yayarlar. MR görüntüleri işte bu sinyallerden oluşturulur.</a:t>
            </a:r>
          </a:p>
        </p:txBody>
      </p:sp>
      <p:pic>
        <p:nvPicPr>
          <p:cNvPr id="6" name="Resim 5">
            <a:extLst>
              <a:ext uri="{FF2B5EF4-FFF2-40B4-BE49-F238E27FC236}">
                <a16:creationId xmlns:a16="http://schemas.microsoft.com/office/drawing/2014/main" id="{A8CA21EA-60C2-8C95-B4C0-38158C0553D7}"/>
              </a:ext>
            </a:extLst>
          </p:cNvPr>
          <p:cNvPicPr>
            <a:picLocks noChangeAspect="1"/>
          </p:cNvPicPr>
          <p:nvPr/>
        </p:nvPicPr>
        <p:blipFill>
          <a:blip r:embed="rId2"/>
          <a:stretch>
            <a:fillRect/>
          </a:stretch>
        </p:blipFill>
        <p:spPr>
          <a:xfrm>
            <a:off x="6091916" y="699760"/>
            <a:ext cx="5451627" cy="2589523"/>
          </a:xfrm>
          <a:prstGeom prst="rect">
            <a:avLst/>
          </a:prstGeom>
        </p:spPr>
      </p:pic>
      <p:pic>
        <p:nvPicPr>
          <p:cNvPr id="5" name="Resim 4">
            <a:extLst>
              <a:ext uri="{FF2B5EF4-FFF2-40B4-BE49-F238E27FC236}">
                <a16:creationId xmlns:a16="http://schemas.microsoft.com/office/drawing/2014/main" id="{C893420C-393B-A86C-4048-5896584B6011}"/>
              </a:ext>
            </a:extLst>
          </p:cNvPr>
          <p:cNvPicPr>
            <a:picLocks noChangeAspect="1"/>
          </p:cNvPicPr>
          <p:nvPr/>
        </p:nvPicPr>
        <p:blipFill>
          <a:blip r:embed="rId3"/>
          <a:stretch>
            <a:fillRect/>
          </a:stretch>
        </p:blipFill>
        <p:spPr>
          <a:xfrm>
            <a:off x="6086040" y="3651253"/>
            <a:ext cx="5451627" cy="2098876"/>
          </a:xfrm>
          <a:prstGeom prst="rect">
            <a:avLst/>
          </a:prstGeom>
        </p:spPr>
      </p:pic>
    </p:spTree>
    <p:extLst>
      <p:ext uri="{BB962C8B-B14F-4D97-AF65-F5344CB8AC3E}">
        <p14:creationId xmlns:p14="http://schemas.microsoft.com/office/powerpoint/2010/main" val="139672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5" name="Group 1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7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75"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77"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78"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79"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80"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81"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82"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83"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84"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85"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86" name="Group 25">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87"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88"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89"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90"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91"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92"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93"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94"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95"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96"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97"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98"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99" name="Rectangle 39">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00"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 useBgFill="1">
        <p:nvSpPr>
          <p:cNvPr id="44" name="Rectangle 43">
            <a:extLst>
              <a:ext uri="{FF2B5EF4-FFF2-40B4-BE49-F238E27FC236}">
                <a16:creationId xmlns:a16="http://schemas.microsoft.com/office/drawing/2014/main" id="{CADF4631-3C8F-45EE-8D19-4D3E8426B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F291099C-17EE-4E0E-B096-C799750500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7" name="Freeform 11">
              <a:extLst>
                <a:ext uri="{FF2B5EF4-FFF2-40B4-BE49-F238E27FC236}">
                  <a16:creationId xmlns:a16="http://schemas.microsoft.com/office/drawing/2014/main" id="{E21C6221-3E1B-4ABD-8172-FAE995E65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48" name="Freeform 12">
              <a:extLst>
                <a:ext uri="{FF2B5EF4-FFF2-40B4-BE49-F238E27FC236}">
                  <a16:creationId xmlns:a16="http://schemas.microsoft.com/office/drawing/2014/main" id="{D3EF5991-93EA-451F-BB82-1ABC4AC0D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49" name="Freeform 13">
              <a:extLst>
                <a:ext uri="{FF2B5EF4-FFF2-40B4-BE49-F238E27FC236}">
                  <a16:creationId xmlns:a16="http://schemas.microsoft.com/office/drawing/2014/main" id="{136F96F7-16E6-48A1-A211-0B4A4D0C8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50" name="Freeform 14">
              <a:extLst>
                <a:ext uri="{FF2B5EF4-FFF2-40B4-BE49-F238E27FC236}">
                  <a16:creationId xmlns:a16="http://schemas.microsoft.com/office/drawing/2014/main" id="{5C00D000-7FA5-40C4-AB6A-DE3A61AB8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51" name="Freeform 15">
              <a:extLst>
                <a:ext uri="{FF2B5EF4-FFF2-40B4-BE49-F238E27FC236}">
                  <a16:creationId xmlns:a16="http://schemas.microsoft.com/office/drawing/2014/main" id="{5AAEB880-A03D-4743-9060-D7A846FA6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52" name="Freeform 16">
              <a:extLst>
                <a:ext uri="{FF2B5EF4-FFF2-40B4-BE49-F238E27FC236}">
                  <a16:creationId xmlns:a16="http://schemas.microsoft.com/office/drawing/2014/main" id="{CC64DD68-0B96-4DE9-8FD5-3175E4A3F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53" name="Freeform 17">
              <a:extLst>
                <a:ext uri="{FF2B5EF4-FFF2-40B4-BE49-F238E27FC236}">
                  <a16:creationId xmlns:a16="http://schemas.microsoft.com/office/drawing/2014/main" id="{69118400-C17B-4068-86D3-93CAE7702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54" name="Freeform 18">
              <a:extLst>
                <a:ext uri="{FF2B5EF4-FFF2-40B4-BE49-F238E27FC236}">
                  <a16:creationId xmlns:a16="http://schemas.microsoft.com/office/drawing/2014/main" id="{117FA22F-CBA8-4CF5-B8CC-2D169B67E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55" name="Freeform 19">
              <a:extLst>
                <a:ext uri="{FF2B5EF4-FFF2-40B4-BE49-F238E27FC236}">
                  <a16:creationId xmlns:a16="http://schemas.microsoft.com/office/drawing/2014/main" id="{8FB2D443-8598-4CEE-AED2-BEF49AA95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56" name="Freeform 20">
              <a:extLst>
                <a:ext uri="{FF2B5EF4-FFF2-40B4-BE49-F238E27FC236}">
                  <a16:creationId xmlns:a16="http://schemas.microsoft.com/office/drawing/2014/main" id="{92593E33-68AF-485D-99D0-080CEA197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57" name="Freeform 21">
              <a:extLst>
                <a:ext uri="{FF2B5EF4-FFF2-40B4-BE49-F238E27FC236}">
                  <a16:creationId xmlns:a16="http://schemas.microsoft.com/office/drawing/2014/main" id="{96A28427-575C-4904-AC4B-3DD62801D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58" name="Freeform 22">
              <a:extLst>
                <a:ext uri="{FF2B5EF4-FFF2-40B4-BE49-F238E27FC236}">
                  <a16:creationId xmlns:a16="http://schemas.microsoft.com/office/drawing/2014/main" id="{782FA736-DE89-4D13-B0A7-3906B32CE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sp>
        <p:nvSpPr>
          <p:cNvPr id="2" name="Başlık 1">
            <a:extLst>
              <a:ext uri="{FF2B5EF4-FFF2-40B4-BE49-F238E27FC236}">
                <a16:creationId xmlns:a16="http://schemas.microsoft.com/office/drawing/2014/main" id="{C2033FEE-3C8B-E3E5-1AFA-4F37C20F8AE8}"/>
              </a:ext>
            </a:extLst>
          </p:cNvPr>
          <p:cNvSpPr>
            <a:spLocks noGrp="1"/>
          </p:cNvSpPr>
          <p:nvPr>
            <p:ph type="title"/>
          </p:nvPr>
        </p:nvSpPr>
        <p:spPr>
          <a:xfrm>
            <a:off x="2589213" y="4529540"/>
            <a:ext cx="8915399" cy="1162423"/>
          </a:xfrm>
        </p:spPr>
        <p:txBody>
          <a:bodyPr vert="horz" lIns="91440" tIns="45720" rIns="91440" bIns="45720" rtlCol="0" anchor="b">
            <a:normAutofit/>
          </a:bodyPr>
          <a:lstStyle/>
          <a:p>
            <a:pPr>
              <a:lnSpc>
                <a:spcPct val="90000"/>
              </a:lnSpc>
            </a:pPr>
            <a:r>
              <a:rPr lang="en-US" sz="3800"/>
              <a:t>Manyetik Rezonans Görüntüleme (MRG)</a:t>
            </a:r>
          </a:p>
        </p:txBody>
      </p:sp>
      <p:grpSp>
        <p:nvGrpSpPr>
          <p:cNvPr id="60" name="Group 59">
            <a:extLst>
              <a:ext uri="{FF2B5EF4-FFF2-40B4-BE49-F238E27FC236}">
                <a16:creationId xmlns:a16="http://schemas.microsoft.com/office/drawing/2014/main" id="{6A54B62D-FC5C-4E1A-8D8B-279576FE5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1" name="Freeform 27">
              <a:extLst>
                <a:ext uri="{FF2B5EF4-FFF2-40B4-BE49-F238E27FC236}">
                  <a16:creationId xmlns:a16="http://schemas.microsoft.com/office/drawing/2014/main" id="{4706D2CB-CE4C-4F40-B189-FD7BB4466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62" name="Freeform 28">
              <a:extLst>
                <a:ext uri="{FF2B5EF4-FFF2-40B4-BE49-F238E27FC236}">
                  <a16:creationId xmlns:a16="http://schemas.microsoft.com/office/drawing/2014/main" id="{2714CF7E-2DF6-4F91-8BB2-D62E8B549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63" name="Freeform 29">
              <a:extLst>
                <a:ext uri="{FF2B5EF4-FFF2-40B4-BE49-F238E27FC236}">
                  <a16:creationId xmlns:a16="http://schemas.microsoft.com/office/drawing/2014/main" id="{F30DCFE1-624D-4D3C-AC61-757C2FF35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64" name="Freeform 30">
              <a:extLst>
                <a:ext uri="{FF2B5EF4-FFF2-40B4-BE49-F238E27FC236}">
                  <a16:creationId xmlns:a16="http://schemas.microsoft.com/office/drawing/2014/main" id="{BF08ABFE-DD31-4F1F-9520-93CC613CD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65" name="Freeform 31">
              <a:extLst>
                <a:ext uri="{FF2B5EF4-FFF2-40B4-BE49-F238E27FC236}">
                  <a16:creationId xmlns:a16="http://schemas.microsoft.com/office/drawing/2014/main" id="{ADFB2DBD-F00A-4820-876F-4E75F216B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66" name="Freeform 32">
              <a:extLst>
                <a:ext uri="{FF2B5EF4-FFF2-40B4-BE49-F238E27FC236}">
                  <a16:creationId xmlns:a16="http://schemas.microsoft.com/office/drawing/2014/main" id="{3F85387B-5668-4570-BC5C-AA89417C7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67" name="Freeform 33">
              <a:extLst>
                <a:ext uri="{FF2B5EF4-FFF2-40B4-BE49-F238E27FC236}">
                  <a16:creationId xmlns:a16="http://schemas.microsoft.com/office/drawing/2014/main" id="{FEA70EF6-623D-453D-8360-1B0C142A29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68" name="Freeform 34">
              <a:extLst>
                <a:ext uri="{FF2B5EF4-FFF2-40B4-BE49-F238E27FC236}">
                  <a16:creationId xmlns:a16="http://schemas.microsoft.com/office/drawing/2014/main" id="{FE3B449C-A5FE-44B9-A01C-A115C37D3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69" name="Freeform 35">
              <a:extLst>
                <a:ext uri="{FF2B5EF4-FFF2-40B4-BE49-F238E27FC236}">
                  <a16:creationId xmlns:a16="http://schemas.microsoft.com/office/drawing/2014/main" id="{BD672E89-DAB4-41AE-891D-6B6A52B0E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70" name="Freeform 36">
              <a:extLst>
                <a:ext uri="{FF2B5EF4-FFF2-40B4-BE49-F238E27FC236}">
                  <a16:creationId xmlns:a16="http://schemas.microsoft.com/office/drawing/2014/main" id="{C69123C3-F0F9-4AA7-BA7B-9E5E0AF2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71" name="Freeform 37">
              <a:extLst>
                <a:ext uri="{FF2B5EF4-FFF2-40B4-BE49-F238E27FC236}">
                  <a16:creationId xmlns:a16="http://schemas.microsoft.com/office/drawing/2014/main" id="{E10779C5-3DD9-489D-9A2D-EF45B7BE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72" name="Freeform 38">
              <a:extLst>
                <a:ext uri="{FF2B5EF4-FFF2-40B4-BE49-F238E27FC236}">
                  <a16:creationId xmlns:a16="http://schemas.microsoft.com/office/drawing/2014/main" id="{1D3B4B35-2090-4DA8-ADBE-DD888B4E1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74" name="Rectangle 73">
            <a:extLst>
              <a:ext uri="{FF2B5EF4-FFF2-40B4-BE49-F238E27FC236}">
                <a16:creationId xmlns:a16="http://schemas.microsoft.com/office/drawing/2014/main" id="{46FA917F-43A3-4FA3-A085-59D0DC397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7" name="Resim 6">
            <a:extLst>
              <a:ext uri="{FF2B5EF4-FFF2-40B4-BE49-F238E27FC236}">
                <a16:creationId xmlns:a16="http://schemas.microsoft.com/office/drawing/2014/main" id="{D4703567-D794-B143-738E-CD3AB4DDA2E8}"/>
              </a:ext>
            </a:extLst>
          </p:cNvPr>
          <p:cNvPicPr>
            <a:picLocks noChangeAspect="1"/>
          </p:cNvPicPr>
          <p:nvPr/>
        </p:nvPicPr>
        <p:blipFill>
          <a:blip r:embed="rId2"/>
          <a:stretch>
            <a:fillRect/>
          </a:stretch>
        </p:blipFill>
        <p:spPr>
          <a:xfrm>
            <a:off x="2589212" y="640080"/>
            <a:ext cx="8895647" cy="3602736"/>
          </a:xfrm>
          <a:prstGeom prst="rect">
            <a:avLst/>
          </a:prstGeom>
        </p:spPr>
      </p:pic>
      <p:sp>
        <p:nvSpPr>
          <p:cNvPr id="76" name="Freeform 33">
            <a:extLst>
              <a:ext uri="{FF2B5EF4-FFF2-40B4-BE49-F238E27FC236}">
                <a16:creationId xmlns:a16="http://schemas.microsoft.com/office/drawing/2014/main" id="{9CBF007B-8C8C-4F79-B037-9F4C61F9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Tree>
    <p:extLst>
      <p:ext uri="{BB962C8B-B14F-4D97-AF65-F5344CB8AC3E}">
        <p14:creationId xmlns:p14="http://schemas.microsoft.com/office/powerpoint/2010/main" val="1861004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0F2350E-D5A6-91E5-CC20-E5D37436EBD7}"/>
              </a:ext>
            </a:extLst>
          </p:cNvPr>
          <p:cNvSpPr>
            <a:spLocks noGrp="1"/>
          </p:cNvSpPr>
          <p:nvPr>
            <p:ph type="title"/>
          </p:nvPr>
        </p:nvSpPr>
        <p:spPr/>
        <p:txBody>
          <a:bodyPr/>
          <a:lstStyle/>
          <a:p>
            <a:r>
              <a:rPr lang="tr-TR" b="1" dirty="0"/>
              <a:t>Görüntüleme Teknikleri Farklılıklar</a:t>
            </a:r>
            <a:endParaRPr lang="de-DE" b="1" dirty="0"/>
          </a:p>
        </p:txBody>
      </p:sp>
      <p:pic>
        <p:nvPicPr>
          <p:cNvPr id="6" name="Resim 5">
            <a:extLst>
              <a:ext uri="{FF2B5EF4-FFF2-40B4-BE49-F238E27FC236}">
                <a16:creationId xmlns:a16="http://schemas.microsoft.com/office/drawing/2014/main" id="{6CC90385-0F7B-C1C0-99D7-74BC331F8A12}"/>
              </a:ext>
            </a:extLst>
          </p:cNvPr>
          <p:cNvPicPr>
            <a:picLocks noChangeAspect="1"/>
          </p:cNvPicPr>
          <p:nvPr/>
        </p:nvPicPr>
        <p:blipFill>
          <a:blip r:embed="rId2"/>
          <a:stretch>
            <a:fillRect/>
          </a:stretch>
        </p:blipFill>
        <p:spPr>
          <a:xfrm>
            <a:off x="1395412" y="1989301"/>
            <a:ext cx="9401175" cy="4019550"/>
          </a:xfrm>
          <a:prstGeom prst="rect">
            <a:avLst/>
          </a:prstGeom>
        </p:spPr>
      </p:pic>
      <p:sp>
        <p:nvSpPr>
          <p:cNvPr id="7" name="Oval 6">
            <a:extLst>
              <a:ext uri="{FF2B5EF4-FFF2-40B4-BE49-F238E27FC236}">
                <a16:creationId xmlns:a16="http://schemas.microsoft.com/office/drawing/2014/main" id="{6FF7DD4E-5A5C-C944-7B85-3DD2891667D5}"/>
              </a:ext>
            </a:extLst>
          </p:cNvPr>
          <p:cNvSpPr/>
          <p:nvPr/>
        </p:nvSpPr>
        <p:spPr>
          <a:xfrm>
            <a:off x="6648451" y="2466975"/>
            <a:ext cx="762000" cy="3524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Dikdörtgen: Köşeleri Yuvarlatılmış 7">
            <a:extLst>
              <a:ext uri="{FF2B5EF4-FFF2-40B4-BE49-F238E27FC236}">
                <a16:creationId xmlns:a16="http://schemas.microsoft.com/office/drawing/2014/main" id="{A0E90D39-034A-26BB-9C4D-BA1BEF59F09E}"/>
              </a:ext>
            </a:extLst>
          </p:cNvPr>
          <p:cNvSpPr/>
          <p:nvPr/>
        </p:nvSpPr>
        <p:spPr>
          <a:xfrm>
            <a:off x="7410451" y="2381250"/>
            <a:ext cx="2762249" cy="43815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261406362"/>
      </p:ext>
    </p:extLst>
  </p:cSld>
  <p:clrMapOvr>
    <a:masterClrMapping/>
  </p:clrMapOvr>
</p:sld>
</file>

<file path=ppt/theme/theme1.xml><?xml version="1.0" encoding="utf-8"?>
<a:theme xmlns:a="http://schemas.openxmlformats.org/drawingml/2006/main" name="Duman">
  <a:themeElements>
    <a:clrScheme name="Duma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TM02892315[[fn=Duman]]</Template>
  <TotalTime>13</TotalTime>
  <Words>1597</Words>
  <Application>Microsoft Office PowerPoint</Application>
  <PresentationFormat>Geniş ekran</PresentationFormat>
  <Paragraphs>90</Paragraphs>
  <Slides>29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29</vt:i4>
      </vt:variant>
    </vt:vector>
  </HeadingPairs>
  <TitlesOfParts>
    <vt:vector size="33" baseType="lpstr">
      <vt:lpstr>Arial</vt:lpstr>
      <vt:lpstr>Century Gothic</vt:lpstr>
      <vt:lpstr>Wingdings 3</vt:lpstr>
      <vt:lpstr>Duman</vt:lpstr>
      <vt:lpstr>Tıbbi Görüntüleme Sistemleri</vt:lpstr>
      <vt:lpstr>Motivasyon</vt:lpstr>
      <vt:lpstr>Tıbbi Görüntüleme</vt:lpstr>
      <vt:lpstr>Tarihçe</vt:lpstr>
      <vt:lpstr>Tarihçe</vt:lpstr>
      <vt:lpstr>X-Işınlarının Oluşumu</vt:lpstr>
      <vt:lpstr>Röntgen Cihazı</vt:lpstr>
      <vt:lpstr>Röntgen Cihazı</vt:lpstr>
      <vt:lpstr>Konvansiyonel Röntgen</vt:lpstr>
      <vt:lpstr>Dijital Röntgen</vt:lpstr>
      <vt:lpstr>Mamografi</vt:lpstr>
      <vt:lpstr> Anjiyografi</vt:lpstr>
      <vt:lpstr>Anjiyografi</vt:lpstr>
      <vt:lpstr>Anjiyografi</vt:lpstr>
      <vt:lpstr>Bilgisayarlı Tomografi Cihazı (BT)</vt:lpstr>
      <vt:lpstr>Bilgisayarlı Tomografi Cihazı (BT)</vt:lpstr>
      <vt:lpstr>BT Temelleri ve Cihazın Bileşenleri</vt:lpstr>
      <vt:lpstr>Bilgisayarlı Tomografi Görüntü</vt:lpstr>
      <vt:lpstr>Ultrasonografi</vt:lpstr>
      <vt:lpstr>Ultrasonografi</vt:lpstr>
      <vt:lpstr>Ultrasonografi</vt:lpstr>
      <vt:lpstr>Doppler Ultrason</vt:lpstr>
      <vt:lpstr>Doppler Ultrason</vt:lpstr>
      <vt:lpstr>Pozitron Emisyon Tomografi (PET)</vt:lpstr>
      <vt:lpstr>Pozitron Emisyon Tomografi (PET)</vt:lpstr>
      <vt:lpstr>Manyetik Rezonans Görüntüleme (MRG)</vt:lpstr>
      <vt:lpstr>Manyetik Rezonans Görüntüleme (MRG)</vt:lpstr>
      <vt:lpstr>Manyetik Rezonans Görüntüleme (MRG)</vt:lpstr>
      <vt:lpstr>Görüntüleme Teknikleri Farklılıklar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Biyomedikal Mühendisliğine Giriş-Hafta 7</dc:title>
  <dc:creator>Fatma Uysal</dc:creator>
  <cp:lastModifiedBy>Mehmet Fatih KARAKAŞ</cp:lastModifiedBy>
  <cp:revision>21</cp:revision>
  <dcterms:created xsi:type="dcterms:W3CDTF">2022-11-30T11:51:09Z</dcterms:created>
  <dcterms:modified xsi:type="dcterms:W3CDTF">2026-04-27T10:10:06Z</dcterms:modified>
</cp:coreProperties>
</file>