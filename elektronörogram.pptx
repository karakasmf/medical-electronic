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8" r:id="rId1"/>
  </p:sldMasterIdLst>
  <p:sldIdLst>
    <p:sldId id="256" r:id="rId2"/>
    <p:sldId id="257" r:id="rId3"/>
    <p:sldId id="264" r:id="rId4"/>
    <p:sldId id="265" r:id="rId5"/>
    <p:sldId id="266" r:id="rId6"/>
    <p:sldId id="258" r:id="rId7"/>
    <p:sldId id="272" r:id="rId8"/>
    <p:sldId id="259" r:id="rId9"/>
    <p:sldId id="260" r:id="rId10"/>
    <p:sldId id="261" r:id="rId11"/>
    <p:sldId id="262" r:id="rId12"/>
    <p:sldId id="270" r:id="rId13"/>
    <p:sldId id="273" r:id="rId14"/>
    <p:sldId id="274" r:id="rId15"/>
    <p:sldId id="275" r:id="rId16"/>
    <p:sldId id="276" r:id="rId17"/>
    <p:sldId id="277" r:id="rId18"/>
    <p:sldId id="263" r:id="rId19"/>
    <p:sldId id="278" r:id="rId20"/>
    <p:sldId id="267" r:id="rId21"/>
    <p:sldId id="268" r:id="rId22"/>
    <p:sldId id="269" r:id="rId23"/>
    <p:sldId id="279" r:id="rId24"/>
    <p:sldId id="271" r:id="rId25"/>
    <p:sldId id="280" r:id="rId26"/>
    <p:sldId id="281"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tr-TR"/>
              <a:t>Asıl başlık stilini düzenlemek için tıklayın</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tr-TR"/>
              <a:t>Asıl alt başlık stilini düzenlemek için tıklayın</a:t>
            </a:r>
            <a:endParaRPr lang="en-US" dirty="0"/>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39232486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4260488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15942959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F23B5EE0-7443-4C58-993F-2C3414861FBC}"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35269664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tr-TR"/>
              <a:t>Asıl başlık stilini düzenlemek için tıklayın</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F23B5EE0-7443-4C58-993F-2C3414861FBC}" type="datetimeFigureOut">
              <a:rPr lang="tr-TR" smtClean="0"/>
              <a:t>30.03.2026</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161498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7" name="Date Placeholder 2"/>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3"/>
          <p:cNvSpPr>
            <a:spLocks noGrp="1"/>
          </p:cNvSpPr>
          <p:nvPr>
            <p:ph type="ftr" sz="quarter" idx="11"/>
          </p:nvPr>
        </p:nvSpPr>
        <p:spPr/>
        <p:txBody>
          <a:bodyPr/>
          <a:lstStyle/>
          <a:p>
            <a:endParaRPr lang="tr-TR"/>
          </a:p>
        </p:txBody>
      </p:sp>
      <p:sp>
        <p:nvSpPr>
          <p:cNvPr id="6" name="Slide Number Placeholder 4"/>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3590627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2"/>
          <p:cNvSpPr>
            <a:spLocks noGrp="1"/>
          </p:cNvSpPr>
          <p:nvPr>
            <p:ph type="ftr" sz="quarter" idx="11"/>
          </p:nvPr>
        </p:nvSpPr>
        <p:spPr/>
        <p:txBody>
          <a:bodyPr/>
          <a:lstStyle/>
          <a:p>
            <a:endParaRPr lang="tr-TR"/>
          </a:p>
        </p:txBody>
      </p:sp>
      <p:sp>
        <p:nvSpPr>
          <p:cNvPr id="6" name="Slide Number Placeholder 3"/>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41337471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tr-TR"/>
              <a:t>Asıl başlık stilini düzenlemek için tıklayın</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7" name="Date Placeholder 4"/>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5"/>
          <p:cNvSpPr>
            <a:spLocks noGrp="1"/>
          </p:cNvSpPr>
          <p:nvPr>
            <p:ph type="ftr" sz="quarter" idx="11"/>
          </p:nvPr>
        </p:nvSpPr>
        <p:spPr/>
        <p:txBody>
          <a:bodyPr/>
          <a:lstStyle/>
          <a:p>
            <a:endParaRPr lang="tr-TR"/>
          </a:p>
        </p:txBody>
      </p:sp>
      <p:sp>
        <p:nvSpPr>
          <p:cNvPr id="6" name="Slide Number Placeholder 6"/>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4125942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F23B5EE0-7443-4C58-993F-2C3414861FBC}"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25348328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F23B5EE0-7443-4C58-993F-2C3414861FBC}"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485601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tr-TR"/>
              <a:t>Asıl başlık stilini düzenlemek için tıklayın</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28424313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tr-TR"/>
              <a:t>Asıl başlık stilini düzenlemek için tıklayın</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tr-TR"/>
              <a:t>Asıl metin stillerini düzenlemek için tıklayın</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873115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18226516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ütu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tr-TR"/>
              <a:t>Asıl başlık stilini düzenlemek için tıklayın</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4"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34959588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Resim Sütu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tr-TR"/>
              <a:t>Asıl başlık stilini düzenlemek için tıklayın</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4"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29864834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anchor="t" anchorCtr="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15947236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F23B5EE0-7443-4C58-993F-2C3414861FBC}"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2C404C85-E08D-455B-A046-8B2C7A17FD13}" type="slidenum">
              <a:rPr lang="tr-TR" smtClean="0"/>
              <a:t>‹#›</a:t>
            </a:fld>
            <a:endParaRPr lang="tr-TR"/>
          </a:p>
        </p:txBody>
      </p:sp>
    </p:spTree>
    <p:extLst>
      <p:ext uri="{BB962C8B-B14F-4D97-AF65-F5344CB8AC3E}">
        <p14:creationId xmlns:p14="http://schemas.microsoft.com/office/powerpoint/2010/main" val="2238641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tr-TR"/>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F23B5EE0-7443-4C58-993F-2C3414861FBC}" type="datetimeFigureOut">
              <a:rPr lang="tr-TR" smtClean="0"/>
              <a:t>30.03.2026</a:t>
            </a:fld>
            <a:endParaRPr lang="tr-TR"/>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tr-TR"/>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2C404C85-E08D-455B-A046-8B2C7A17FD13}" type="slidenum">
              <a:rPr lang="tr-TR" smtClean="0"/>
              <a:t>‹#›</a:t>
            </a:fld>
            <a:endParaRPr lang="tr-TR"/>
          </a:p>
        </p:txBody>
      </p:sp>
    </p:spTree>
    <p:extLst>
      <p:ext uri="{BB962C8B-B14F-4D97-AF65-F5344CB8AC3E}">
        <p14:creationId xmlns:p14="http://schemas.microsoft.com/office/powerpoint/2010/main" val="2265605149"/>
      </p:ext>
    </p:extLst>
  </p:cSld>
  <p:clrMap bg1="dk1" tx1="lt1" bg2="dk2" tx2="lt2" accent1="accent1" accent2="accent2" accent3="accent3" accent4="accent4" accent5="accent5" accent6="accent6" hlink="hlink" folHlink="folHlink"/>
  <p:sldLayoutIdLst>
    <p:sldLayoutId id="2147483769" r:id="rId1"/>
    <p:sldLayoutId id="2147483770" r:id="rId2"/>
    <p:sldLayoutId id="2147483771" r:id="rId3"/>
    <p:sldLayoutId id="2147483772" r:id="rId4"/>
    <p:sldLayoutId id="2147483773" r:id="rId5"/>
    <p:sldLayoutId id="2147483774" r:id="rId6"/>
    <p:sldLayoutId id="2147483775" r:id="rId7"/>
    <p:sldLayoutId id="2147483776" r:id="rId8"/>
    <p:sldLayoutId id="2147483777" r:id="rId9"/>
    <p:sldLayoutId id="2147483778" r:id="rId10"/>
    <p:sldLayoutId id="2147483779" r:id="rId11"/>
    <p:sldLayoutId id="2147483780" r:id="rId12"/>
    <p:sldLayoutId id="2147483781" r:id="rId13"/>
    <p:sldLayoutId id="2147483782" r:id="rId14"/>
    <p:sldLayoutId id="2147483783" r:id="rId15"/>
    <p:sldLayoutId id="2147483784" r:id="rId16"/>
    <p:sldLayoutId id="2147483785"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jp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pic>
        <p:nvPicPr>
          <p:cNvPr id="5" name="Picture 4" descr="Elektromanyetik bir radyasyonu resmi">
            <a:extLst>
              <a:ext uri="{FF2B5EF4-FFF2-40B4-BE49-F238E27FC236}">
                <a16:creationId xmlns:a16="http://schemas.microsoft.com/office/drawing/2014/main" id="{15412F12-DE51-4E38-EC3D-6C8709041EA4}"/>
              </a:ext>
            </a:extLst>
          </p:cNvPr>
          <p:cNvPicPr>
            <a:picLocks noChangeAspect="1"/>
          </p:cNvPicPr>
          <p:nvPr/>
        </p:nvPicPr>
        <p:blipFill>
          <a:blip r:embed="rId3">
            <a:duotone>
              <a:prstClr val="black"/>
              <a:schemeClr val="accent5">
                <a:tint val="45000"/>
                <a:satMod val="400000"/>
              </a:schemeClr>
            </a:duotone>
            <a:alphaModFix amt="25000"/>
          </a:blip>
          <a:srcRect t="23677" r="9091"/>
          <a:stretch>
            <a:fillRect/>
          </a:stretch>
        </p:blipFill>
        <p:spPr>
          <a:xfrm>
            <a:off x="20" y="10"/>
            <a:ext cx="12191980" cy="6857990"/>
          </a:xfrm>
          <a:prstGeom prst="rect">
            <a:avLst/>
          </a:prstGeom>
        </p:spPr>
      </p:pic>
      <p:sp>
        <p:nvSpPr>
          <p:cNvPr id="2" name="Başlık 1">
            <a:extLst>
              <a:ext uri="{FF2B5EF4-FFF2-40B4-BE49-F238E27FC236}">
                <a16:creationId xmlns:a16="http://schemas.microsoft.com/office/drawing/2014/main" id="{CB4D3AB0-3360-0611-315C-E32BD54E0155}"/>
              </a:ext>
            </a:extLst>
          </p:cNvPr>
          <p:cNvSpPr>
            <a:spLocks noGrp="1"/>
          </p:cNvSpPr>
          <p:nvPr>
            <p:ph type="ctrTitle"/>
          </p:nvPr>
        </p:nvSpPr>
        <p:spPr>
          <a:xfrm>
            <a:off x="1154955" y="1447800"/>
            <a:ext cx="8825658" cy="3329581"/>
          </a:xfrm>
        </p:spPr>
        <p:txBody>
          <a:bodyPr>
            <a:normAutofit/>
          </a:bodyPr>
          <a:lstStyle/>
          <a:p>
            <a:r>
              <a:rPr lang="tr-TR" dirty="0" err="1"/>
              <a:t>Elektronörogram</a:t>
            </a:r>
            <a:endParaRPr lang="tr-TR" dirty="0"/>
          </a:p>
        </p:txBody>
      </p:sp>
      <p:sp>
        <p:nvSpPr>
          <p:cNvPr id="17" name="Rectangle 16">
            <a:extLst>
              <a:ext uri="{FF2B5EF4-FFF2-40B4-BE49-F238E27FC236}">
                <a16:creationId xmlns:a16="http://schemas.microsoft.com/office/drawing/2014/main" id="{C885E190-58DD-42DD-A4A8-401E15C92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Tree>
    <p:extLst>
      <p:ext uri="{BB962C8B-B14F-4D97-AF65-F5344CB8AC3E}">
        <p14:creationId xmlns:p14="http://schemas.microsoft.com/office/powerpoint/2010/main" val="322467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1"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23" name="Freeform: Shape 22">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tr-TR"/>
          </a:p>
        </p:txBody>
      </p:sp>
      <p:pic>
        <p:nvPicPr>
          <p:cNvPr id="5" name="Resim 4">
            <a:extLst>
              <a:ext uri="{FF2B5EF4-FFF2-40B4-BE49-F238E27FC236}">
                <a16:creationId xmlns:a16="http://schemas.microsoft.com/office/drawing/2014/main" id="{CFE0EC0D-0DE9-1AA5-5AD7-746CBE4E8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11942" y="1753158"/>
            <a:ext cx="6031939" cy="3709642"/>
          </a:xfrm>
          <a:prstGeom prst="rect">
            <a:avLst/>
          </a:prstGeom>
          <a:effectLst/>
        </p:spPr>
      </p:pic>
      <p:sp>
        <p:nvSpPr>
          <p:cNvPr id="25" name="Rectangle 24">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3" name="İçerik Yer Tutucusu 2">
            <a:extLst>
              <a:ext uri="{FF2B5EF4-FFF2-40B4-BE49-F238E27FC236}">
                <a16:creationId xmlns:a16="http://schemas.microsoft.com/office/drawing/2014/main" id="{F538DF1A-7839-87BE-FFAA-831F388401E2}"/>
              </a:ext>
            </a:extLst>
          </p:cNvPr>
          <p:cNvSpPr>
            <a:spLocks noGrp="1"/>
          </p:cNvSpPr>
          <p:nvPr>
            <p:ph idx="1"/>
          </p:nvPr>
        </p:nvSpPr>
        <p:spPr>
          <a:xfrm>
            <a:off x="648931" y="2438400"/>
            <a:ext cx="4166509" cy="3785419"/>
          </a:xfrm>
        </p:spPr>
        <p:txBody>
          <a:bodyPr>
            <a:normAutofit/>
          </a:bodyPr>
          <a:lstStyle/>
          <a:p>
            <a:pPr>
              <a:lnSpc>
                <a:spcPct val="90000"/>
              </a:lnSpc>
            </a:pPr>
            <a:r>
              <a:rPr lang="tr-TR" sz="1100">
                <a:solidFill>
                  <a:srgbClr val="EBEBEB"/>
                </a:solidFill>
              </a:rPr>
              <a:t>Vücut organlarının fonksiyonları, hormonal ve sinirsel olmak üzere iki şekilde kontrol edilir.</a:t>
            </a:r>
          </a:p>
          <a:p>
            <a:pPr lvl="1">
              <a:lnSpc>
                <a:spcPct val="90000"/>
              </a:lnSpc>
            </a:pPr>
            <a:r>
              <a:rPr lang="tr-TR" sz="1100">
                <a:solidFill>
                  <a:srgbClr val="EBEBEB"/>
                </a:solidFill>
              </a:rPr>
              <a:t>Hormonlar (kimyasal bilgi ileticileri), endokrin bezlerinde üretilerek kan yoluyla, faaliyetini kontrol edecekleri uzak organlara taşınır. Hormonlar yardımıyla yapılan kontrol yavaştır.</a:t>
            </a:r>
          </a:p>
          <a:p>
            <a:pPr lvl="1">
              <a:lnSpc>
                <a:spcPct val="90000"/>
              </a:lnSpc>
            </a:pPr>
            <a:r>
              <a:rPr lang="tr-TR" sz="1100">
                <a:solidFill>
                  <a:srgbClr val="EBEBEB"/>
                </a:solidFill>
              </a:rPr>
              <a:t>Merkezi Sinir Sistemi (MSS) üzerinden (beyin ve omurilikten) kodlanmış sinir darbeleri (pulse) halinde, sinirler yoluyla organlara gönderilmesi ve faaliyetlerinin düzenlenmesi. MSS'den organlara emir götüren bu sinirlere motor («efferent» getiren) sinirler denir.</a:t>
            </a:r>
          </a:p>
          <a:p>
            <a:pPr lvl="1">
              <a:lnSpc>
                <a:spcPct val="90000"/>
              </a:lnSpc>
            </a:pPr>
            <a:r>
              <a:rPr lang="tr-TR" sz="1100">
                <a:solidFill>
                  <a:srgbClr val="EBEBEB"/>
                </a:solidFill>
              </a:rPr>
              <a:t>MSS, bazı özel organlar yardımıyla dış dünya ile temas halindedir. Örneğin; dokunma, acı ve sıcaklık deri yoluyla; görme, göz; işitme, kulak; tat, dil ve koku, burun yoluyla algılanır. Bu bilgileri ve kaslardaki bilgileri beyine götüren sinirlere duyu («afferent», götüren) sinirler denir. Duyu sinirlerinde de bilgi kodlanmış darbeler şeklinde iletilir</a:t>
            </a:r>
          </a:p>
        </p:txBody>
      </p:sp>
    </p:spTree>
    <p:extLst>
      <p:ext uri="{BB962C8B-B14F-4D97-AF65-F5344CB8AC3E}">
        <p14:creationId xmlns:p14="http://schemas.microsoft.com/office/powerpoint/2010/main" val="4077170739"/>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1"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23" name="Freeform: Shape 22">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tr-TR"/>
          </a:p>
        </p:txBody>
      </p:sp>
      <p:pic>
        <p:nvPicPr>
          <p:cNvPr id="5" name="Resim 4">
            <a:extLst>
              <a:ext uri="{FF2B5EF4-FFF2-40B4-BE49-F238E27FC236}">
                <a16:creationId xmlns:a16="http://schemas.microsoft.com/office/drawing/2014/main" id="{C0A27EB1-56B5-6835-2B7D-1EBB6599F6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2252" y="647698"/>
            <a:ext cx="4853369" cy="5562601"/>
          </a:xfrm>
          <a:prstGeom prst="rect">
            <a:avLst/>
          </a:prstGeom>
          <a:effectLst/>
        </p:spPr>
      </p:pic>
      <p:sp>
        <p:nvSpPr>
          <p:cNvPr id="25" name="Rectangle 24">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3" name="İçerik Yer Tutucusu 2">
            <a:extLst>
              <a:ext uri="{FF2B5EF4-FFF2-40B4-BE49-F238E27FC236}">
                <a16:creationId xmlns:a16="http://schemas.microsoft.com/office/drawing/2014/main" id="{B4555F03-18EE-BDB3-9D19-C03488391F10}"/>
              </a:ext>
            </a:extLst>
          </p:cNvPr>
          <p:cNvSpPr>
            <a:spLocks noGrp="1"/>
          </p:cNvSpPr>
          <p:nvPr>
            <p:ph idx="1"/>
          </p:nvPr>
        </p:nvSpPr>
        <p:spPr>
          <a:xfrm>
            <a:off x="648931" y="2438400"/>
            <a:ext cx="4166509" cy="3785419"/>
          </a:xfrm>
        </p:spPr>
        <p:txBody>
          <a:bodyPr>
            <a:normAutofit/>
          </a:bodyPr>
          <a:lstStyle/>
          <a:p>
            <a:pPr>
              <a:lnSpc>
                <a:spcPct val="90000"/>
              </a:lnSpc>
            </a:pPr>
            <a:r>
              <a:rPr lang="tr-TR" sz="1900">
                <a:solidFill>
                  <a:srgbClr val="EBEBEB"/>
                </a:solidFill>
              </a:rPr>
              <a:t>Merkezi sinir sisteminin dışındaki sinirlere Çevresel Sinirler (Çevre Siniden, Periferik Sinirler, "Peripheral Nerves") denir. </a:t>
            </a:r>
          </a:p>
          <a:p>
            <a:pPr>
              <a:lnSpc>
                <a:spcPct val="90000"/>
              </a:lnSpc>
            </a:pPr>
            <a:r>
              <a:rPr lang="tr-TR" sz="1900">
                <a:solidFill>
                  <a:srgbClr val="EBEBEB"/>
                </a:solidFill>
              </a:rPr>
              <a:t>Vücudun belirli bölgelerini kontrol eden çevre sinirleri, omuriliğin belirli seviyelerinden çıkarlar. </a:t>
            </a:r>
          </a:p>
          <a:p>
            <a:pPr>
              <a:lnSpc>
                <a:spcPct val="90000"/>
              </a:lnSpc>
            </a:pPr>
            <a:r>
              <a:rPr lang="tr-TR" sz="1900">
                <a:solidFill>
                  <a:srgbClr val="EBEBEB"/>
                </a:solidFill>
              </a:rPr>
              <a:t>Çevre sinirleri, omurilikten çıkan 31 çift sinirle (omurilik sinirleri) beyinden gelen 12 çift sinirden (kafa sinirleri) oluşur. </a:t>
            </a:r>
          </a:p>
        </p:txBody>
      </p:sp>
    </p:spTree>
    <p:extLst>
      <p:ext uri="{BB962C8B-B14F-4D97-AF65-F5344CB8AC3E}">
        <p14:creationId xmlns:p14="http://schemas.microsoft.com/office/powerpoint/2010/main" val="3903254826"/>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tr-TR"/>
          </a:p>
        </p:txBody>
      </p:sp>
      <p:sp>
        <p:nvSpPr>
          <p:cNvPr id="3" name="İçerik Yer Tutucusu 2">
            <a:extLst>
              <a:ext uri="{FF2B5EF4-FFF2-40B4-BE49-F238E27FC236}">
                <a16:creationId xmlns:a16="http://schemas.microsoft.com/office/drawing/2014/main" id="{5D8C6203-3630-AE73-0219-DABF1577CEEE}"/>
              </a:ext>
            </a:extLst>
          </p:cNvPr>
          <p:cNvSpPr>
            <a:spLocks noGrp="1"/>
          </p:cNvSpPr>
          <p:nvPr>
            <p:ph idx="1"/>
          </p:nvPr>
        </p:nvSpPr>
        <p:spPr>
          <a:xfrm>
            <a:off x="1103312" y="2763520"/>
            <a:ext cx="8946541" cy="3484879"/>
          </a:xfrm>
        </p:spPr>
        <p:txBody>
          <a:bodyPr>
            <a:normAutofit/>
          </a:bodyPr>
          <a:lstStyle/>
          <a:p>
            <a:r>
              <a:rPr lang="tr-TR"/>
              <a:t>İstemli hareket yapan kaslar tek bir motor siniri ile kontrol edilir. Motor sinirleri uyarıcıdırlar. Eğer sinirden kasa emir taşınırsa kas kasılır ve motor sinirindeki aktivitenin sona ermesiyle de kas gevşer.</a:t>
            </a:r>
          </a:p>
          <a:p>
            <a:r>
              <a:rPr lang="tr-TR"/>
              <a:t>Kalp, salgı bezleri ve istemsiz kasları besleyen sinir sistemine Otonom Sinir Sistemi denir. Çizgisiz veya düz kaslar olarak da adlandırılan istemsiz kaslar sindirim ve solunum yollarında, idrar kesesi, kan damarları ve gözde bulunurlar.</a:t>
            </a:r>
          </a:p>
        </p:txBody>
      </p:sp>
    </p:spTree>
    <p:extLst>
      <p:ext uri="{BB962C8B-B14F-4D97-AF65-F5344CB8AC3E}">
        <p14:creationId xmlns:p14="http://schemas.microsoft.com/office/powerpoint/2010/main" val="4220233097"/>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tr-TR"/>
          </a:p>
        </p:txBody>
      </p:sp>
      <p:sp>
        <p:nvSpPr>
          <p:cNvPr id="3" name="İçerik Yer Tutucusu 2">
            <a:extLst>
              <a:ext uri="{FF2B5EF4-FFF2-40B4-BE49-F238E27FC236}">
                <a16:creationId xmlns:a16="http://schemas.microsoft.com/office/drawing/2014/main" id="{E4E39D08-E614-8DD1-5AA5-FFAFF8B0E0D5}"/>
              </a:ext>
            </a:extLst>
          </p:cNvPr>
          <p:cNvSpPr>
            <a:spLocks noGrp="1"/>
          </p:cNvSpPr>
          <p:nvPr>
            <p:ph idx="1"/>
          </p:nvPr>
        </p:nvSpPr>
        <p:spPr>
          <a:xfrm>
            <a:off x="1103312" y="2763520"/>
            <a:ext cx="8946541" cy="3484879"/>
          </a:xfrm>
        </p:spPr>
        <p:txBody>
          <a:bodyPr>
            <a:normAutofit/>
          </a:bodyPr>
          <a:lstStyle/>
          <a:p>
            <a:r>
              <a:rPr lang="tr-TR" sz="1900"/>
              <a:t>Çevresel sinir sistemi birçok alt sistemlerden meydana gelir. Bunlar arasında, derideki alıcılardan beyine bilgi taşıyan Somatik Sinir Sistemi ve gözlerden bilgi taşıyan Görme ("Visual") Sinir Sistemi bulunur. </a:t>
            </a:r>
          </a:p>
          <a:p>
            <a:r>
              <a:rPr lang="tr-TR" sz="1900"/>
              <a:t>Sempatik ve Parasempatik kollara ayrılan, hissi durumla ilgili olan ve düz kasları kontrol eden Otonom Sinir Sistemi de çevresel sinir sisteminin bir alt parçasıdır. </a:t>
            </a:r>
          </a:p>
          <a:p>
            <a:r>
              <a:rPr lang="tr-TR" sz="1900"/>
              <a:t>Sempatik aktivite vücudun enerji harcamasını, parasempatik aktivite ise vücudun enerji saklamasını arttırır. Sempatik aktivite kalp aktivitesini arttırırken sindirim sistemi aktivitesini yavaşlatır. Parasempatik aktivite ise bu organlar üzerinde sempatik aktivitenin tersi etki yapar.</a:t>
            </a:r>
          </a:p>
        </p:txBody>
      </p:sp>
    </p:spTree>
    <p:extLst>
      <p:ext uri="{BB962C8B-B14F-4D97-AF65-F5344CB8AC3E}">
        <p14:creationId xmlns:p14="http://schemas.microsoft.com/office/powerpoint/2010/main" val="1531740337"/>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2D06827B-FA2F-05DF-6FBF-9F0EBEDC95EE}"/>
              </a:ext>
            </a:extLst>
          </p:cNvPr>
          <p:cNvSpPr>
            <a:spLocks noGrp="1"/>
          </p:cNvSpPr>
          <p:nvPr>
            <p:ph type="title"/>
          </p:nvPr>
        </p:nvSpPr>
        <p:spPr>
          <a:xfrm>
            <a:off x="648931" y="629266"/>
            <a:ext cx="4166510" cy="1622321"/>
          </a:xfrm>
        </p:spPr>
        <p:txBody>
          <a:bodyPr>
            <a:normAutofit/>
          </a:bodyPr>
          <a:lstStyle/>
          <a:p>
            <a:r>
              <a:rPr lang="tr-TR">
                <a:solidFill>
                  <a:srgbClr val="EBEBEB"/>
                </a:solidFill>
              </a:rPr>
              <a:t>ENG</a:t>
            </a:r>
          </a:p>
        </p:txBody>
      </p:sp>
      <p:sp>
        <p:nvSpPr>
          <p:cNvPr id="21"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23" name="Freeform: Shape 22">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tr-TR"/>
          </a:p>
        </p:txBody>
      </p:sp>
      <p:pic>
        <p:nvPicPr>
          <p:cNvPr id="4" name="İçerik Yer Tutucusu 4">
            <a:extLst>
              <a:ext uri="{FF2B5EF4-FFF2-40B4-BE49-F238E27FC236}">
                <a16:creationId xmlns:a16="http://schemas.microsoft.com/office/drawing/2014/main" id="{362ABA79-D0C3-0729-1FB8-156E71C93711}"/>
              </a:ext>
            </a:extLst>
          </p:cNvPr>
          <p:cNvPicPr>
            <a:picLocks noChangeAspect="1"/>
          </p:cNvPicPr>
          <p:nvPr/>
        </p:nvPicPr>
        <p:blipFill>
          <a:blip r:embed="rId2">
            <a:extLst>
              <a:ext uri="{28A0092B-C50C-407E-A947-70E740481C1C}">
                <a14:useLocalDpi xmlns:a14="http://schemas.microsoft.com/office/drawing/2010/main" val="0"/>
              </a:ext>
            </a:extLst>
          </a:blip>
          <a:srcRect r="-1" b="3111"/>
          <a:stretch>
            <a:fillRect/>
          </a:stretch>
        </p:blipFill>
        <p:spPr>
          <a:xfrm>
            <a:off x="5500317" y="2042161"/>
            <a:ext cx="6686579" cy="2753360"/>
          </a:xfrm>
          <a:prstGeom prst="rect">
            <a:avLst/>
          </a:prstGeom>
          <a:effectLst/>
        </p:spPr>
      </p:pic>
      <p:sp>
        <p:nvSpPr>
          <p:cNvPr id="25" name="Rectangle 24">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3" name="İçerik Yer Tutucusu 2">
            <a:extLst>
              <a:ext uri="{FF2B5EF4-FFF2-40B4-BE49-F238E27FC236}">
                <a16:creationId xmlns:a16="http://schemas.microsoft.com/office/drawing/2014/main" id="{30D0AA29-D2F8-C197-8041-E1CC0A3B2901}"/>
              </a:ext>
            </a:extLst>
          </p:cNvPr>
          <p:cNvSpPr>
            <a:spLocks noGrp="1"/>
          </p:cNvSpPr>
          <p:nvPr>
            <p:ph idx="1"/>
          </p:nvPr>
        </p:nvSpPr>
        <p:spPr>
          <a:xfrm>
            <a:off x="648931" y="2438400"/>
            <a:ext cx="4166509" cy="3785419"/>
          </a:xfrm>
        </p:spPr>
        <p:txBody>
          <a:bodyPr>
            <a:normAutofit/>
          </a:bodyPr>
          <a:lstStyle/>
          <a:p>
            <a:pPr>
              <a:lnSpc>
                <a:spcPct val="90000"/>
              </a:lnSpc>
            </a:pPr>
            <a:r>
              <a:rPr lang="tr-TR" sz="1900">
                <a:solidFill>
                  <a:srgbClr val="EBEBEB"/>
                </a:solidFill>
              </a:rPr>
              <a:t>Elektronörogram (ENG), periferik (çevresel) sinirlerin elektriksel aktivitesinin kaydedilmesiyle elde edilen işaretlerdir. </a:t>
            </a:r>
          </a:p>
          <a:p>
            <a:pPr>
              <a:lnSpc>
                <a:spcPct val="90000"/>
              </a:lnSpc>
            </a:pPr>
            <a:r>
              <a:rPr lang="tr-TR" sz="1900">
                <a:solidFill>
                  <a:srgbClr val="EBEBEB"/>
                </a:solidFill>
              </a:rPr>
              <a:t>Bu işaretler, sinir lifleri boyunca iletilen aksiyon potansiyellerinin toplamını temsil eder ve klinik ortamda genellikle Sinir İleti Çalışmaları (Nerve Conduction Study-NCS) olarak adlandırılan15-60 dakikalık testler sırasında elde edilir.</a:t>
            </a:r>
          </a:p>
        </p:txBody>
      </p:sp>
    </p:spTree>
    <p:extLst>
      <p:ext uri="{BB962C8B-B14F-4D97-AF65-F5344CB8AC3E}">
        <p14:creationId xmlns:p14="http://schemas.microsoft.com/office/powerpoint/2010/main" val="4122599739"/>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3CC8D252-8044-458D-A776-6A5833FEFD2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18" name="Picture 17">
            <a:extLst>
              <a:ext uri="{FF2B5EF4-FFF2-40B4-BE49-F238E27FC236}">
                <a16:creationId xmlns:a16="http://schemas.microsoft.com/office/drawing/2014/main" id="{E884AA69-7728-499C-8FA7-A3FCA738EB7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20" name="Oval 19">
            <a:extLst>
              <a:ext uri="{FF2B5EF4-FFF2-40B4-BE49-F238E27FC236}">
                <a16:creationId xmlns:a16="http://schemas.microsoft.com/office/drawing/2014/main" id="{79760FB8-CC91-426C-9EF3-A58786866B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tr-TR"/>
          </a:p>
        </p:txBody>
      </p:sp>
      <p:pic>
        <p:nvPicPr>
          <p:cNvPr id="22" name="Picture 21">
            <a:extLst>
              <a:ext uri="{FF2B5EF4-FFF2-40B4-BE49-F238E27FC236}">
                <a16:creationId xmlns:a16="http://schemas.microsoft.com/office/drawing/2014/main" id="{CE274F2C-FBD9-4A60-B6A0-FB7532F599F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24" name="Picture 23">
            <a:extLst>
              <a:ext uri="{FF2B5EF4-FFF2-40B4-BE49-F238E27FC236}">
                <a16:creationId xmlns:a16="http://schemas.microsoft.com/office/drawing/2014/main" id="{D543DFE3-F007-48D9-A223-F7351802D47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26" name="Rectangle 25">
            <a:extLst>
              <a:ext uri="{FF2B5EF4-FFF2-40B4-BE49-F238E27FC236}">
                <a16:creationId xmlns:a16="http://schemas.microsoft.com/office/drawing/2014/main" id="{09E7EBD1-9868-4F2F-B4FF-A89B93CFB6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28" name="Rectangle 27">
            <a:extLst>
              <a:ext uri="{FF2B5EF4-FFF2-40B4-BE49-F238E27FC236}">
                <a16:creationId xmlns:a16="http://schemas.microsoft.com/office/drawing/2014/main" id="{B84B712E-6BBF-4241-BAB7-D7E064B173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D22F3D4E-E5F5-4623-B278-D7E30BEF9D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5458121" cy="5897880"/>
          </a:xfrm>
          <a:prstGeom prst="rect">
            <a:avLst/>
          </a:prstGeom>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çerik Yer Tutucusu 4">
            <a:extLst>
              <a:ext uri="{FF2B5EF4-FFF2-40B4-BE49-F238E27FC236}">
                <a16:creationId xmlns:a16="http://schemas.microsoft.com/office/drawing/2014/main" id="{6EFBB54A-2581-0A77-D16F-F1288CF7079C}"/>
              </a:ext>
            </a:extLst>
          </p:cNvPr>
          <p:cNvPicPr>
            <a:picLocks noGrp="1" noChangeAspect="1"/>
          </p:cNvPicPr>
          <p:nvPr>
            <p:ph idx="1"/>
          </p:nvPr>
        </p:nvPicPr>
        <p:blipFill>
          <a:blip r:embed="rId6">
            <a:extLst>
              <a:ext uri="{28A0092B-C50C-407E-A947-70E740481C1C}">
                <a14:useLocalDpi xmlns:a14="http://schemas.microsoft.com/office/drawing/2010/main" val="0"/>
              </a:ext>
            </a:extLst>
          </a:blip>
          <a:srcRect r="2264" b="-2"/>
          <a:stretch>
            <a:fillRect/>
          </a:stretch>
        </p:blipFill>
        <p:spPr>
          <a:xfrm>
            <a:off x="643467" y="1314783"/>
            <a:ext cx="5291666" cy="4228433"/>
          </a:xfrm>
          <a:prstGeom prst="rect">
            <a:avLst/>
          </a:prstGeom>
        </p:spPr>
      </p:pic>
      <p:sp useBgFill="1">
        <p:nvSpPr>
          <p:cNvPr id="32" name="Rectangle 31">
            <a:extLst>
              <a:ext uri="{FF2B5EF4-FFF2-40B4-BE49-F238E27FC236}">
                <a16:creationId xmlns:a16="http://schemas.microsoft.com/office/drawing/2014/main" id="{7B7F5E51-5BF8-4198-AD70-78D94F3A94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56866" y="474979"/>
            <a:ext cx="5458121" cy="5897880"/>
          </a:xfrm>
          <a:prstGeom prst="rect">
            <a:avLst/>
          </a:prstGeom>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Resim 10">
            <a:extLst>
              <a:ext uri="{FF2B5EF4-FFF2-40B4-BE49-F238E27FC236}">
                <a16:creationId xmlns:a16="http://schemas.microsoft.com/office/drawing/2014/main" id="{24B525FE-5998-3E10-A4B5-0D3BBE23065A}"/>
              </a:ext>
            </a:extLst>
          </p:cNvPr>
          <p:cNvPicPr>
            <a:picLocks noChangeAspect="1"/>
          </p:cNvPicPr>
          <p:nvPr/>
        </p:nvPicPr>
        <p:blipFill>
          <a:blip r:embed="rId7">
            <a:extLst>
              <a:ext uri="{28A0092B-C50C-407E-A947-70E740481C1C}">
                <a14:useLocalDpi xmlns:a14="http://schemas.microsoft.com/office/drawing/2010/main" val="0"/>
              </a:ext>
            </a:extLst>
          </a:blip>
          <a:srcRect l="8866" r="2688" b="2"/>
          <a:stretch>
            <a:fillRect/>
          </a:stretch>
        </p:blipFill>
        <p:spPr>
          <a:xfrm>
            <a:off x="6423321" y="1493711"/>
            <a:ext cx="5134516" cy="3860416"/>
          </a:xfrm>
          <a:prstGeom prst="rect">
            <a:avLst/>
          </a:prstGeom>
        </p:spPr>
      </p:pic>
    </p:spTree>
    <p:extLst>
      <p:ext uri="{BB962C8B-B14F-4D97-AF65-F5344CB8AC3E}">
        <p14:creationId xmlns:p14="http://schemas.microsoft.com/office/powerpoint/2010/main" val="188438138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08DBCCEF-4987-F359-FDE1-EE7946B54058}"/>
              </a:ext>
            </a:extLst>
          </p:cNvPr>
          <p:cNvSpPr>
            <a:spLocks noGrp="1"/>
          </p:cNvSpPr>
          <p:nvPr>
            <p:ph type="title"/>
          </p:nvPr>
        </p:nvSpPr>
        <p:spPr>
          <a:xfrm>
            <a:off x="648931" y="629266"/>
            <a:ext cx="4166510" cy="1622321"/>
          </a:xfrm>
        </p:spPr>
        <p:txBody>
          <a:bodyPr>
            <a:normAutofit/>
          </a:bodyPr>
          <a:lstStyle/>
          <a:p>
            <a:r>
              <a:rPr lang="tr-TR">
                <a:solidFill>
                  <a:srgbClr val="EBEBEB"/>
                </a:solidFill>
              </a:rPr>
              <a:t>ENG</a:t>
            </a:r>
          </a:p>
        </p:txBody>
      </p:sp>
      <p:sp>
        <p:nvSpPr>
          <p:cNvPr id="21"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23" name="Freeform: Shape 22">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tr-TR"/>
          </a:p>
        </p:txBody>
      </p:sp>
      <p:pic>
        <p:nvPicPr>
          <p:cNvPr id="9" name="Resim 8">
            <a:extLst>
              <a:ext uri="{FF2B5EF4-FFF2-40B4-BE49-F238E27FC236}">
                <a16:creationId xmlns:a16="http://schemas.microsoft.com/office/drawing/2014/main" id="{E6180A0E-3CC7-18EB-8147-042A905A6C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3992" y="1247444"/>
            <a:ext cx="5449889" cy="4363108"/>
          </a:xfrm>
          <a:prstGeom prst="rect">
            <a:avLst/>
          </a:prstGeom>
          <a:effectLst/>
        </p:spPr>
      </p:pic>
      <p:sp>
        <p:nvSpPr>
          <p:cNvPr id="25" name="Rectangle 24">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3" name="İçerik Yer Tutucusu 2">
            <a:extLst>
              <a:ext uri="{FF2B5EF4-FFF2-40B4-BE49-F238E27FC236}">
                <a16:creationId xmlns:a16="http://schemas.microsoft.com/office/drawing/2014/main" id="{11EC1C81-593E-0484-F340-9EA1FB85BAAB}"/>
              </a:ext>
            </a:extLst>
          </p:cNvPr>
          <p:cNvSpPr>
            <a:spLocks noGrp="1"/>
          </p:cNvSpPr>
          <p:nvPr>
            <p:ph idx="1"/>
          </p:nvPr>
        </p:nvSpPr>
        <p:spPr>
          <a:xfrm>
            <a:off x="648931" y="2438400"/>
            <a:ext cx="4166509" cy="3785419"/>
          </a:xfrm>
        </p:spPr>
        <p:txBody>
          <a:bodyPr>
            <a:normAutofit/>
          </a:bodyPr>
          <a:lstStyle/>
          <a:p>
            <a:pPr>
              <a:lnSpc>
                <a:spcPct val="90000"/>
              </a:lnSpc>
            </a:pPr>
            <a:r>
              <a:rPr lang="tr-TR" sz="1400">
                <a:solidFill>
                  <a:srgbClr val="EBEBEB"/>
                </a:solidFill>
              </a:rPr>
              <a:t>ENG işaretleri, bir sinir demetindeki çok sayıda aksonun senkronize şekilde uyarılmasıyla oluşur. Bu işarete Bileşik Sinir Aksiyon Potansiyeli (BSAP) Compound Nerve Action Potential (CNAP) denir.</a:t>
            </a:r>
          </a:p>
          <a:p>
            <a:pPr>
              <a:lnSpc>
                <a:spcPct val="90000"/>
              </a:lnSpc>
            </a:pPr>
            <a:r>
              <a:rPr lang="tr-TR" sz="1400" b="1">
                <a:solidFill>
                  <a:srgbClr val="EBEBEB"/>
                </a:solidFill>
              </a:rPr>
              <a:t>Genlik (Amplitude): </a:t>
            </a:r>
            <a:r>
              <a:rPr lang="tr-TR" sz="1400">
                <a:solidFill>
                  <a:srgbClr val="EBEBEB"/>
                </a:solidFill>
              </a:rPr>
              <a:t>Uyarılan ve yanıt veren aktif sinir liflerinin sayısını yansıtır. Genellikle mikrovolt veya milivolt mertebesindedir.</a:t>
            </a:r>
          </a:p>
          <a:p>
            <a:pPr>
              <a:lnSpc>
                <a:spcPct val="90000"/>
              </a:lnSpc>
            </a:pPr>
            <a:r>
              <a:rPr lang="tr-TR" sz="1400" b="1">
                <a:solidFill>
                  <a:srgbClr val="EBEBEB"/>
                </a:solidFill>
              </a:rPr>
              <a:t>Gecikme (Latency): </a:t>
            </a:r>
            <a:r>
              <a:rPr lang="tr-TR" sz="1400">
                <a:solidFill>
                  <a:srgbClr val="EBEBEB"/>
                </a:solidFill>
              </a:rPr>
              <a:t>Sinirin uyarıldığı an ile yanıtın başladığı an arasındaki süredir. Miyelin kılıfının durumunu ve iletim hızını gösterir.</a:t>
            </a:r>
          </a:p>
          <a:p>
            <a:pPr>
              <a:lnSpc>
                <a:spcPct val="90000"/>
              </a:lnSpc>
            </a:pPr>
            <a:r>
              <a:rPr lang="tr-TR" sz="1400" b="1">
                <a:solidFill>
                  <a:srgbClr val="EBEBEB"/>
                </a:solidFill>
              </a:rPr>
              <a:t>Süre (Duration): </a:t>
            </a:r>
            <a:r>
              <a:rPr lang="tr-TR" sz="1400">
                <a:solidFill>
                  <a:srgbClr val="EBEBEB"/>
                </a:solidFill>
              </a:rPr>
              <a:t>İşaretin başlangıcından bitişine kadar geçen süredir; sinir liflerinin iletim hızlarındaki farklılıklar (dispersiyon) arttıkça bu süre uzar.</a:t>
            </a:r>
          </a:p>
          <a:p>
            <a:pPr>
              <a:lnSpc>
                <a:spcPct val="90000"/>
              </a:lnSpc>
            </a:pPr>
            <a:endParaRPr lang="tr-TR" sz="1400">
              <a:solidFill>
                <a:srgbClr val="EBEBEB"/>
              </a:solidFill>
            </a:endParaRPr>
          </a:p>
        </p:txBody>
      </p:sp>
    </p:spTree>
    <p:extLst>
      <p:ext uri="{BB962C8B-B14F-4D97-AF65-F5344CB8AC3E}">
        <p14:creationId xmlns:p14="http://schemas.microsoft.com/office/powerpoint/2010/main" val="429443734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tr-TR"/>
          </a:p>
        </p:txBody>
      </p:sp>
      <p:sp>
        <p:nvSpPr>
          <p:cNvPr id="2" name="Başlık 1">
            <a:extLst>
              <a:ext uri="{FF2B5EF4-FFF2-40B4-BE49-F238E27FC236}">
                <a16:creationId xmlns:a16="http://schemas.microsoft.com/office/drawing/2014/main" id="{421ACE32-FDBF-8AA1-B4CF-C684092B3EB2}"/>
              </a:ext>
            </a:extLst>
          </p:cNvPr>
          <p:cNvSpPr>
            <a:spLocks noGrp="1"/>
          </p:cNvSpPr>
          <p:nvPr>
            <p:ph type="title"/>
          </p:nvPr>
        </p:nvSpPr>
        <p:spPr>
          <a:xfrm>
            <a:off x="1103312" y="452718"/>
            <a:ext cx="8947522" cy="1400530"/>
          </a:xfrm>
        </p:spPr>
        <p:txBody>
          <a:bodyPr anchor="ctr">
            <a:normAutofit/>
          </a:bodyPr>
          <a:lstStyle/>
          <a:p>
            <a:r>
              <a:rPr lang="tr-TR">
                <a:solidFill>
                  <a:srgbClr val="FFFFFF"/>
                </a:solidFill>
              </a:rPr>
              <a:t>Kayıt</a:t>
            </a:r>
          </a:p>
        </p:txBody>
      </p:sp>
      <p:sp>
        <p:nvSpPr>
          <p:cNvPr id="3" name="İçerik Yer Tutucusu 2">
            <a:extLst>
              <a:ext uri="{FF2B5EF4-FFF2-40B4-BE49-F238E27FC236}">
                <a16:creationId xmlns:a16="http://schemas.microsoft.com/office/drawing/2014/main" id="{4660B8B1-60FF-EF50-8491-61BE619D7A57}"/>
              </a:ext>
            </a:extLst>
          </p:cNvPr>
          <p:cNvSpPr>
            <a:spLocks noGrp="1"/>
          </p:cNvSpPr>
          <p:nvPr>
            <p:ph idx="1"/>
          </p:nvPr>
        </p:nvSpPr>
        <p:spPr>
          <a:xfrm>
            <a:off x="1103312" y="2763520"/>
            <a:ext cx="8946541" cy="3484879"/>
          </a:xfrm>
        </p:spPr>
        <p:txBody>
          <a:bodyPr>
            <a:normAutofit/>
          </a:bodyPr>
          <a:lstStyle/>
          <a:p>
            <a:r>
              <a:rPr lang="tr-TR" dirty="0"/>
              <a:t>ENG işaretleri iki temel yöntemle kaydedilebilir:</a:t>
            </a:r>
          </a:p>
          <a:p>
            <a:r>
              <a:rPr lang="tr-TR" b="1" dirty="0"/>
              <a:t>İnvaziv (İğne Elektrot):</a:t>
            </a:r>
            <a:r>
              <a:rPr lang="tr-TR" dirty="0"/>
              <a:t> Sinirin hemen yanına yerleştirilen ince iğne elektrotlar ile alınır. Sinyal-gürültü oranı yüksektir, çok küçük lif gruplarından kayıt alınabilir.</a:t>
            </a:r>
          </a:p>
          <a:p>
            <a:r>
              <a:rPr lang="tr-TR" b="1" dirty="0" err="1"/>
              <a:t>Non</a:t>
            </a:r>
            <a:r>
              <a:rPr lang="tr-TR" b="1" dirty="0"/>
              <a:t>-invaziv (</a:t>
            </a:r>
            <a:r>
              <a:rPr lang="tr-TR" b="1" dirty="0" err="1"/>
              <a:t>Yüzeyel</a:t>
            </a:r>
            <a:r>
              <a:rPr lang="tr-TR" b="1" dirty="0"/>
              <a:t> Elektrot):</a:t>
            </a:r>
            <a:r>
              <a:rPr lang="tr-TR" dirty="0"/>
              <a:t> Cilt üzerine yerleştirilen elektrotlarla alınır. Klinik uygulamalarda (EMG/ENG cihazları) en yaygın kullanılan yöntemdir. Ancak sinyal, doku ve deri direnci nedeniyle zayıflar.</a:t>
            </a:r>
          </a:p>
          <a:p>
            <a:endParaRPr lang="tr-TR" dirty="0"/>
          </a:p>
        </p:txBody>
      </p:sp>
    </p:spTree>
    <p:extLst>
      <p:ext uri="{BB962C8B-B14F-4D97-AF65-F5344CB8AC3E}">
        <p14:creationId xmlns:p14="http://schemas.microsoft.com/office/powerpoint/2010/main" val="582125097"/>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tr-TR"/>
          </a:p>
        </p:txBody>
      </p:sp>
      <p:sp>
        <p:nvSpPr>
          <p:cNvPr id="2" name="Başlık 1">
            <a:extLst>
              <a:ext uri="{FF2B5EF4-FFF2-40B4-BE49-F238E27FC236}">
                <a16:creationId xmlns:a16="http://schemas.microsoft.com/office/drawing/2014/main" id="{5CB0DCEC-DE1E-AC20-FDEA-BB1D0CF87D9B}"/>
              </a:ext>
            </a:extLst>
          </p:cNvPr>
          <p:cNvSpPr>
            <a:spLocks noGrp="1"/>
          </p:cNvSpPr>
          <p:nvPr>
            <p:ph type="title"/>
          </p:nvPr>
        </p:nvSpPr>
        <p:spPr>
          <a:xfrm>
            <a:off x="1103312" y="452718"/>
            <a:ext cx="8947522" cy="1400530"/>
          </a:xfrm>
        </p:spPr>
        <p:txBody>
          <a:bodyPr anchor="ctr">
            <a:normAutofit/>
          </a:bodyPr>
          <a:lstStyle/>
          <a:p>
            <a:r>
              <a:rPr lang="da-DK">
                <a:solidFill>
                  <a:srgbClr val="FFFFFF"/>
                </a:solidFill>
              </a:rPr>
              <a:t>Temel Parametreler ve Klinik Önemi</a:t>
            </a:r>
            <a:endParaRPr lang="tr-TR">
              <a:solidFill>
                <a:srgbClr val="FFFFFF"/>
              </a:solidFill>
            </a:endParaRPr>
          </a:p>
        </p:txBody>
      </p:sp>
      <p:sp>
        <p:nvSpPr>
          <p:cNvPr id="3" name="İçerik Yer Tutucusu 2">
            <a:extLst>
              <a:ext uri="{FF2B5EF4-FFF2-40B4-BE49-F238E27FC236}">
                <a16:creationId xmlns:a16="http://schemas.microsoft.com/office/drawing/2014/main" id="{6D88B627-0BE1-41E2-9AEF-A4E9C156EB47}"/>
              </a:ext>
            </a:extLst>
          </p:cNvPr>
          <p:cNvSpPr>
            <a:spLocks noGrp="1"/>
          </p:cNvSpPr>
          <p:nvPr>
            <p:ph idx="1"/>
          </p:nvPr>
        </p:nvSpPr>
        <p:spPr>
          <a:xfrm>
            <a:off x="1103312" y="2763520"/>
            <a:ext cx="8946541" cy="3484879"/>
          </a:xfrm>
        </p:spPr>
        <p:txBody>
          <a:bodyPr>
            <a:normAutofit/>
          </a:bodyPr>
          <a:lstStyle/>
          <a:p>
            <a:r>
              <a:rPr lang="tr-TR" dirty="0"/>
              <a:t>Bir ENG işareti analiz edilirken şu üç temel veriye odaklanılır:</a:t>
            </a:r>
          </a:p>
          <a:p>
            <a:r>
              <a:rPr lang="tr-TR" b="1" dirty="0"/>
              <a:t>Sinir İletim Hızı (SİH): Hız=Yol/Zaman </a:t>
            </a:r>
            <a:r>
              <a:rPr lang="tr-TR" dirty="0"/>
              <a:t>Sağlıklı bir insanda motor sinir iletim hızı genellikle 50-60 m/s civarındadır.</a:t>
            </a:r>
          </a:p>
          <a:p>
            <a:r>
              <a:rPr lang="tr-TR" b="1" dirty="0"/>
              <a:t>Duyu İletim Potansiyeli (SNAP): </a:t>
            </a:r>
            <a:r>
              <a:rPr lang="tr-TR" dirty="0"/>
              <a:t>Sadece duyusal sinirlerin uyarılmasıyla elde edilir. Genlikleri motor yanıtlara göre çok daha düşüktür. </a:t>
            </a:r>
          </a:p>
          <a:p>
            <a:r>
              <a:rPr lang="tr-TR" b="1" dirty="0"/>
              <a:t>Motor Yanıt (CMAP):</a:t>
            </a:r>
            <a:r>
              <a:rPr lang="tr-TR" dirty="0"/>
              <a:t> Sinir uyarıldığında kas liflerinde oluşan toplam elektriksel aktivitedir.</a:t>
            </a:r>
          </a:p>
          <a:p>
            <a:endParaRPr lang="tr-TR" dirty="0"/>
          </a:p>
        </p:txBody>
      </p:sp>
    </p:spTree>
    <p:extLst>
      <p:ext uri="{BB962C8B-B14F-4D97-AF65-F5344CB8AC3E}">
        <p14:creationId xmlns:p14="http://schemas.microsoft.com/office/powerpoint/2010/main" val="1366174187"/>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4CD14DB-BB81-479F-A1FC-1C75640E9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0" name="Rectangle 9">
            <a:extLst>
              <a:ext uri="{FF2B5EF4-FFF2-40B4-BE49-F238E27FC236}">
                <a16:creationId xmlns:a16="http://schemas.microsoft.com/office/drawing/2014/main" id="{C943A91B-7CA7-4592-A975-73B1BF8C4C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tr-TR"/>
          </a:p>
        </p:txBody>
      </p:sp>
      <p:sp>
        <p:nvSpPr>
          <p:cNvPr id="12" name="Freeform 7">
            <a:extLst>
              <a:ext uri="{FF2B5EF4-FFF2-40B4-BE49-F238E27FC236}">
                <a16:creationId xmlns:a16="http://schemas.microsoft.com/office/drawing/2014/main" id="{EC471314-E46A-414B-8D91-74880E84F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19939" y="1460230"/>
            <a:ext cx="3472060" cy="825932"/>
          </a:xfrm>
          <a:custGeom>
            <a:avLst/>
            <a:gdLst>
              <a:gd name="connsiteX0" fmla="*/ 3470310 w 3472060"/>
              <a:gd name="connsiteY0" fmla="*/ 0 h 825932"/>
              <a:gd name="connsiteX1" fmla="*/ 3472060 w 3472060"/>
              <a:gd name="connsiteY1" fmla="*/ 12850 h 825932"/>
              <a:gd name="connsiteX2" fmla="*/ 3472060 w 3472060"/>
              <a:gd name="connsiteY2" fmla="*/ 480529 h 825932"/>
              <a:gd name="connsiteX3" fmla="*/ 3363699 w 3472060"/>
              <a:gd name="connsiteY3" fmla="*/ 498471 h 825932"/>
              <a:gd name="connsiteX4" fmla="*/ 42060 w 3472060"/>
              <a:gd name="connsiteY4" fmla="*/ 824486 h 825932"/>
              <a:gd name="connsiteX5" fmla="*/ 0 w 3472060"/>
              <a:gd name="connsiteY5" fmla="*/ 758452 h 825932"/>
              <a:gd name="connsiteX6" fmla="*/ 188014 w 3472060"/>
              <a:gd name="connsiteY6" fmla="*/ 735602 h 825932"/>
              <a:gd name="connsiteX7" fmla="*/ 284087 w 3472060"/>
              <a:gd name="connsiteY7" fmla="*/ 722590 h 825932"/>
              <a:gd name="connsiteX8" fmla="*/ 382288 w 3472060"/>
              <a:gd name="connsiteY8" fmla="*/ 709392 h 825932"/>
              <a:gd name="connsiteX9" fmla="*/ 481858 w 3472060"/>
              <a:gd name="connsiteY9" fmla="*/ 695774 h 825932"/>
              <a:gd name="connsiteX10" fmla="*/ 581897 w 3472060"/>
              <a:gd name="connsiteY10" fmla="*/ 680711 h 825932"/>
              <a:gd name="connsiteX11" fmla="*/ 683670 w 3472060"/>
              <a:gd name="connsiteY11" fmla="*/ 665256 h 825932"/>
              <a:gd name="connsiteX12" fmla="*/ 787206 w 3472060"/>
              <a:gd name="connsiteY12" fmla="*/ 649587 h 825932"/>
              <a:gd name="connsiteX13" fmla="*/ 892019 w 3472060"/>
              <a:gd name="connsiteY13" fmla="*/ 632968 h 825932"/>
              <a:gd name="connsiteX14" fmla="*/ 997620 w 3472060"/>
              <a:gd name="connsiteY14" fmla="*/ 614667 h 825932"/>
              <a:gd name="connsiteX15" fmla="*/ 1104727 w 3472060"/>
              <a:gd name="connsiteY15" fmla="*/ 596741 h 825932"/>
              <a:gd name="connsiteX16" fmla="*/ 1212669 w 3472060"/>
              <a:gd name="connsiteY16" fmla="*/ 577397 h 825932"/>
              <a:gd name="connsiteX17" fmla="*/ 1321506 w 3472060"/>
              <a:gd name="connsiteY17" fmla="*/ 556988 h 825932"/>
              <a:gd name="connsiteX18" fmla="*/ 1430709 w 3472060"/>
              <a:gd name="connsiteY18" fmla="*/ 536607 h 825932"/>
              <a:gd name="connsiteX19" fmla="*/ 1541050 w 3472060"/>
              <a:gd name="connsiteY19" fmla="*/ 514481 h 825932"/>
              <a:gd name="connsiteX20" fmla="*/ 1652805 w 3472060"/>
              <a:gd name="connsiteY20" fmla="*/ 492202 h 825932"/>
              <a:gd name="connsiteX21" fmla="*/ 1763708 w 3472060"/>
              <a:gd name="connsiteY21" fmla="*/ 469161 h 825932"/>
              <a:gd name="connsiteX22" fmla="*/ 1875795 w 3472060"/>
              <a:gd name="connsiteY22" fmla="*/ 444641 h 825932"/>
              <a:gd name="connsiteX23" fmla="*/ 1989128 w 3472060"/>
              <a:gd name="connsiteY23" fmla="*/ 418995 h 825932"/>
              <a:gd name="connsiteX24" fmla="*/ 2102476 w 3472060"/>
              <a:gd name="connsiteY24" fmla="*/ 393438 h 825932"/>
              <a:gd name="connsiteX25" fmla="*/ 2215549 w 3472060"/>
              <a:gd name="connsiteY25" fmla="*/ 366291 h 825932"/>
              <a:gd name="connsiteX26" fmla="*/ 2330490 w 3472060"/>
              <a:gd name="connsiteY26" fmla="*/ 337455 h 825932"/>
              <a:gd name="connsiteX27" fmla="*/ 2443333 w 3472060"/>
              <a:gd name="connsiteY27" fmla="*/ 308983 h 825932"/>
              <a:gd name="connsiteX28" fmla="*/ 2558014 w 3472060"/>
              <a:gd name="connsiteY28" fmla="*/ 278646 h 825932"/>
              <a:gd name="connsiteX29" fmla="*/ 2673621 w 3472060"/>
              <a:gd name="connsiteY29" fmla="*/ 247421 h 825932"/>
              <a:gd name="connsiteX30" fmla="*/ 2787008 w 3472060"/>
              <a:gd name="connsiteY30" fmla="*/ 215853 h 825932"/>
              <a:gd name="connsiteX31" fmla="*/ 2901442 w 3472060"/>
              <a:gd name="connsiteY31" fmla="*/ 182011 h 825932"/>
              <a:gd name="connsiteX32" fmla="*/ 3015722 w 3472060"/>
              <a:gd name="connsiteY32" fmla="*/ 147286 h 825932"/>
              <a:gd name="connsiteX33" fmla="*/ 3130018 w 3472060"/>
              <a:gd name="connsiteY33" fmla="*/ 112649 h 825932"/>
              <a:gd name="connsiteX34" fmla="*/ 3243551 w 3472060"/>
              <a:gd name="connsiteY34" fmla="*/ 75688 h 825932"/>
              <a:gd name="connsiteX35" fmla="*/ 3356992 w 3472060"/>
              <a:gd name="connsiteY35" fmla="*/ 38197 h 825932"/>
              <a:gd name="connsiteX36" fmla="*/ 3470310 w 3472060"/>
              <a:gd name="connsiteY36" fmla="*/ 0 h 825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3472060" h="825932">
                <a:moveTo>
                  <a:pt x="3470310" y="0"/>
                </a:moveTo>
                <a:lnTo>
                  <a:pt x="3472060" y="12850"/>
                </a:lnTo>
                <a:lnTo>
                  <a:pt x="3472060" y="480529"/>
                </a:lnTo>
                <a:lnTo>
                  <a:pt x="3363699" y="498471"/>
                </a:lnTo>
                <a:cubicBezTo>
                  <a:pt x="2435623" y="645518"/>
                  <a:pt x="603076" y="844866"/>
                  <a:pt x="42060" y="824486"/>
                </a:cubicBezTo>
                <a:cubicBezTo>
                  <a:pt x="28151" y="802425"/>
                  <a:pt x="13909" y="780513"/>
                  <a:pt x="0" y="758452"/>
                </a:cubicBezTo>
                <a:lnTo>
                  <a:pt x="188014" y="735602"/>
                </a:lnTo>
                <a:lnTo>
                  <a:pt x="284087" y="722590"/>
                </a:lnTo>
                <a:lnTo>
                  <a:pt x="382288" y="709392"/>
                </a:lnTo>
                <a:lnTo>
                  <a:pt x="481858" y="695774"/>
                </a:lnTo>
                <a:lnTo>
                  <a:pt x="581897" y="680711"/>
                </a:lnTo>
                <a:lnTo>
                  <a:pt x="683670" y="665256"/>
                </a:lnTo>
                <a:lnTo>
                  <a:pt x="787206" y="649587"/>
                </a:lnTo>
                <a:lnTo>
                  <a:pt x="892019" y="632968"/>
                </a:lnTo>
                <a:lnTo>
                  <a:pt x="997620" y="614667"/>
                </a:lnTo>
                <a:lnTo>
                  <a:pt x="1104727" y="596741"/>
                </a:lnTo>
                <a:lnTo>
                  <a:pt x="1212669" y="577397"/>
                </a:lnTo>
                <a:lnTo>
                  <a:pt x="1321506" y="556988"/>
                </a:lnTo>
                <a:lnTo>
                  <a:pt x="1430709" y="536607"/>
                </a:lnTo>
                <a:lnTo>
                  <a:pt x="1541050" y="514481"/>
                </a:lnTo>
                <a:lnTo>
                  <a:pt x="1652805" y="492202"/>
                </a:lnTo>
                <a:lnTo>
                  <a:pt x="1763708" y="469161"/>
                </a:lnTo>
                <a:lnTo>
                  <a:pt x="1875795" y="444641"/>
                </a:lnTo>
                <a:lnTo>
                  <a:pt x="1989128" y="418995"/>
                </a:lnTo>
                <a:lnTo>
                  <a:pt x="2102476" y="393438"/>
                </a:lnTo>
                <a:lnTo>
                  <a:pt x="2215549" y="366291"/>
                </a:lnTo>
                <a:lnTo>
                  <a:pt x="2330490" y="337455"/>
                </a:lnTo>
                <a:lnTo>
                  <a:pt x="2443333" y="308983"/>
                </a:lnTo>
                <a:lnTo>
                  <a:pt x="2558014" y="278646"/>
                </a:lnTo>
                <a:lnTo>
                  <a:pt x="2673621" y="247421"/>
                </a:lnTo>
                <a:lnTo>
                  <a:pt x="2787008" y="215853"/>
                </a:lnTo>
                <a:lnTo>
                  <a:pt x="2901442" y="182011"/>
                </a:lnTo>
                <a:lnTo>
                  <a:pt x="3015722" y="147286"/>
                </a:lnTo>
                <a:lnTo>
                  <a:pt x="3130018" y="112649"/>
                </a:lnTo>
                <a:lnTo>
                  <a:pt x="3243551" y="75688"/>
                </a:lnTo>
                <a:lnTo>
                  <a:pt x="3356992" y="38197"/>
                </a:lnTo>
                <a:lnTo>
                  <a:pt x="3470310" y="0"/>
                </a:lnTo>
                <a:close/>
              </a:path>
            </a:pathLst>
          </a:custGeom>
          <a:solidFill>
            <a:schemeClr val="bg1">
              <a:alpha val="20000"/>
            </a:schemeClr>
          </a:solidFill>
          <a:ln>
            <a:noFill/>
          </a:ln>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entury Gothic" panose="020B0502020202020204"/>
              <a:ea typeface="+mn-ea"/>
              <a:cs typeface="+mn-cs"/>
            </a:endParaRPr>
          </a:p>
        </p:txBody>
      </p:sp>
      <p:sp useBgFill="1">
        <p:nvSpPr>
          <p:cNvPr id="14" name="Freeform: Shape 13">
            <a:extLst>
              <a:ext uri="{FF2B5EF4-FFF2-40B4-BE49-F238E27FC236}">
                <a16:creationId xmlns:a16="http://schemas.microsoft.com/office/drawing/2014/main" id="{6A681326-1C9D-44A3-A627-3871BDAE4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 y="1762067"/>
            <a:ext cx="12192417" cy="5095933"/>
          </a:xfrm>
          <a:custGeom>
            <a:avLst/>
            <a:gdLst>
              <a:gd name="connsiteX0" fmla="*/ 0 w 12192417"/>
              <a:gd name="connsiteY0" fmla="*/ 0 h 5095933"/>
              <a:gd name="connsiteX1" fmla="*/ 71931 w 12192417"/>
              <a:gd name="connsiteY1" fmla="*/ 12261 h 5095933"/>
              <a:gd name="connsiteX2" fmla="*/ 282848 w 12192417"/>
              <a:gd name="connsiteY2" fmla="*/ 48343 h 5095933"/>
              <a:gd name="connsiteX3" fmla="*/ 436463 w 12192417"/>
              <a:gd name="connsiteY3" fmla="*/ 73565 h 5095933"/>
              <a:gd name="connsiteX4" fmla="*/ 619338 w 12192417"/>
              <a:gd name="connsiteY4" fmla="*/ 100188 h 5095933"/>
              <a:gd name="connsiteX5" fmla="*/ 836350 w 12192417"/>
              <a:gd name="connsiteY5" fmla="*/ 132066 h 5095933"/>
              <a:gd name="connsiteX6" fmla="*/ 1076527 w 12192417"/>
              <a:gd name="connsiteY6" fmla="*/ 165696 h 5095933"/>
              <a:gd name="connsiteX7" fmla="*/ 1347183 w 12192417"/>
              <a:gd name="connsiteY7" fmla="*/ 201077 h 5095933"/>
              <a:gd name="connsiteX8" fmla="*/ 1642222 w 12192417"/>
              <a:gd name="connsiteY8" fmla="*/ 238560 h 5095933"/>
              <a:gd name="connsiteX9" fmla="*/ 1962863 w 12192417"/>
              <a:gd name="connsiteY9" fmla="*/ 276043 h 5095933"/>
              <a:gd name="connsiteX10" fmla="*/ 2304231 w 12192417"/>
              <a:gd name="connsiteY10" fmla="*/ 314227 h 5095933"/>
              <a:gd name="connsiteX11" fmla="*/ 2672420 w 12192417"/>
              <a:gd name="connsiteY11" fmla="*/ 349608 h 5095933"/>
              <a:gd name="connsiteX12" fmla="*/ 3057677 w 12192417"/>
              <a:gd name="connsiteY12" fmla="*/ 383588 h 5095933"/>
              <a:gd name="connsiteX13" fmla="*/ 3464880 w 12192417"/>
              <a:gd name="connsiteY13" fmla="*/ 414415 h 5095933"/>
              <a:gd name="connsiteX14" fmla="*/ 3889151 w 12192417"/>
              <a:gd name="connsiteY14" fmla="*/ 443841 h 5095933"/>
              <a:gd name="connsiteX15" fmla="*/ 4331709 w 12192417"/>
              <a:gd name="connsiteY15" fmla="*/ 471515 h 5095933"/>
              <a:gd name="connsiteX16" fmla="*/ 4558475 w 12192417"/>
              <a:gd name="connsiteY16" fmla="*/ 481324 h 5095933"/>
              <a:gd name="connsiteX17" fmla="*/ 4790117 w 12192417"/>
              <a:gd name="connsiteY17" fmla="*/ 492183 h 5095933"/>
              <a:gd name="connsiteX18" fmla="*/ 5025417 w 12192417"/>
              <a:gd name="connsiteY18" fmla="*/ 502342 h 5095933"/>
              <a:gd name="connsiteX19" fmla="*/ 5261936 w 12192417"/>
              <a:gd name="connsiteY19" fmla="*/ 508998 h 5095933"/>
              <a:gd name="connsiteX20" fmla="*/ 5503331 w 12192417"/>
              <a:gd name="connsiteY20" fmla="*/ 514953 h 5095933"/>
              <a:gd name="connsiteX21" fmla="*/ 5747166 w 12192417"/>
              <a:gd name="connsiteY21" fmla="*/ 521259 h 5095933"/>
              <a:gd name="connsiteX22" fmla="*/ 5995876 w 12192417"/>
              <a:gd name="connsiteY22" fmla="*/ 525463 h 5095933"/>
              <a:gd name="connsiteX23" fmla="*/ 6247025 w 12192417"/>
              <a:gd name="connsiteY23" fmla="*/ 525463 h 5095933"/>
              <a:gd name="connsiteX24" fmla="*/ 6500612 w 12192417"/>
              <a:gd name="connsiteY24" fmla="*/ 527565 h 5095933"/>
              <a:gd name="connsiteX25" fmla="*/ 6756638 w 12192417"/>
              <a:gd name="connsiteY25" fmla="*/ 525463 h 5095933"/>
              <a:gd name="connsiteX26" fmla="*/ 7016321 w 12192417"/>
              <a:gd name="connsiteY26" fmla="*/ 521259 h 5095933"/>
              <a:gd name="connsiteX27" fmla="*/ 7276004 w 12192417"/>
              <a:gd name="connsiteY27" fmla="*/ 517406 h 5095933"/>
              <a:gd name="connsiteX28" fmla="*/ 7539344 w 12192417"/>
              <a:gd name="connsiteY28" fmla="*/ 508998 h 5095933"/>
              <a:gd name="connsiteX29" fmla="*/ 7805123 w 12192417"/>
              <a:gd name="connsiteY29" fmla="*/ 500241 h 5095933"/>
              <a:gd name="connsiteX30" fmla="*/ 8070902 w 12192417"/>
              <a:gd name="connsiteY30" fmla="*/ 490082 h 5095933"/>
              <a:gd name="connsiteX31" fmla="*/ 8339120 w 12192417"/>
              <a:gd name="connsiteY31" fmla="*/ 475719 h 5095933"/>
              <a:gd name="connsiteX32" fmla="*/ 8609775 w 12192417"/>
              <a:gd name="connsiteY32" fmla="*/ 458554 h 5095933"/>
              <a:gd name="connsiteX33" fmla="*/ 8881650 w 12192417"/>
              <a:gd name="connsiteY33" fmla="*/ 442089 h 5095933"/>
              <a:gd name="connsiteX34" fmla="*/ 9153525 w 12192417"/>
              <a:gd name="connsiteY34" fmla="*/ 421071 h 5095933"/>
              <a:gd name="connsiteX35" fmla="*/ 9429057 w 12192417"/>
              <a:gd name="connsiteY35" fmla="*/ 395849 h 5095933"/>
              <a:gd name="connsiteX36" fmla="*/ 9700932 w 12192417"/>
              <a:gd name="connsiteY36" fmla="*/ 370626 h 5095933"/>
              <a:gd name="connsiteX37" fmla="*/ 9977683 w 12192417"/>
              <a:gd name="connsiteY37" fmla="*/ 341551 h 5095933"/>
              <a:gd name="connsiteX38" fmla="*/ 10255654 w 12192417"/>
              <a:gd name="connsiteY38" fmla="*/ 309673 h 5095933"/>
              <a:gd name="connsiteX39" fmla="*/ 10529967 w 12192417"/>
              <a:gd name="connsiteY39" fmla="*/ 276043 h 5095933"/>
              <a:gd name="connsiteX40" fmla="*/ 10807938 w 12192417"/>
              <a:gd name="connsiteY40" fmla="*/ 236809 h 5095933"/>
              <a:gd name="connsiteX41" fmla="*/ 11084689 w 12192417"/>
              <a:gd name="connsiteY41" fmla="*/ 194772 h 5095933"/>
              <a:gd name="connsiteX42" fmla="*/ 11362660 w 12192417"/>
              <a:gd name="connsiteY42" fmla="*/ 153085 h 5095933"/>
              <a:gd name="connsiteX43" fmla="*/ 11639411 w 12192417"/>
              <a:gd name="connsiteY43" fmla="*/ 104392 h 5095933"/>
              <a:gd name="connsiteX44" fmla="*/ 11914944 w 12192417"/>
              <a:gd name="connsiteY44" fmla="*/ 54648 h 5095933"/>
              <a:gd name="connsiteX45" fmla="*/ 12191695 w 12192417"/>
              <a:gd name="connsiteY45" fmla="*/ 2452 h 5095933"/>
              <a:gd name="connsiteX46" fmla="*/ 12191695 w 12192417"/>
              <a:gd name="connsiteY46" fmla="*/ 2162231 h 5095933"/>
              <a:gd name="connsiteX47" fmla="*/ 12192417 w 12192417"/>
              <a:gd name="connsiteY47" fmla="*/ 2162231 h 5095933"/>
              <a:gd name="connsiteX48" fmla="*/ 12192417 w 12192417"/>
              <a:gd name="connsiteY48" fmla="*/ 5095933 h 5095933"/>
              <a:gd name="connsiteX49" fmla="*/ 0 w 12192417"/>
              <a:gd name="connsiteY49" fmla="*/ 5095933 h 5095933"/>
              <a:gd name="connsiteX50" fmla="*/ 0 w 12192417"/>
              <a:gd name="connsiteY50" fmla="*/ 2791958 h 5095933"/>
              <a:gd name="connsiteX51" fmla="*/ 0 w 12192417"/>
              <a:gd name="connsiteY51" fmla="*/ 2162231 h 5095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192417" h="5095933">
                <a:moveTo>
                  <a:pt x="0" y="0"/>
                </a:moveTo>
                <a:lnTo>
                  <a:pt x="71931" y="12261"/>
                </a:lnTo>
                <a:lnTo>
                  <a:pt x="282848" y="48343"/>
                </a:lnTo>
                <a:lnTo>
                  <a:pt x="436463" y="73565"/>
                </a:lnTo>
                <a:lnTo>
                  <a:pt x="619338" y="100188"/>
                </a:lnTo>
                <a:lnTo>
                  <a:pt x="836350" y="132066"/>
                </a:lnTo>
                <a:lnTo>
                  <a:pt x="1076527" y="165696"/>
                </a:lnTo>
                <a:lnTo>
                  <a:pt x="1347183" y="201077"/>
                </a:lnTo>
                <a:lnTo>
                  <a:pt x="1642222" y="238560"/>
                </a:lnTo>
                <a:lnTo>
                  <a:pt x="1962863" y="276043"/>
                </a:lnTo>
                <a:lnTo>
                  <a:pt x="2304231" y="314227"/>
                </a:lnTo>
                <a:lnTo>
                  <a:pt x="2672420" y="349608"/>
                </a:lnTo>
                <a:lnTo>
                  <a:pt x="3057677" y="383588"/>
                </a:lnTo>
                <a:lnTo>
                  <a:pt x="3464880" y="414415"/>
                </a:lnTo>
                <a:lnTo>
                  <a:pt x="3889151" y="443841"/>
                </a:lnTo>
                <a:lnTo>
                  <a:pt x="4331709" y="471515"/>
                </a:lnTo>
                <a:lnTo>
                  <a:pt x="4558475" y="481324"/>
                </a:lnTo>
                <a:lnTo>
                  <a:pt x="4790117" y="492183"/>
                </a:lnTo>
                <a:lnTo>
                  <a:pt x="5025417" y="502342"/>
                </a:lnTo>
                <a:lnTo>
                  <a:pt x="5261936" y="508998"/>
                </a:lnTo>
                <a:lnTo>
                  <a:pt x="5503331" y="514953"/>
                </a:lnTo>
                <a:lnTo>
                  <a:pt x="5747166" y="521259"/>
                </a:lnTo>
                <a:lnTo>
                  <a:pt x="5995876" y="525463"/>
                </a:lnTo>
                <a:lnTo>
                  <a:pt x="6247025" y="525463"/>
                </a:lnTo>
                <a:lnTo>
                  <a:pt x="6500612" y="527565"/>
                </a:lnTo>
                <a:lnTo>
                  <a:pt x="6756638" y="525463"/>
                </a:lnTo>
                <a:lnTo>
                  <a:pt x="7016321" y="521259"/>
                </a:lnTo>
                <a:lnTo>
                  <a:pt x="7276004" y="517406"/>
                </a:lnTo>
                <a:lnTo>
                  <a:pt x="7539344" y="508998"/>
                </a:lnTo>
                <a:lnTo>
                  <a:pt x="7805123" y="500241"/>
                </a:lnTo>
                <a:lnTo>
                  <a:pt x="8070902" y="490082"/>
                </a:lnTo>
                <a:lnTo>
                  <a:pt x="8339120" y="475719"/>
                </a:lnTo>
                <a:lnTo>
                  <a:pt x="8609775" y="458554"/>
                </a:lnTo>
                <a:lnTo>
                  <a:pt x="8881650" y="442089"/>
                </a:lnTo>
                <a:lnTo>
                  <a:pt x="9153525" y="421071"/>
                </a:lnTo>
                <a:lnTo>
                  <a:pt x="9429057" y="395849"/>
                </a:lnTo>
                <a:lnTo>
                  <a:pt x="9700932" y="370626"/>
                </a:lnTo>
                <a:lnTo>
                  <a:pt x="9977683" y="341551"/>
                </a:lnTo>
                <a:lnTo>
                  <a:pt x="10255654" y="309673"/>
                </a:lnTo>
                <a:lnTo>
                  <a:pt x="10529967" y="276043"/>
                </a:lnTo>
                <a:lnTo>
                  <a:pt x="10807938" y="236809"/>
                </a:lnTo>
                <a:lnTo>
                  <a:pt x="11084689" y="194772"/>
                </a:lnTo>
                <a:lnTo>
                  <a:pt x="11362660" y="153085"/>
                </a:lnTo>
                <a:lnTo>
                  <a:pt x="11639411" y="104392"/>
                </a:lnTo>
                <a:lnTo>
                  <a:pt x="11914944" y="54648"/>
                </a:lnTo>
                <a:lnTo>
                  <a:pt x="12191695" y="2452"/>
                </a:lnTo>
                <a:lnTo>
                  <a:pt x="12191695" y="2162231"/>
                </a:lnTo>
                <a:lnTo>
                  <a:pt x="12192417" y="2162231"/>
                </a:lnTo>
                <a:lnTo>
                  <a:pt x="12192417" y="5095933"/>
                </a:lnTo>
                <a:lnTo>
                  <a:pt x="0" y="5095933"/>
                </a:lnTo>
                <a:lnTo>
                  <a:pt x="0" y="2791958"/>
                </a:lnTo>
                <a:lnTo>
                  <a:pt x="0" y="2162231"/>
                </a:lnTo>
                <a:close/>
              </a:path>
            </a:pathLst>
          </a:custGeom>
          <a:ln>
            <a:noFill/>
          </a:ln>
        </p:spPr>
        <p:txBody>
          <a:bodyPr/>
          <a:lstStyle/>
          <a:p>
            <a:endParaRPr lang="tr-TR"/>
          </a:p>
        </p:txBody>
      </p:sp>
      <p:sp>
        <p:nvSpPr>
          <p:cNvPr id="2" name="Başlık 1">
            <a:extLst>
              <a:ext uri="{FF2B5EF4-FFF2-40B4-BE49-F238E27FC236}">
                <a16:creationId xmlns:a16="http://schemas.microsoft.com/office/drawing/2014/main" id="{BBECE7EE-AA4C-2F22-15ED-C003EBA64F53}"/>
              </a:ext>
            </a:extLst>
          </p:cNvPr>
          <p:cNvSpPr>
            <a:spLocks noGrp="1"/>
          </p:cNvSpPr>
          <p:nvPr>
            <p:ph type="title"/>
          </p:nvPr>
        </p:nvSpPr>
        <p:spPr>
          <a:xfrm>
            <a:off x="1103312" y="452718"/>
            <a:ext cx="8947522" cy="1400530"/>
          </a:xfrm>
        </p:spPr>
        <p:txBody>
          <a:bodyPr anchor="ctr">
            <a:normAutofit/>
          </a:bodyPr>
          <a:lstStyle/>
          <a:p>
            <a:r>
              <a:rPr lang="tr-TR">
                <a:solidFill>
                  <a:srgbClr val="FFFFFF"/>
                </a:solidFill>
              </a:rPr>
              <a:t>Klinik Önemi</a:t>
            </a:r>
          </a:p>
        </p:txBody>
      </p:sp>
      <p:sp>
        <p:nvSpPr>
          <p:cNvPr id="3" name="İçerik Yer Tutucusu 2">
            <a:extLst>
              <a:ext uri="{FF2B5EF4-FFF2-40B4-BE49-F238E27FC236}">
                <a16:creationId xmlns:a16="http://schemas.microsoft.com/office/drawing/2014/main" id="{9353945B-C4B1-F5E2-5976-F0EA51BC63F6}"/>
              </a:ext>
            </a:extLst>
          </p:cNvPr>
          <p:cNvSpPr>
            <a:spLocks noGrp="1"/>
          </p:cNvSpPr>
          <p:nvPr>
            <p:ph idx="1"/>
          </p:nvPr>
        </p:nvSpPr>
        <p:spPr>
          <a:xfrm>
            <a:off x="1103312" y="2763520"/>
            <a:ext cx="8946541" cy="3484879"/>
          </a:xfrm>
        </p:spPr>
        <p:txBody>
          <a:bodyPr>
            <a:normAutofit/>
          </a:bodyPr>
          <a:lstStyle/>
          <a:p>
            <a:pPr>
              <a:lnSpc>
                <a:spcPct val="90000"/>
              </a:lnSpc>
            </a:pPr>
            <a:r>
              <a:rPr lang="tr-TR" dirty="0" err="1"/>
              <a:t>Elektronörogram</a:t>
            </a:r>
            <a:r>
              <a:rPr lang="tr-TR" dirty="0"/>
              <a:t> işaretlerindeki bozulmalar, sinir sistemindeki hasarın türünü belirlemeye yardımcı olur:</a:t>
            </a:r>
            <a:endParaRPr lang="tr-TR"/>
          </a:p>
          <a:p>
            <a:pPr>
              <a:lnSpc>
                <a:spcPct val="90000"/>
              </a:lnSpc>
            </a:pPr>
            <a:r>
              <a:rPr lang="tr-TR" b="1" dirty="0" err="1"/>
              <a:t>Demiyelinizasyon</a:t>
            </a:r>
            <a:r>
              <a:rPr lang="tr-TR" b="1" dirty="0"/>
              <a:t> (</a:t>
            </a:r>
            <a:r>
              <a:rPr lang="tr-TR" b="1" dirty="0" err="1"/>
              <a:t>Miyelin</a:t>
            </a:r>
            <a:r>
              <a:rPr lang="tr-TR" b="1" dirty="0"/>
              <a:t> Kaybı):</a:t>
            </a:r>
            <a:r>
              <a:rPr lang="tr-TR" dirty="0"/>
              <a:t> İşaretin iletim hızında ciddi bir yavaşlama ve </a:t>
            </a:r>
            <a:r>
              <a:rPr lang="tr-TR" dirty="0" err="1"/>
              <a:t>latans</a:t>
            </a:r>
            <a:r>
              <a:rPr lang="tr-TR" dirty="0"/>
              <a:t> süresinde uzama görülür (</a:t>
            </a:r>
            <a:r>
              <a:rPr lang="tr-TR" dirty="0" err="1"/>
              <a:t>Örn</a:t>
            </a:r>
            <a:r>
              <a:rPr lang="tr-TR" dirty="0"/>
              <a:t>: </a:t>
            </a:r>
            <a:r>
              <a:rPr lang="tr-TR" dirty="0" err="1"/>
              <a:t>Guillain-Barré</a:t>
            </a:r>
            <a:r>
              <a:rPr lang="tr-TR" dirty="0"/>
              <a:t> Sendromu).</a:t>
            </a:r>
            <a:endParaRPr lang="tr-TR"/>
          </a:p>
          <a:p>
            <a:pPr>
              <a:lnSpc>
                <a:spcPct val="90000"/>
              </a:lnSpc>
            </a:pPr>
            <a:r>
              <a:rPr lang="tr-TR" b="1" dirty="0"/>
              <a:t>Aksonal Hasar:</a:t>
            </a:r>
            <a:r>
              <a:rPr lang="tr-TR" dirty="0"/>
              <a:t> İletim hızı normale yakın olabilir ancak yanıt veren lif sayısı azaldığı için işaretin </a:t>
            </a:r>
            <a:r>
              <a:rPr lang="tr-TR" b="1" dirty="0"/>
              <a:t>genliği (amplitüdü)</a:t>
            </a:r>
            <a:r>
              <a:rPr lang="tr-TR" dirty="0"/>
              <a:t> düşer.</a:t>
            </a:r>
            <a:endParaRPr lang="tr-TR"/>
          </a:p>
          <a:p>
            <a:pPr>
              <a:lnSpc>
                <a:spcPct val="90000"/>
              </a:lnSpc>
            </a:pPr>
            <a:r>
              <a:rPr lang="tr-TR" b="1" dirty="0"/>
              <a:t>Tuzak Nöropatiler:</a:t>
            </a:r>
            <a:r>
              <a:rPr lang="tr-TR" dirty="0"/>
              <a:t> Sinirin belirli bir noktada sıkışması (</a:t>
            </a:r>
            <a:r>
              <a:rPr lang="tr-TR" dirty="0" err="1"/>
              <a:t>Örn</a:t>
            </a:r>
            <a:r>
              <a:rPr lang="tr-TR" dirty="0"/>
              <a:t>: Karpal Tünel Sendromu), o bölgede bölgesel bir iletim yavaşlamasına neden olur.</a:t>
            </a:r>
            <a:endParaRPr lang="tr-TR"/>
          </a:p>
          <a:p>
            <a:pPr>
              <a:lnSpc>
                <a:spcPct val="90000"/>
              </a:lnSpc>
            </a:pPr>
            <a:endParaRPr lang="tr-TR"/>
          </a:p>
        </p:txBody>
      </p:sp>
    </p:spTree>
    <p:extLst>
      <p:ext uri="{BB962C8B-B14F-4D97-AF65-F5344CB8AC3E}">
        <p14:creationId xmlns:p14="http://schemas.microsoft.com/office/powerpoint/2010/main" val="4203551406"/>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EBE8680-65E2-D9DD-2837-8C557617FCE0}"/>
              </a:ext>
            </a:extLst>
          </p:cNvPr>
          <p:cNvSpPr>
            <a:spLocks noGrp="1"/>
          </p:cNvSpPr>
          <p:nvPr>
            <p:ph type="title"/>
          </p:nvPr>
        </p:nvSpPr>
        <p:spPr/>
        <p:txBody>
          <a:bodyPr/>
          <a:lstStyle/>
          <a:p>
            <a:r>
              <a:rPr lang="tr-TR" dirty="0"/>
              <a:t>ENG Blok </a:t>
            </a:r>
            <a:r>
              <a:rPr lang="tr-TR" dirty="0" err="1"/>
              <a:t>Diagramı</a:t>
            </a:r>
            <a:endParaRPr lang="tr-TR" dirty="0"/>
          </a:p>
        </p:txBody>
      </p:sp>
      <p:sp>
        <p:nvSpPr>
          <p:cNvPr id="3" name="İçerik Yer Tutucusu 2">
            <a:extLst>
              <a:ext uri="{FF2B5EF4-FFF2-40B4-BE49-F238E27FC236}">
                <a16:creationId xmlns:a16="http://schemas.microsoft.com/office/drawing/2014/main" id="{D62655B8-7C94-BA27-211E-7FDA514FCC6A}"/>
              </a:ext>
            </a:extLst>
          </p:cNvPr>
          <p:cNvSpPr>
            <a:spLocks noGrp="1"/>
          </p:cNvSpPr>
          <p:nvPr>
            <p:ph idx="1"/>
          </p:nvPr>
        </p:nvSpPr>
        <p:spPr>
          <a:xfrm>
            <a:off x="462116" y="1229032"/>
            <a:ext cx="11415252" cy="5176250"/>
          </a:xfrm>
        </p:spPr>
        <p:txBody>
          <a:bodyPr>
            <a:normAutofit fontScale="92500" lnSpcReduction="20000"/>
          </a:bodyPr>
          <a:lstStyle/>
          <a:p>
            <a:r>
              <a:rPr lang="tr-TR" sz="1400" dirty="0"/>
              <a:t>Uyarıcı Ünite (</a:t>
            </a:r>
            <a:r>
              <a:rPr lang="tr-TR" sz="1400" dirty="0" err="1"/>
              <a:t>Stimulator</a:t>
            </a:r>
            <a:r>
              <a:rPr lang="tr-TR" sz="1400" dirty="0"/>
              <a:t>)</a:t>
            </a:r>
          </a:p>
          <a:p>
            <a:pPr lvl="1"/>
            <a:r>
              <a:rPr lang="tr-TR" sz="1200" dirty="0"/>
              <a:t>Sistemin başlangıç noktasıdır. Sinir iletimini başlatmak için deri üzerine yerleştirilen elektrotlar aracılığıyla kontrollü bir elektriksel darbe (genellikle 0.1 - 1.0 </a:t>
            </a:r>
            <a:r>
              <a:rPr lang="tr-TR" sz="1200" dirty="0" err="1"/>
              <a:t>ms</a:t>
            </a:r>
            <a:r>
              <a:rPr lang="tr-TR" sz="1200" dirty="0"/>
              <a:t> süreli) gönderir.</a:t>
            </a:r>
          </a:p>
          <a:p>
            <a:r>
              <a:rPr lang="tr-TR" sz="1400" dirty="0"/>
              <a:t>Elektrotlar (Kayıt ve Toprak)</a:t>
            </a:r>
          </a:p>
          <a:p>
            <a:pPr lvl="1"/>
            <a:r>
              <a:rPr lang="tr-TR" sz="1200" dirty="0"/>
              <a:t>Kayıt Elektrotları: Sinir boyunca yayılan aksiyon potansiyelini yakalar (Aktif ve Referans elektrot).</a:t>
            </a:r>
          </a:p>
          <a:p>
            <a:pPr lvl="1"/>
            <a:r>
              <a:rPr lang="tr-TR" sz="1200" dirty="0"/>
              <a:t>Toprak (</a:t>
            </a:r>
            <a:r>
              <a:rPr lang="tr-TR" sz="1200" dirty="0" err="1"/>
              <a:t>Ground</a:t>
            </a:r>
            <a:r>
              <a:rPr lang="tr-TR" sz="1200" dirty="0"/>
              <a:t>) Elektrodu: Hastanın güvenliğini sağlamak ve şebeke gürültüsünü (50/60 Hz) minimize etmek için hastaya bağlanır.</a:t>
            </a:r>
          </a:p>
          <a:p>
            <a:r>
              <a:rPr lang="tr-TR" sz="1400" dirty="0"/>
              <a:t>Fark Yükseltici (</a:t>
            </a:r>
            <a:r>
              <a:rPr lang="tr-TR" sz="1400" dirty="0" err="1"/>
              <a:t>Differential</a:t>
            </a:r>
            <a:r>
              <a:rPr lang="tr-TR" sz="1400" dirty="0"/>
              <a:t> </a:t>
            </a:r>
            <a:r>
              <a:rPr lang="tr-TR" sz="1400" dirty="0" err="1"/>
              <a:t>Amplifier</a:t>
            </a:r>
            <a:r>
              <a:rPr lang="tr-TR" sz="1400" dirty="0"/>
              <a:t>)</a:t>
            </a:r>
          </a:p>
          <a:p>
            <a:pPr lvl="1"/>
            <a:r>
              <a:rPr lang="tr-TR" sz="1200" dirty="0"/>
              <a:t>ENG sinyalleri çok düşük genlikli olduğu için bu aşama kritiktir.</a:t>
            </a:r>
          </a:p>
          <a:p>
            <a:pPr lvl="1"/>
            <a:r>
              <a:rPr lang="tr-TR" sz="1200" dirty="0"/>
              <a:t>Görevi: İki kayıt elektrodu arasındaki potansiyel farkını yükseltirken, her iki elektrota ortak gelen gürültüleri (</a:t>
            </a:r>
            <a:r>
              <a:rPr lang="tr-TR" sz="1200" dirty="0" err="1"/>
              <a:t>Common</a:t>
            </a:r>
            <a:r>
              <a:rPr lang="tr-TR" sz="1200" dirty="0"/>
              <a:t> </a:t>
            </a:r>
            <a:r>
              <a:rPr lang="tr-TR" sz="1200" dirty="0" err="1"/>
              <a:t>Mode</a:t>
            </a:r>
            <a:r>
              <a:rPr lang="tr-TR" sz="1200" dirty="0"/>
              <a:t> </a:t>
            </a:r>
            <a:r>
              <a:rPr lang="tr-TR" sz="1200" dirty="0" err="1"/>
              <a:t>Rejection</a:t>
            </a:r>
            <a:r>
              <a:rPr lang="tr-TR" sz="1200" dirty="0"/>
              <a:t>) yok eder.</a:t>
            </a:r>
          </a:p>
          <a:p>
            <a:pPr lvl="1"/>
            <a:r>
              <a:rPr lang="tr-TR" sz="1200" dirty="0"/>
              <a:t>Kazanç: Genellikle 1000 ile 100.000$kat arasında bir yükseltme yapılır.</a:t>
            </a:r>
          </a:p>
          <a:p>
            <a:r>
              <a:rPr lang="tr-TR" sz="1400" dirty="0"/>
              <a:t>Filtreleme Katı (</a:t>
            </a:r>
            <a:r>
              <a:rPr lang="tr-TR" sz="1400" dirty="0" err="1"/>
              <a:t>Filtering</a:t>
            </a:r>
            <a:r>
              <a:rPr lang="tr-TR" sz="1400" dirty="0"/>
              <a:t>)</a:t>
            </a:r>
          </a:p>
          <a:p>
            <a:r>
              <a:rPr lang="tr-TR" sz="1400" dirty="0"/>
              <a:t>İzolasyon Ünitesi</a:t>
            </a:r>
          </a:p>
          <a:p>
            <a:pPr lvl="1"/>
            <a:r>
              <a:rPr lang="tr-TR" sz="1200" dirty="0"/>
              <a:t>Hasta güvenliği için elektriksel devre ile hasta arasındaki bağlantıyı optik veya manyetik olarak izole eder. Herhangi bir kaçak akımın hastaya ulaşmasını engeller.</a:t>
            </a:r>
          </a:p>
          <a:p>
            <a:r>
              <a:rPr lang="tr-TR" sz="1400" dirty="0"/>
              <a:t>Analog-Dijital Dönüştürücü (ADC)</a:t>
            </a:r>
          </a:p>
          <a:p>
            <a:pPr lvl="1"/>
            <a:r>
              <a:rPr lang="tr-TR" sz="1200" dirty="0"/>
              <a:t>Filtrelenmiş analog sinyali, bilgisayarın işleyebileceği sayısal verilere dönüştürür. ENG sinyalleri hızlı değiştiği için örnekleme hızı (</a:t>
            </a:r>
            <a:r>
              <a:rPr lang="tr-TR" sz="1200" dirty="0" err="1"/>
              <a:t>sampling</a:t>
            </a:r>
            <a:r>
              <a:rPr lang="tr-TR" sz="1200" dirty="0"/>
              <a:t> rate) yüksek tutulmalıdır (20 kHz ve üzeri ideali).</a:t>
            </a:r>
          </a:p>
          <a:p>
            <a:r>
              <a:rPr lang="tr-TR" sz="1400" dirty="0"/>
              <a:t>Veri İşleme ve Görüntüleme</a:t>
            </a:r>
          </a:p>
          <a:p>
            <a:pPr lvl="1"/>
            <a:r>
              <a:rPr lang="tr-TR" sz="1200" dirty="0"/>
              <a:t>Sayısal veri bilgisayara aktarılır. Burada yazılımsal olarak sinyal ortalaması (</a:t>
            </a:r>
            <a:r>
              <a:rPr lang="tr-TR" sz="1200" dirty="0" err="1"/>
              <a:t>averaging</a:t>
            </a:r>
            <a:r>
              <a:rPr lang="tr-TR" sz="1200" dirty="0"/>
              <a:t>) alınabilir, </a:t>
            </a:r>
            <a:r>
              <a:rPr lang="tr-TR" sz="1200" dirty="0" err="1"/>
              <a:t>latans</a:t>
            </a:r>
            <a:r>
              <a:rPr lang="tr-TR" sz="1200" dirty="0"/>
              <a:t> ve genlik hesaplamaları yapılarak ekranda görüntülenir.</a:t>
            </a:r>
          </a:p>
        </p:txBody>
      </p:sp>
    </p:spTree>
    <p:extLst>
      <p:ext uri="{BB962C8B-B14F-4D97-AF65-F5344CB8AC3E}">
        <p14:creationId xmlns:p14="http://schemas.microsoft.com/office/powerpoint/2010/main" val="6219066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91587B6F-4152-B440-9437-A14C438BDEE5}"/>
              </a:ext>
            </a:extLst>
          </p:cNvPr>
          <p:cNvSpPr>
            <a:spLocks noGrp="1"/>
          </p:cNvSpPr>
          <p:nvPr>
            <p:ph type="ctrTitle"/>
          </p:nvPr>
        </p:nvSpPr>
        <p:spPr>
          <a:xfrm>
            <a:off x="684211" y="685799"/>
            <a:ext cx="8420877" cy="2971801"/>
          </a:xfrm>
        </p:spPr>
        <p:txBody>
          <a:bodyPr>
            <a:normAutofit/>
          </a:bodyPr>
          <a:lstStyle/>
          <a:p>
            <a:r>
              <a:rPr lang="tr-TR" dirty="0" err="1"/>
              <a:t>Elektromiyogram</a:t>
            </a:r>
            <a:endParaRPr lang="tr-TR" dirty="0"/>
          </a:p>
        </p:txBody>
      </p:sp>
    </p:spTree>
    <p:extLst>
      <p:ext uri="{BB962C8B-B14F-4D97-AF65-F5344CB8AC3E}">
        <p14:creationId xmlns:p14="http://schemas.microsoft.com/office/powerpoint/2010/main" val="2621104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454695E-5EEA-1D1B-B0DB-427BB2254E17}"/>
              </a:ext>
            </a:extLst>
          </p:cNvPr>
          <p:cNvSpPr>
            <a:spLocks noGrp="1"/>
          </p:cNvSpPr>
          <p:nvPr>
            <p:ph type="title"/>
          </p:nvPr>
        </p:nvSpPr>
        <p:spPr>
          <a:xfrm>
            <a:off x="684212" y="485244"/>
            <a:ext cx="8534400" cy="1507067"/>
          </a:xfrm>
        </p:spPr>
        <p:txBody>
          <a:bodyPr>
            <a:normAutofit/>
          </a:bodyPr>
          <a:lstStyle/>
          <a:p>
            <a:r>
              <a:rPr lang="tr-TR" dirty="0"/>
              <a:t>EMG</a:t>
            </a:r>
          </a:p>
        </p:txBody>
      </p:sp>
      <p:sp>
        <p:nvSpPr>
          <p:cNvPr id="3" name="İçerik Yer Tutucusu 2">
            <a:extLst>
              <a:ext uri="{FF2B5EF4-FFF2-40B4-BE49-F238E27FC236}">
                <a16:creationId xmlns:a16="http://schemas.microsoft.com/office/drawing/2014/main" id="{FF14E90F-A441-3B8B-4D80-3EA006E36410}"/>
              </a:ext>
            </a:extLst>
          </p:cNvPr>
          <p:cNvSpPr>
            <a:spLocks noGrp="1"/>
          </p:cNvSpPr>
          <p:nvPr>
            <p:ph idx="1"/>
          </p:nvPr>
        </p:nvSpPr>
        <p:spPr>
          <a:xfrm>
            <a:off x="684212" y="2068511"/>
            <a:ext cx="8534400" cy="3615267"/>
          </a:xfrm>
        </p:spPr>
        <p:txBody>
          <a:bodyPr>
            <a:normAutofit/>
          </a:bodyPr>
          <a:lstStyle/>
          <a:p>
            <a:r>
              <a:rPr lang="tr-TR" dirty="0" err="1">
                <a:solidFill>
                  <a:schemeClr val="tx1"/>
                </a:solidFill>
              </a:rPr>
              <a:t>Elektromiyogram</a:t>
            </a:r>
            <a:r>
              <a:rPr lang="tr-TR" dirty="0">
                <a:solidFill>
                  <a:schemeClr val="tx1"/>
                </a:solidFill>
              </a:rPr>
              <a:t>, kasların dinlenme ve kasılma durumlarında üzerlerinde oluşan elektriksel aktivite olarak tanımlanır. Bu aktiviteyi kaydeden sisteme </a:t>
            </a:r>
            <a:r>
              <a:rPr lang="tr-TR" dirty="0" err="1">
                <a:solidFill>
                  <a:schemeClr val="tx1"/>
                </a:solidFill>
              </a:rPr>
              <a:t>elektromiyograf</a:t>
            </a:r>
            <a:r>
              <a:rPr lang="tr-TR" dirty="0">
                <a:solidFill>
                  <a:schemeClr val="tx1"/>
                </a:solidFill>
              </a:rPr>
              <a:t> ve bu işleme de elektromiyografi (EMG) denir. </a:t>
            </a:r>
          </a:p>
          <a:p>
            <a:endParaRPr lang="tr-TR" dirty="0">
              <a:solidFill>
                <a:schemeClr val="tx1"/>
              </a:solidFill>
            </a:endParaRPr>
          </a:p>
        </p:txBody>
      </p:sp>
    </p:spTree>
    <p:extLst>
      <p:ext uri="{BB962C8B-B14F-4D97-AF65-F5344CB8AC3E}">
        <p14:creationId xmlns:p14="http://schemas.microsoft.com/office/powerpoint/2010/main" val="22140425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Bir iskelet 'in radiologic rakamı">
            <a:extLst>
              <a:ext uri="{FF2B5EF4-FFF2-40B4-BE49-F238E27FC236}">
                <a16:creationId xmlns:a16="http://schemas.microsoft.com/office/drawing/2014/main" id="{121F6C49-F8F5-7054-58A1-BFDDD3BF3EE3}"/>
              </a:ext>
            </a:extLst>
          </p:cNvPr>
          <p:cNvPicPr>
            <a:picLocks noChangeAspect="1"/>
          </p:cNvPicPr>
          <p:nvPr/>
        </p:nvPicPr>
        <p:blipFill>
          <a:blip r:embed="rId2">
            <a:alphaModFix amt="35000"/>
          </a:blip>
          <a:srcRect t="7547" b="7547"/>
          <a:stretch>
            <a:fillRect/>
          </a:stretch>
        </p:blipFill>
        <p:spPr>
          <a:xfrm>
            <a:off x="3174" y="10"/>
            <a:ext cx="12192000" cy="6857990"/>
          </a:xfrm>
          <a:prstGeom prst="rect">
            <a:avLst/>
          </a:prstGeom>
        </p:spPr>
      </p:pic>
      <p:sp>
        <p:nvSpPr>
          <p:cNvPr id="3" name="İçerik Yer Tutucusu 2">
            <a:extLst>
              <a:ext uri="{FF2B5EF4-FFF2-40B4-BE49-F238E27FC236}">
                <a16:creationId xmlns:a16="http://schemas.microsoft.com/office/drawing/2014/main" id="{69821646-B27C-8BBF-3B39-BC19CDF320EA}"/>
              </a:ext>
            </a:extLst>
          </p:cNvPr>
          <p:cNvSpPr>
            <a:spLocks noGrp="1"/>
          </p:cNvSpPr>
          <p:nvPr>
            <p:ph idx="1"/>
          </p:nvPr>
        </p:nvSpPr>
        <p:spPr>
          <a:xfrm>
            <a:off x="684212" y="685800"/>
            <a:ext cx="8534400" cy="3615267"/>
          </a:xfrm>
        </p:spPr>
        <p:txBody>
          <a:bodyPr>
            <a:normAutofit/>
          </a:bodyPr>
          <a:lstStyle/>
          <a:p>
            <a:pPr>
              <a:lnSpc>
                <a:spcPct val="90000"/>
              </a:lnSpc>
            </a:pPr>
            <a:r>
              <a:rPr lang="tr-TR" altLang="tr-TR">
                <a:solidFill>
                  <a:schemeClr val="tx1"/>
                </a:solidFill>
              </a:rPr>
              <a:t>Üç tip kas vardır ve bunlar </a:t>
            </a:r>
            <a:r>
              <a:rPr lang="tr-TR" altLang="tr-TR" b="1" u="sng">
                <a:solidFill>
                  <a:schemeClr val="tx1"/>
                </a:solidFill>
              </a:rPr>
              <a:t>çizgili kaslar</a:t>
            </a:r>
            <a:r>
              <a:rPr lang="tr-TR" altLang="tr-TR">
                <a:solidFill>
                  <a:schemeClr val="tx1"/>
                </a:solidFill>
              </a:rPr>
              <a:t>, </a:t>
            </a:r>
            <a:r>
              <a:rPr lang="tr-TR" altLang="tr-TR" b="1" u="sng">
                <a:solidFill>
                  <a:schemeClr val="tx1"/>
                </a:solidFill>
              </a:rPr>
              <a:t>düz kaslar</a:t>
            </a:r>
            <a:r>
              <a:rPr lang="tr-TR" altLang="tr-TR">
                <a:solidFill>
                  <a:schemeClr val="tx1"/>
                </a:solidFill>
              </a:rPr>
              <a:t> ve </a:t>
            </a:r>
            <a:r>
              <a:rPr lang="tr-TR" altLang="tr-TR" b="1" u="sng">
                <a:solidFill>
                  <a:schemeClr val="tx1"/>
                </a:solidFill>
              </a:rPr>
              <a:t>kalp kasları</a:t>
            </a:r>
            <a:r>
              <a:rPr lang="tr-TR" altLang="tr-TR">
                <a:solidFill>
                  <a:schemeClr val="tx1"/>
                </a:solidFill>
              </a:rPr>
              <a:t> olarak adlandırılır .</a:t>
            </a:r>
            <a:endParaRPr lang="en-US" altLang="tr-TR">
              <a:solidFill>
                <a:schemeClr val="tx1"/>
              </a:solidFill>
            </a:endParaRPr>
          </a:p>
          <a:p>
            <a:pPr lvl="1">
              <a:lnSpc>
                <a:spcPct val="90000"/>
              </a:lnSpc>
              <a:spcBef>
                <a:spcPct val="50000"/>
              </a:spcBef>
            </a:pPr>
            <a:r>
              <a:rPr lang="tr-TR" altLang="tr-TR">
                <a:solidFill>
                  <a:schemeClr val="tx1"/>
                </a:solidFill>
              </a:rPr>
              <a:t>Çizgili kaslar, insan vücudunda, istemli hareketlerin gerçekleşmesini sağlayan iskelet kaslarıdır</a:t>
            </a:r>
            <a:r>
              <a:rPr lang="en-US" altLang="tr-TR">
                <a:solidFill>
                  <a:schemeClr val="tx1"/>
                </a:solidFill>
              </a:rPr>
              <a:t> </a:t>
            </a:r>
            <a:r>
              <a:rPr lang="tr-TR" altLang="tr-TR">
                <a:solidFill>
                  <a:schemeClr val="tx1"/>
                </a:solidFill>
              </a:rPr>
              <a:t>.</a:t>
            </a:r>
          </a:p>
          <a:p>
            <a:pPr lvl="1">
              <a:lnSpc>
                <a:spcPct val="90000"/>
              </a:lnSpc>
              <a:spcBef>
                <a:spcPct val="50000"/>
              </a:spcBef>
            </a:pPr>
            <a:r>
              <a:rPr lang="tr-TR" altLang="tr-TR">
                <a:solidFill>
                  <a:schemeClr val="tx1"/>
                </a:solidFill>
              </a:rPr>
              <a:t>Düz ve kalp kasları ise istemsiz hareket kaslarıdır.</a:t>
            </a:r>
          </a:p>
          <a:p>
            <a:pPr>
              <a:lnSpc>
                <a:spcPct val="90000"/>
              </a:lnSpc>
            </a:pPr>
            <a:r>
              <a:rPr lang="tr-TR" altLang="tr-TR">
                <a:solidFill>
                  <a:schemeClr val="tx1"/>
                </a:solidFill>
              </a:rPr>
              <a:t>İstemli kas hareketleri, beyinde oluşturulan elektriksel uyarıların sinirler vasıtasıyla kaslara iletilmesi sonucunda meydana gelir. Kas liflerinin kasılmalarına sinirlerden gelen elektriksel uyarılar sebep olduğu gibi, kasların kasılması da yine elektriksel bir işaretin ortaya çıkmasına sebep olur. Ortaya çıkan bu işaret Elektromiyogram cihazına bağlı elektrotlar aracılığıyla ölçülür. </a:t>
            </a:r>
          </a:p>
        </p:txBody>
      </p:sp>
    </p:spTree>
    <p:extLst>
      <p:ext uri="{BB962C8B-B14F-4D97-AF65-F5344CB8AC3E}">
        <p14:creationId xmlns:p14="http://schemas.microsoft.com/office/powerpoint/2010/main" val="110953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CCF87D7E-D76B-2075-9E01-B3126ADB6F64}"/>
              </a:ext>
            </a:extLst>
          </p:cNvPr>
          <p:cNvSpPr>
            <a:spLocks noGrp="1"/>
          </p:cNvSpPr>
          <p:nvPr>
            <p:ph idx="1"/>
          </p:nvPr>
        </p:nvSpPr>
        <p:spPr>
          <a:xfrm>
            <a:off x="684212" y="2068511"/>
            <a:ext cx="8534400" cy="3615267"/>
          </a:xfrm>
        </p:spPr>
        <p:txBody>
          <a:bodyPr>
            <a:normAutofit/>
          </a:bodyPr>
          <a:lstStyle/>
          <a:p>
            <a:pPr>
              <a:lnSpc>
                <a:spcPct val="90000"/>
              </a:lnSpc>
            </a:pPr>
            <a:r>
              <a:rPr lang="tr-TR" sz="1700">
                <a:solidFill>
                  <a:schemeClr val="tx1"/>
                </a:solidFill>
              </a:rPr>
              <a:t>EMG işaretlerinin temel kaynağı </a:t>
            </a:r>
            <a:r>
              <a:rPr lang="tr-TR" sz="1700" b="1">
                <a:solidFill>
                  <a:schemeClr val="tx1"/>
                </a:solidFill>
              </a:rPr>
              <a:t>Motor Ünite (MU)</a:t>
            </a:r>
            <a:r>
              <a:rPr lang="tr-TR" sz="1700">
                <a:solidFill>
                  <a:schemeClr val="tx1"/>
                </a:solidFill>
              </a:rPr>
              <a:t> dediğimiz yapıdır. Bir motor ünite, tek bir motor nöron ve onun uyardığı tüm kas liflerinden oluşur.</a:t>
            </a:r>
          </a:p>
          <a:p>
            <a:pPr>
              <a:lnSpc>
                <a:spcPct val="90000"/>
              </a:lnSpc>
            </a:pPr>
            <a:r>
              <a:rPr lang="tr-TR" sz="1700" b="1">
                <a:solidFill>
                  <a:schemeClr val="tx1"/>
                </a:solidFill>
              </a:rPr>
              <a:t>Aksiyon Potansiyeli:</a:t>
            </a:r>
            <a:r>
              <a:rPr lang="tr-TR" sz="1700">
                <a:solidFill>
                  <a:schemeClr val="tx1"/>
                </a:solidFill>
              </a:rPr>
              <a:t> Beyinden veya omurilikten gelen bir sinyal, motor sinir boyunca ilerler. Sinir ucuna ulaştığında, nöromüsküler kavşaktan asetilkolin salgılanır.</a:t>
            </a:r>
          </a:p>
          <a:p>
            <a:pPr>
              <a:lnSpc>
                <a:spcPct val="90000"/>
              </a:lnSpc>
            </a:pPr>
            <a:r>
              <a:rPr lang="tr-TR" sz="1700" b="1">
                <a:solidFill>
                  <a:schemeClr val="tx1"/>
                </a:solidFill>
              </a:rPr>
              <a:t>Depolarizasyon:</a:t>
            </a:r>
            <a:r>
              <a:rPr lang="tr-TR" sz="1700">
                <a:solidFill>
                  <a:schemeClr val="tx1"/>
                </a:solidFill>
              </a:rPr>
              <a:t> Bu kimyasal uyarı, kas lifi zarı boyunca bir elektriksel değişim (aksiyon potansiyeli) başlatır.</a:t>
            </a:r>
          </a:p>
          <a:p>
            <a:pPr>
              <a:lnSpc>
                <a:spcPct val="90000"/>
              </a:lnSpc>
            </a:pPr>
            <a:r>
              <a:rPr lang="tr-TR" sz="1700" b="1">
                <a:solidFill>
                  <a:schemeClr val="tx1"/>
                </a:solidFill>
              </a:rPr>
              <a:t>MUAP:</a:t>
            </a:r>
            <a:r>
              <a:rPr lang="tr-TR" sz="1700">
                <a:solidFill>
                  <a:schemeClr val="tx1"/>
                </a:solidFill>
              </a:rPr>
              <a:t> Tek bir motor ünitenin kasılmasıyla ortaya çıkan bu elektriksel toplama </a:t>
            </a:r>
            <a:r>
              <a:rPr lang="tr-TR" sz="1700" b="1">
                <a:solidFill>
                  <a:schemeClr val="tx1"/>
                </a:solidFill>
              </a:rPr>
              <a:t>Motor Ünite Aksiyon Potansiyeli (MUAP)</a:t>
            </a:r>
            <a:r>
              <a:rPr lang="tr-TR" sz="1700">
                <a:solidFill>
                  <a:schemeClr val="tx1"/>
                </a:solidFill>
              </a:rPr>
              <a:t> denir.</a:t>
            </a:r>
          </a:p>
          <a:p>
            <a:pPr>
              <a:lnSpc>
                <a:spcPct val="90000"/>
              </a:lnSpc>
            </a:pPr>
            <a:r>
              <a:rPr lang="tr-TR" sz="1700" b="1">
                <a:solidFill>
                  <a:schemeClr val="tx1"/>
                </a:solidFill>
              </a:rPr>
              <a:t>Girişim Deseni:</a:t>
            </a:r>
            <a:r>
              <a:rPr lang="tr-TR" sz="1700">
                <a:solidFill>
                  <a:schemeClr val="tx1"/>
                </a:solidFill>
              </a:rPr>
              <a:t> Kas daha güçlü kasıldıkça, daha fazla motor ünite devreye girer. EMG cihazıyla ölçtüğümüz karmaşık ve düzensiz görünen işaret, aslında birçok MUAP'ın uzay ve zaman içindeki toplamıdır.</a:t>
            </a:r>
          </a:p>
          <a:p>
            <a:pPr>
              <a:lnSpc>
                <a:spcPct val="90000"/>
              </a:lnSpc>
            </a:pPr>
            <a:endParaRPr lang="tr-TR" sz="1700">
              <a:solidFill>
                <a:schemeClr val="tx1"/>
              </a:solidFill>
            </a:endParaRPr>
          </a:p>
        </p:txBody>
      </p:sp>
    </p:spTree>
    <p:extLst>
      <p:ext uri="{BB962C8B-B14F-4D97-AF65-F5344CB8AC3E}">
        <p14:creationId xmlns:p14="http://schemas.microsoft.com/office/powerpoint/2010/main" val="30018516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çerik Yer Tutucusu 4">
            <a:extLst>
              <a:ext uri="{FF2B5EF4-FFF2-40B4-BE49-F238E27FC236}">
                <a16:creationId xmlns:a16="http://schemas.microsoft.com/office/drawing/2014/main" id="{0AC44BAA-68DD-FF6E-AAA4-ED37D5750D07}"/>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8200" r="4523"/>
          <a:stretch>
            <a:fillRect/>
          </a:stretch>
        </p:blipFill>
        <p:spPr>
          <a:xfrm>
            <a:off x="789096" y="781589"/>
            <a:ext cx="5226470" cy="4955408"/>
          </a:xfrm>
          <a:custGeom>
            <a:avLst/>
            <a:gdLst/>
            <a:ahLst/>
            <a:cxnLst/>
            <a:rect l="l" t="t" r="r" b="b"/>
            <a:pathLst>
              <a:path w="5226470" h="4955408">
                <a:moveTo>
                  <a:pt x="490693" y="0"/>
                </a:moveTo>
                <a:lnTo>
                  <a:pt x="5226470" y="0"/>
                </a:lnTo>
                <a:lnTo>
                  <a:pt x="5226470" y="4955408"/>
                </a:lnTo>
                <a:lnTo>
                  <a:pt x="0" y="4955408"/>
                </a:lnTo>
                <a:lnTo>
                  <a:pt x="0" y="481549"/>
                </a:lnTo>
                <a:close/>
              </a:path>
            </a:pathLst>
          </a:custGeom>
        </p:spPr>
      </p:pic>
      <p:pic>
        <p:nvPicPr>
          <p:cNvPr id="7" name="Resim 6">
            <a:extLst>
              <a:ext uri="{FF2B5EF4-FFF2-40B4-BE49-F238E27FC236}">
                <a16:creationId xmlns:a16="http://schemas.microsoft.com/office/drawing/2014/main" id="{2733F4EE-53D3-2773-D0CC-9561A57C3AD7}"/>
              </a:ext>
            </a:extLst>
          </p:cNvPr>
          <p:cNvPicPr>
            <a:picLocks noChangeAspect="1"/>
          </p:cNvPicPr>
          <p:nvPr/>
        </p:nvPicPr>
        <p:blipFill>
          <a:blip r:embed="rId3">
            <a:extLst>
              <a:ext uri="{28A0092B-C50C-407E-A947-70E740481C1C}">
                <a14:useLocalDpi xmlns:a14="http://schemas.microsoft.com/office/drawing/2010/main" val="0"/>
              </a:ext>
            </a:extLst>
          </a:blip>
          <a:srcRect l="1649" r="-2" b="-2"/>
          <a:stretch>
            <a:fillRect/>
          </a:stretch>
        </p:blipFill>
        <p:spPr>
          <a:xfrm>
            <a:off x="6176433" y="789546"/>
            <a:ext cx="5226470" cy="4955408"/>
          </a:xfrm>
          <a:custGeom>
            <a:avLst/>
            <a:gdLst/>
            <a:ahLst/>
            <a:cxnLst/>
            <a:rect l="l" t="t" r="r" b="b"/>
            <a:pathLst>
              <a:path w="5226470" h="4955408">
                <a:moveTo>
                  <a:pt x="0" y="0"/>
                </a:moveTo>
                <a:lnTo>
                  <a:pt x="5226470" y="0"/>
                </a:lnTo>
                <a:lnTo>
                  <a:pt x="5226470" y="4485508"/>
                </a:lnTo>
                <a:lnTo>
                  <a:pt x="4747647" y="4955408"/>
                </a:lnTo>
                <a:lnTo>
                  <a:pt x="0" y="4955408"/>
                </a:lnTo>
                <a:close/>
              </a:path>
            </a:pathLst>
          </a:custGeom>
        </p:spPr>
      </p:pic>
    </p:spTree>
    <p:extLst>
      <p:ext uri="{BB962C8B-B14F-4D97-AF65-F5344CB8AC3E}">
        <p14:creationId xmlns:p14="http://schemas.microsoft.com/office/powerpoint/2010/main" val="30276226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DA0F67CC-E0DC-71A1-EC12-3B2F942FED9C}"/>
              </a:ext>
            </a:extLst>
          </p:cNvPr>
          <p:cNvSpPr>
            <a:spLocks noGrp="1"/>
          </p:cNvSpPr>
          <p:nvPr>
            <p:ph idx="1"/>
          </p:nvPr>
        </p:nvSpPr>
        <p:spPr>
          <a:xfrm>
            <a:off x="684212" y="2068511"/>
            <a:ext cx="8534400" cy="3615267"/>
          </a:xfrm>
        </p:spPr>
        <p:txBody>
          <a:bodyPr>
            <a:normAutofit/>
          </a:bodyPr>
          <a:lstStyle/>
          <a:p>
            <a:r>
              <a:rPr lang="tr-TR">
                <a:solidFill>
                  <a:schemeClr val="tx1"/>
                </a:solidFill>
              </a:rPr>
              <a:t>İki çeşit kas kasılması vardır. Eğer kas boyu sabit kalıp sadece şişerek kasılıyorsa buna statik (izometrik) kasılma, hem boyu kısalıp hem de şişerek kasılıyorsa buna da dinamik (izotonik) kasılma adı verilir. Kasa bir uyarı işareti geldikten sonra bir zaman gecikmesi ile önce kasılma ve ardından bir gevşeme oluşur.</a:t>
            </a:r>
          </a:p>
          <a:p>
            <a:endParaRPr lang="tr-TR">
              <a:solidFill>
                <a:schemeClr val="tx1"/>
              </a:solidFill>
            </a:endParaRPr>
          </a:p>
        </p:txBody>
      </p:sp>
    </p:spTree>
    <p:extLst>
      <p:ext uri="{BB962C8B-B14F-4D97-AF65-F5344CB8AC3E}">
        <p14:creationId xmlns:p14="http://schemas.microsoft.com/office/powerpoint/2010/main" val="42600868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0D9386EC-4539-4324-5A78-DE19279FDE28}"/>
              </a:ext>
            </a:extLst>
          </p:cNvPr>
          <p:cNvSpPr>
            <a:spLocks noGrp="1"/>
          </p:cNvSpPr>
          <p:nvPr>
            <p:ph idx="1"/>
          </p:nvPr>
        </p:nvSpPr>
        <p:spPr>
          <a:xfrm>
            <a:off x="684212" y="2068511"/>
            <a:ext cx="8534400" cy="3615267"/>
          </a:xfrm>
        </p:spPr>
        <p:txBody>
          <a:bodyPr>
            <a:normAutofit/>
          </a:bodyPr>
          <a:lstStyle/>
          <a:p>
            <a:pPr>
              <a:lnSpc>
                <a:spcPct val="90000"/>
              </a:lnSpc>
            </a:pPr>
            <a:r>
              <a:rPr lang="tr-TR" altLang="tr-TR" sz="1400">
                <a:solidFill>
                  <a:schemeClr val="tx1"/>
                </a:solidFill>
              </a:rPr>
              <a:t>Sinir ve kas hücreleri uyarılabilen hücrelerdir ve bu hücrelerdeki elektrokimyasal olaylar sonucunda biyoelektrik potansiyeller ortaya çıkar. Bu hücreler sürekli bir </a:t>
            </a:r>
            <a:r>
              <a:rPr lang="tr-TR" altLang="tr-TR" sz="1400" u="sng">
                <a:solidFill>
                  <a:schemeClr val="tx1"/>
                </a:solidFill>
              </a:rPr>
              <a:t>“dinlenme</a:t>
            </a:r>
            <a:r>
              <a:rPr lang="tr-TR" altLang="tr-TR" sz="1400">
                <a:solidFill>
                  <a:schemeClr val="tx1"/>
                </a:solidFill>
              </a:rPr>
              <a:t>” potansiyeline sahiptir. Uyarıldıklarında ise “aksiyon” potansiyeli meydana gelir. Dinlenme halinde uyarılan hücrelerin içi ve dış ortam arasında genliği </a:t>
            </a:r>
            <a:r>
              <a:rPr lang="tr-TR" altLang="tr-TR" sz="1400" u="sng">
                <a:solidFill>
                  <a:schemeClr val="tx1"/>
                </a:solidFill>
              </a:rPr>
              <a:t>-50mV ile -120mV</a:t>
            </a:r>
            <a:r>
              <a:rPr lang="tr-TR" altLang="tr-TR" sz="1400">
                <a:solidFill>
                  <a:schemeClr val="tx1"/>
                </a:solidFill>
              </a:rPr>
              <a:t> arasında değişen bir elektrik potansiyel farkı vardır. Vücut ısısındaki iyonları geçirebilen bir yapıya sahip olan hücre zarı çok incedir (7-15 nm). Vücut sıvısı içinde Sodyum(Na+) Potasyum (K+) ve Klor (Cl-) iyonları mevcuttur.</a:t>
            </a:r>
          </a:p>
          <a:p>
            <a:pPr>
              <a:lnSpc>
                <a:spcPct val="90000"/>
              </a:lnSpc>
            </a:pPr>
            <a:r>
              <a:rPr lang="tr-TR" altLang="tr-TR" sz="1400">
                <a:solidFill>
                  <a:schemeClr val="tx1"/>
                </a:solidFill>
              </a:rPr>
              <a:t>Hücre uyarıldığında, hücre zarının özelliği değişerek Na+ iyonlarının hücre içine girmesine ve az bir miktar K+ iyonunun dışarı çıkmasına izin verir. Bunun sonucunda hücre içi pozitif, dışı ise negatif olur. Bu olaya</a:t>
            </a:r>
            <a:r>
              <a:rPr lang="tr-TR" altLang="tr-TR" sz="1400" b="1">
                <a:solidFill>
                  <a:schemeClr val="tx1"/>
                </a:solidFill>
              </a:rPr>
              <a:t> </a:t>
            </a:r>
            <a:r>
              <a:rPr lang="tr-TR" altLang="tr-TR" sz="1400" b="1" i="1">
                <a:solidFill>
                  <a:schemeClr val="tx1"/>
                </a:solidFill>
              </a:rPr>
              <a:t>depolarizasyo</a:t>
            </a:r>
            <a:r>
              <a:rPr lang="tr-TR" altLang="tr-TR" sz="1400" b="1">
                <a:solidFill>
                  <a:schemeClr val="tx1"/>
                </a:solidFill>
              </a:rPr>
              <a:t>n</a:t>
            </a:r>
            <a:r>
              <a:rPr lang="tr-TR" altLang="tr-TR" sz="1400">
                <a:solidFill>
                  <a:schemeClr val="tx1"/>
                </a:solidFill>
              </a:rPr>
              <a:t>  denir.</a:t>
            </a:r>
            <a:endParaRPr lang="en-US" altLang="tr-TR" sz="1400">
              <a:solidFill>
                <a:schemeClr val="tx1"/>
              </a:solidFill>
            </a:endParaRPr>
          </a:p>
          <a:p>
            <a:pPr>
              <a:lnSpc>
                <a:spcPct val="90000"/>
              </a:lnSpc>
              <a:spcBef>
                <a:spcPct val="50000"/>
              </a:spcBef>
            </a:pPr>
            <a:r>
              <a:rPr lang="tr-TR" altLang="tr-TR" sz="1400">
                <a:solidFill>
                  <a:schemeClr val="tx1"/>
                </a:solidFill>
              </a:rPr>
              <a:t>Aksiyon potansiyeli belirli bir tepe değere ulaştıktan sonra, yukarıda anlatılan olaylar tersine işler ve tekrar dinlenme potansiyeli seviyesine düşer. Bu olaya ise </a:t>
            </a:r>
            <a:r>
              <a:rPr lang="tr-TR" altLang="tr-TR" sz="1400" b="1" i="1">
                <a:solidFill>
                  <a:schemeClr val="tx1"/>
                </a:solidFill>
              </a:rPr>
              <a:t>repolarizasyo</a:t>
            </a:r>
            <a:r>
              <a:rPr lang="tr-TR" altLang="tr-TR" sz="1400">
                <a:solidFill>
                  <a:schemeClr val="tx1"/>
                </a:solidFill>
              </a:rPr>
              <a:t>n denir. </a:t>
            </a:r>
          </a:p>
          <a:p>
            <a:pPr>
              <a:lnSpc>
                <a:spcPct val="90000"/>
              </a:lnSpc>
              <a:spcBef>
                <a:spcPct val="50000"/>
              </a:spcBef>
            </a:pPr>
            <a:r>
              <a:rPr lang="tr-TR" altLang="tr-TR" sz="1400">
                <a:solidFill>
                  <a:schemeClr val="tx1"/>
                </a:solidFill>
              </a:rPr>
              <a:t>Aksiyon potansiyelinin depolarizasyon ve repolarizasyon olayları sırasında geçen 1-3 ms kadar süre içinde hücre tekrar uyarılamaz. </a:t>
            </a:r>
            <a:endParaRPr lang="en-US" altLang="tr-TR" sz="1400">
              <a:solidFill>
                <a:schemeClr val="tx1"/>
              </a:solidFill>
            </a:endParaRPr>
          </a:p>
          <a:p>
            <a:pPr>
              <a:lnSpc>
                <a:spcPct val="90000"/>
              </a:lnSpc>
            </a:pPr>
            <a:endParaRPr lang="tr-TR" sz="1400">
              <a:solidFill>
                <a:schemeClr val="tx1"/>
              </a:solidFill>
            </a:endParaRPr>
          </a:p>
        </p:txBody>
      </p:sp>
    </p:spTree>
    <p:extLst>
      <p:ext uri="{BB962C8B-B14F-4D97-AF65-F5344CB8AC3E}">
        <p14:creationId xmlns:p14="http://schemas.microsoft.com/office/powerpoint/2010/main" val="39074467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E9C5647F-BA98-D9D6-18F9-E4033D9D078F}"/>
              </a:ext>
            </a:extLst>
          </p:cNvPr>
          <p:cNvSpPr>
            <a:spLocks noGrp="1"/>
          </p:cNvSpPr>
          <p:nvPr>
            <p:ph idx="1"/>
          </p:nvPr>
        </p:nvSpPr>
        <p:spPr>
          <a:xfrm>
            <a:off x="684212" y="2068511"/>
            <a:ext cx="8534400" cy="3615267"/>
          </a:xfrm>
        </p:spPr>
        <p:txBody>
          <a:bodyPr>
            <a:normAutofit/>
          </a:bodyPr>
          <a:lstStyle/>
          <a:p>
            <a:pPr>
              <a:lnSpc>
                <a:spcPct val="90000"/>
              </a:lnSpc>
            </a:pPr>
            <a:r>
              <a:rPr lang="tr-TR" altLang="tr-TR" b="1">
                <a:solidFill>
                  <a:schemeClr val="tx1"/>
                </a:solidFill>
              </a:rPr>
              <a:t>Ortaya çıkan bu işaretin genliği düşük olduğundan kuvvetlendiriciler yardımıyla genliğinin artırılması gerekmektedir. Bu işaretlerin kuvvetlendirilmesinde farksal kuvvetlendiriciler kullanılır. </a:t>
            </a:r>
            <a:endParaRPr lang="en-US" altLang="tr-TR" b="1">
              <a:solidFill>
                <a:schemeClr val="tx1"/>
              </a:solidFill>
            </a:endParaRPr>
          </a:p>
          <a:p>
            <a:pPr>
              <a:lnSpc>
                <a:spcPct val="90000"/>
              </a:lnSpc>
            </a:pPr>
            <a:r>
              <a:rPr lang="tr-TR" altLang="tr-TR" b="1">
                <a:solidFill>
                  <a:schemeClr val="tx1"/>
                </a:solidFill>
              </a:rPr>
              <a:t>EMG işaretleri kas ve sinir hastalıklarının teşhislerinde kullanıldığı gibi, kol-bacak vb organ kesilmesi durumlarında kullanılan protezlere hareket sağlayacak kaynak işaret olarak da kullanılmaktadır. </a:t>
            </a:r>
            <a:endParaRPr lang="en-US" altLang="tr-TR" b="1">
              <a:solidFill>
                <a:schemeClr val="tx1"/>
              </a:solidFill>
            </a:endParaRPr>
          </a:p>
          <a:p>
            <a:pPr>
              <a:lnSpc>
                <a:spcPct val="90000"/>
              </a:lnSpc>
            </a:pPr>
            <a:r>
              <a:rPr lang="tr-TR" altLang="tr-TR" b="1">
                <a:solidFill>
                  <a:schemeClr val="tx1"/>
                </a:solidFill>
              </a:rPr>
              <a:t>EMG İşaretinin Ölçülmesinin Temelleri</a:t>
            </a:r>
            <a:r>
              <a:rPr lang="en-US" altLang="tr-TR">
                <a:solidFill>
                  <a:schemeClr val="tx1"/>
                </a:solidFill>
              </a:rPr>
              <a:t> </a:t>
            </a:r>
          </a:p>
          <a:p>
            <a:pPr>
              <a:lnSpc>
                <a:spcPct val="90000"/>
              </a:lnSpc>
            </a:pPr>
            <a:r>
              <a:rPr lang="tr-TR" altLang="tr-TR">
                <a:solidFill>
                  <a:schemeClr val="tx1"/>
                </a:solidFill>
              </a:rPr>
              <a:t>EMG işaretleri </a:t>
            </a:r>
            <a:r>
              <a:rPr lang="tr-TR" altLang="tr-TR" b="1" i="1">
                <a:solidFill>
                  <a:schemeClr val="tx1"/>
                </a:solidFill>
              </a:rPr>
              <a:t>yüzey elektrotları</a:t>
            </a:r>
            <a:r>
              <a:rPr lang="tr-TR" altLang="tr-TR">
                <a:solidFill>
                  <a:schemeClr val="tx1"/>
                </a:solidFill>
              </a:rPr>
              <a:t> ve </a:t>
            </a:r>
            <a:r>
              <a:rPr lang="tr-TR" altLang="tr-TR" b="1" i="1">
                <a:solidFill>
                  <a:schemeClr val="tx1"/>
                </a:solidFill>
              </a:rPr>
              <a:t>iğne elektrotlar</a:t>
            </a:r>
            <a:r>
              <a:rPr lang="tr-TR" altLang="tr-TR">
                <a:solidFill>
                  <a:schemeClr val="tx1"/>
                </a:solidFill>
              </a:rPr>
              <a:t> olmak üzere iki tip elektrot aracılığıyla</a:t>
            </a:r>
            <a:r>
              <a:rPr lang="en-US" altLang="tr-TR">
                <a:solidFill>
                  <a:schemeClr val="tx1"/>
                </a:solidFill>
              </a:rPr>
              <a:t> </a:t>
            </a:r>
          </a:p>
          <a:p>
            <a:pPr>
              <a:lnSpc>
                <a:spcPct val="90000"/>
              </a:lnSpc>
            </a:pPr>
            <a:endParaRPr lang="tr-TR">
              <a:solidFill>
                <a:schemeClr val="tx1"/>
              </a:solidFill>
            </a:endParaRPr>
          </a:p>
        </p:txBody>
      </p:sp>
    </p:spTree>
    <p:extLst>
      <p:ext uri="{BB962C8B-B14F-4D97-AF65-F5344CB8AC3E}">
        <p14:creationId xmlns:p14="http://schemas.microsoft.com/office/powerpoint/2010/main" val="10304584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çerik Yer Tutucusu 4">
            <a:extLst>
              <a:ext uri="{FF2B5EF4-FFF2-40B4-BE49-F238E27FC236}">
                <a16:creationId xmlns:a16="http://schemas.microsoft.com/office/drawing/2014/main" id="{638EAE28-7282-271B-1DFA-BA8A7FAA5EF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50247" y="786117"/>
            <a:ext cx="8091506" cy="4956048"/>
          </a:xfrm>
          <a:custGeom>
            <a:avLst/>
            <a:gdLst/>
            <a:ahLst/>
            <a:cxnLst/>
            <a:rect l="l" t="t" r="r" b="b"/>
            <a:pathLst>
              <a:path w="10607040" h="4956048">
                <a:moveTo>
                  <a:pt x="497480" y="0"/>
                </a:moveTo>
                <a:lnTo>
                  <a:pt x="10607040" y="0"/>
                </a:lnTo>
                <a:lnTo>
                  <a:pt x="10607040" y="4485407"/>
                </a:lnTo>
                <a:lnTo>
                  <a:pt x="10131692" y="4956048"/>
                </a:lnTo>
                <a:lnTo>
                  <a:pt x="0" y="4956048"/>
                </a:lnTo>
                <a:lnTo>
                  <a:pt x="0" y="492554"/>
                </a:lnTo>
                <a:close/>
              </a:path>
            </a:pathLst>
          </a:custGeom>
        </p:spPr>
      </p:pic>
    </p:spTree>
    <p:extLst>
      <p:ext uri="{BB962C8B-B14F-4D97-AF65-F5344CB8AC3E}">
        <p14:creationId xmlns:p14="http://schemas.microsoft.com/office/powerpoint/2010/main" val="27974622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7EEFE1D-CE41-0085-C659-12A736D9E6B6}"/>
              </a:ext>
            </a:extLst>
          </p:cNvPr>
          <p:cNvSpPr>
            <a:spLocks noGrp="1"/>
          </p:cNvSpPr>
          <p:nvPr>
            <p:ph idx="1"/>
          </p:nvPr>
        </p:nvSpPr>
        <p:spPr>
          <a:xfrm>
            <a:off x="684212" y="2068511"/>
            <a:ext cx="8534400" cy="3615267"/>
          </a:xfrm>
        </p:spPr>
        <p:txBody>
          <a:bodyPr>
            <a:normAutofit/>
          </a:bodyPr>
          <a:lstStyle/>
          <a:p>
            <a:pPr>
              <a:lnSpc>
                <a:spcPct val="90000"/>
              </a:lnSpc>
            </a:pPr>
            <a:r>
              <a:rPr lang="en-US" altLang="tr-TR">
                <a:solidFill>
                  <a:schemeClr val="tx1"/>
                </a:solidFill>
              </a:rPr>
              <a:t>İşaretin genliği (pp) 0-10mv arasında RMS olarak ise 0-1,5mv arasında değişir. </a:t>
            </a:r>
          </a:p>
          <a:p>
            <a:pPr>
              <a:lnSpc>
                <a:spcPct val="90000"/>
              </a:lnSpc>
            </a:pPr>
            <a:r>
              <a:rPr lang="en-US" altLang="tr-TR">
                <a:solidFill>
                  <a:schemeClr val="tx1"/>
                </a:solidFill>
              </a:rPr>
              <a:t>Kullanılabilir enerji aralığı 0-500 Hz aralığındadır fakat baskın olarak 50-150Hz arasında yoğunlaşmıştır. </a:t>
            </a:r>
          </a:p>
          <a:p>
            <a:pPr>
              <a:lnSpc>
                <a:spcPct val="90000"/>
              </a:lnSpc>
            </a:pPr>
            <a:r>
              <a:rPr lang="en-US" altLang="tr-TR">
                <a:solidFill>
                  <a:schemeClr val="tx1"/>
                </a:solidFill>
              </a:rPr>
              <a:t>Bu değerlerden sapma, işarete gürültünün binmesiyle olur. </a:t>
            </a:r>
          </a:p>
          <a:p>
            <a:pPr>
              <a:lnSpc>
                <a:spcPct val="90000"/>
              </a:lnSpc>
            </a:pPr>
            <a:r>
              <a:rPr lang="en-US" altLang="tr-TR">
                <a:solidFill>
                  <a:schemeClr val="tx1"/>
                </a:solidFill>
              </a:rPr>
              <a:t>EMG vücuttan özel elektrotlar yardımıyla algılanır. </a:t>
            </a:r>
          </a:p>
          <a:p>
            <a:pPr>
              <a:lnSpc>
                <a:spcPct val="90000"/>
              </a:lnSpc>
            </a:pPr>
            <a:r>
              <a:rPr lang="en-US" altLang="tr-TR">
                <a:solidFill>
                  <a:schemeClr val="tx1"/>
                </a:solidFill>
              </a:rPr>
              <a:t>Bu işaretlerin kuvvetlendirilmesinde fark (differansial) kuvvetlendiriciler kullanılır. </a:t>
            </a:r>
          </a:p>
          <a:p>
            <a:pPr>
              <a:lnSpc>
                <a:spcPct val="90000"/>
              </a:lnSpc>
            </a:pPr>
            <a:r>
              <a:rPr lang="en-US" altLang="tr-TR">
                <a:solidFill>
                  <a:schemeClr val="tx1"/>
                </a:solidFill>
              </a:rPr>
              <a:t>Zaman ve frekans domeninde ( düzleminde) değerlendirmeler yapılır</a:t>
            </a:r>
            <a:r>
              <a:rPr lang="tr-TR" altLang="tr-TR">
                <a:solidFill>
                  <a:schemeClr val="tx1"/>
                </a:solidFill>
              </a:rPr>
              <a:t>.</a:t>
            </a:r>
            <a:r>
              <a:rPr lang="en-US" altLang="tr-TR">
                <a:solidFill>
                  <a:schemeClr val="tx1"/>
                </a:solidFill>
              </a:rPr>
              <a:t> </a:t>
            </a:r>
          </a:p>
          <a:p>
            <a:pPr>
              <a:lnSpc>
                <a:spcPct val="90000"/>
              </a:lnSpc>
            </a:pPr>
            <a:endParaRPr lang="tr-TR">
              <a:solidFill>
                <a:schemeClr val="tx1"/>
              </a:solidFill>
            </a:endParaRPr>
          </a:p>
        </p:txBody>
      </p:sp>
    </p:spTree>
    <p:extLst>
      <p:ext uri="{BB962C8B-B14F-4D97-AF65-F5344CB8AC3E}">
        <p14:creationId xmlns:p14="http://schemas.microsoft.com/office/powerpoint/2010/main" val="14808987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4A12A17B-511E-8570-9509-71533AEF941D}"/>
              </a:ext>
            </a:extLst>
          </p:cNvPr>
          <p:cNvSpPr>
            <a:spLocks noGrp="1"/>
          </p:cNvSpPr>
          <p:nvPr>
            <p:ph idx="1"/>
          </p:nvPr>
        </p:nvSpPr>
        <p:spPr>
          <a:xfrm>
            <a:off x="684212" y="2068511"/>
            <a:ext cx="8534400" cy="3615267"/>
          </a:xfrm>
        </p:spPr>
        <p:txBody>
          <a:bodyPr>
            <a:normAutofit/>
          </a:bodyPr>
          <a:lstStyle/>
          <a:p>
            <a:pPr>
              <a:buFontTx/>
              <a:buNone/>
            </a:pPr>
            <a:r>
              <a:rPr lang="tr-TR" altLang="tr-TR">
                <a:solidFill>
                  <a:schemeClr val="tx1"/>
                </a:solidFill>
              </a:rPr>
              <a:t>	</a:t>
            </a:r>
            <a:r>
              <a:rPr lang="en-US" altLang="tr-TR">
                <a:solidFill>
                  <a:schemeClr val="tx1"/>
                </a:solidFill>
              </a:rPr>
              <a:t>Günümüzde EMG sinyalinin üç yaygın uygulaması vardır. Bunlar: </a:t>
            </a:r>
            <a:endParaRPr lang="tr-TR" altLang="tr-TR">
              <a:solidFill>
                <a:schemeClr val="tx1"/>
              </a:solidFill>
            </a:endParaRPr>
          </a:p>
          <a:p>
            <a:r>
              <a:rPr lang="en-US" altLang="tr-TR">
                <a:solidFill>
                  <a:schemeClr val="tx1"/>
                </a:solidFill>
              </a:rPr>
              <a:t>Kasın aktivasyon süresini belirleme yani kasın uyandırılmasının (uyarılması) başladığı ve bittiği süre zarfının belirlenmesi </a:t>
            </a:r>
          </a:p>
          <a:p>
            <a:r>
              <a:rPr lang="en-US" altLang="tr-TR">
                <a:solidFill>
                  <a:schemeClr val="tx1"/>
                </a:solidFill>
              </a:rPr>
              <a:t>Kas tarafından üretilen gücün belirlenmesi </a:t>
            </a:r>
          </a:p>
          <a:p>
            <a:r>
              <a:rPr lang="en-US" altLang="tr-TR">
                <a:solidFill>
                  <a:schemeClr val="tx1"/>
                </a:solidFill>
              </a:rPr>
              <a:t>Kas yorulmasının karşı geldiği frekans bant aralığının saptanması </a:t>
            </a:r>
          </a:p>
          <a:p>
            <a:endParaRPr lang="en-US" altLang="tr-TR">
              <a:solidFill>
                <a:schemeClr val="tx1"/>
              </a:solidFill>
            </a:endParaRPr>
          </a:p>
          <a:p>
            <a:endParaRPr lang="tr-TR">
              <a:solidFill>
                <a:schemeClr val="tx1"/>
              </a:solidFill>
            </a:endParaRPr>
          </a:p>
        </p:txBody>
      </p:sp>
    </p:spTree>
    <p:extLst>
      <p:ext uri="{BB962C8B-B14F-4D97-AF65-F5344CB8AC3E}">
        <p14:creationId xmlns:p14="http://schemas.microsoft.com/office/powerpoint/2010/main" val="15551296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çerik Yer Tutucusu 4">
            <a:extLst>
              <a:ext uri="{FF2B5EF4-FFF2-40B4-BE49-F238E27FC236}">
                <a16:creationId xmlns:a16="http://schemas.microsoft.com/office/drawing/2014/main" id="{AF28EF86-FC31-989E-F100-0CA2FD2E331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15047" y="786117"/>
            <a:ext cx="9961905" cy="4956048"/>
          </a:xfrm>
          <a:custGeom>
            <a:avLst/>
            <a:gdLst/>
            <a:ahLst/>
            <a:cxnLst/>
            <a:rect l="l" t="t" r="r" b="b"/>
            <a:pathLst>
              <a:path w="10607040" h="4956048">
                <a:moveTo>
                  <a:pt x="497480" y="0"/>
                </a:moveTo>
                <a:lnTo>
                  <a:pt x="10607040" y="0"/>
                </a:lnTo>
                <a:lnTo>
                  <a:pt x="10607040" y="4485407"/>
                </a:lnTo>
                <a:lnTo>
                  <a:pt x="10131692" y="4956048"/>
                </a:lnTo>
                <a:lnTo>
                  <a:pt x="0" y="4956048"/>
                </a:lnTo>
                <a:lnTo>
                  <a:pt x="0" y="492554"/>
                </a:lnTo>
                <a:close/>
              </a:path>
            </a:pathLst>
          </a:custGeom>
        </p:spPr>
      </p:pic>
    </p:spTree>
    <p:extLst>
      <p:ext uri="{BB962C8B-B14F-4D97-AF65-F5344CB8AC3E}">
        <p14:creationId xmlns:p14="http://schemas.microsoft.com/office/powerpoint/2010/main" val="5970820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5">
            <a:extLst>
              <a:ext uri="{FF2B5EF4-FFF2-40B4-BE49-F238E27FC236}">
                <a16:creationId xmlns:a16="http://schemas.microsoft.com/office/drawing/2014/main" id="{D6A7FEF7-D5BB-066D-A2F4-0A2F058B5CD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545792" y="1097060"/>
            <a:ext cx="4751913" cy="4334162"/>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İçerik Yer Tutucusu 8">
            <a:extLst>
              <a:ext uri="{FF2B5EF4-FFF2-40B4-BE49-F238E27FC236}">
                <a16:creationId xmlns:a16="http://schemas.microsoft.com/office/drawing/2014/main" id="{511D0B10-7411-835D-E982-615C2B97337F}"/>
              </a:ext>
            </a:extLst>
          </p:cNvPr>
          <p:cNvSpPr>
            <a:spLocks noGrp="1"/>
          </p:cNvSpPr>
          <p:nvPr>
            <p:ph idx="1"/>
          </p:nvPr>
        </p:nvSpPr>
        <p:spPr>
          <a:xfrm>
            <a:off x="7532710" y="1822449"/>
            <a:ext cx="3479419" cy="2922591"/>
          </a:xfrm>
        </p:spPr>
        <p:txBody>
          <a:bodyPr anchor="t">
            <a:normAutofit/>
          </a:bodyPr>
          <a:lstStyle/>
          <a:p>
            <a:r>
              <a:rPr lang="en-US" altLang="tr-TR" sz="1200">
                <a:solidFill>
                  <a:srgbClr val="0F496F"/>
                </a:solidFill>
              </a:rPr>
              <a:t>EMG işaretleri </a:t>
            </a:r>
            <a:r>
              <a:rPr lang="en-US" altLang="tr-TR" sz="1200" b="1" i="1">
                <a:solidFill>
                  <a:srgbClr val="0F496F"/>
                </a:solidFill>
              </a:rPr>
              <a:t>tek kutuplu </a:t>
            </a:r>
            <a:r>
              <a:rPr lang="en-US" altLang="tr-TR" sz="1200">
                <a:solidFill>
                  <a:srgbClr val="0F496F"/>
                </a:solidFill>
              </a:rPr>
              <a:t>(monopolar) ve </a:t>
            </a:r>
            <a:r>
              <a:rPr lang="en-US" altLang="tr-TR" sz="1200" b="1" i="1">
                <a:solidFill>
                  <a:srgbClr val="0F496F"/>
                </a:solidFill>
              </a:rPr>
              <a:t>çift kutuplu</a:t>
            </a:r>
            <a:r>
              <a:rPr lang="en-US" altLang="tr-TR" sz="1200">
                <a:solidFill>
                  <a:srgbClr val="0F496F"/>
                </a:solidFill>
              </a:rPr>
              <a:t> (bipolar) olarak alınabilir. Daha iyi sonuç vermesi sebebiyle bipolar mod daha sık tercih edilmektedir. EMG işaretlerinin monopolar ve bipolar modda algılama yöntemleri verilmiştir.</a:t>
            </a:r>
          </a:p>
          <a:p>
            <a:endParaRPr lang="tr-TR" sz="1200">
              <a:solidFill>
                <a:srgbClr val="0F496F"/>
              </a:solidFill>
            </a:endParaRPr>
          </a:p>
        </p:txBody>
      </p:sp>
      <p:sp>
        <p:nvSpPr>
          <p:cNvPr id="7" name="Metin kutusu 6">
            <a:extLst>
              <a:ext uri="{FF2B5EF4-FFF2-40B4-BE49-F238E27FC236}">
                <a16:creationId xmlns:a16="http://schemas.microsoft.com/office/drawing/2014/main" id="{AC639F4F-FE78-21CB-8C43-BA30729C28DD}"/>
              </a:ext>
            </a:extLst>
          </p:cNvPr>
          <p:cNvSpPr txBox="1"/>
          <p:nvPr/>
        </p:nvSpPr>
        <p:spPr>
          <a:xfrm>
            <a:off x="6499654" y="733647"/>
            <a:ext cx="4419171" cy="3575884"/>
          </a:xfrm>
          <a:prstGeom prst="rect">
            <a:avLst/>
          </a:prstGeom>
        </p:spPr>
        <p:txBody>
          <a:bodyPr vert="horz" lIns="91440" tIns="45720" rIns="91440" bIns="45720" rtlCol="0" anchor="ctr">
            <a:normAutofit/>
          </a:bodyPr>
          <a:lstStyle/>
          <a:p>
            <a:pPr>
              <a:spcBef>
                <a:spcPct val="20000"/>
              </a:spcBef>
              <a:spcAft>
                <a:spcPts val="600"/>
              </a:spcAft>
              <a:buClr>
                <a:schemeClr val="tx1"/>
              </a:buClr>
              <a:buSzPct val="80000"/>
              <a:buFont typeface="Wingdings 3" panose="05040102010807070707" pitchFamily="18" charset="2"/>
              <a:buChar char=""/>
            </a:pPr>
            <a:endParaRPr lang="en-US" altLang="tr-TR" dirty="0">
              <a:solidFill>
                <a:schemeClr val="bg2">
                  <a:lumMod val="75000"/>
                </a:schemeClr>
              </a:solidFill>
            </a:endParaRPr>
          </a:p>
        </p:txBody>
      </p:sp>
    </p:spTree>
    <p:extLst>
      <p:ext uri="{BB962C8B-B14F-4D97-AF65-F5344CB8AC3E}">
        <p14:creationId xmlns:p14="http://schemas.microsoft.com/office/powerpoint/2010/main" val="10465319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Resim 4">
            <a:extLst>
              <a:ext uri="{FF2B5EF4-FFF2-40B4-BE49-F238E27FC236}">
                <a16:creationId xmlns:a16="http://schemas.microsoft.com/office/drawing/2014/main" id="{620C9094-126D-DB13-8FD6-B172782700A1}"/>
              </a:ext>
            </a:extLst>
          </p:cNvPr>
          <p:cNvPicPr>
            <a:picLocks noChangeAspect="1"/>
          </p:cNvPicPr>
          <p:nvPr/>
        </p:nvPicPr>
        <p:blipFill>
          <a:blip r:embed="rId2">
            <a:alphaModFix amt="35000"/>
            <a:extLst>
              <a:ext uri="{28A0092B-C50C-407E-A947-70E740481C1C}">
                <a14:useLocalDpi xmlns:a14="http://schemas.microsoft.com/office/drawing/2010/main" val="0"/>
              </a:ext>
            </a:extLst>
          </a:blip>
          <a:srcRect/>
          <a:stretch>
            <a:fillRect/>
          </a:stretch>
        </p:blipFill>
        <p:spPr>
          <a:xfrm>
            <a:off x="3174" y="10"/>
            <a:ext cx="12192000" cy="6857990"/>
          </a:xfrm>
          <a:prstGeom prst="rect">
            <a:avLst/>
          </a:prstGeom>
        </p:spPr>
      </p:pic>
      <p:sp>
        <p:nvSpPr>
          <p:cNvPr id="2" name="Başlık 1">
            <a:extLst>
              <a:ext uri="{FF2B5EF4-FFF2-40B4-BE49-F238E27FC236}">
                <a16:creationId xmlns:a16="http://schemas.microsoft.com/office/drawing/2014/main" id="{93973706-2EAE-5553-DCFE-4030897C643E}"/>
              </a:ext>
            </a:extLst>
          </p:cNvPr>
          <p:cNvSpPr>
            <a:spLocks noGrp="1"/>
          </p:cNvSpPr>
          <p:nvPr>
            <p:ph type="title"/>
          </p:nvPr>
        </p:nvSpPr>
        <p:spPr/>
        <p:txBody>
          <a:bodyPr>
            <a:normAutofit/>
          </a:bodyPr>
          <a:lstStyle/>
          <a:p>
            <a:r>
              <a:rPr lang="tr-TR" dirty="0"/>
              <a:t>EMG Uygulama Alanları</a:t>
            </a:r>
          </a:p>
        </p:txBody>
      </p:sp>
      <p:sp>
        <p:nvSpPr>
          <p:cNvPr id="3" name="İçerik Yer Tutucusu 2">
            <a:extLst>
              <a:ext uri="{FF2B5EF4-FFF2-40B4-BE49-F238E27FC236}">
                <a16:creationId xmlns:a16="http://schemas.microsoft.com/office/drawing/2014/main" id="{C89C42F7-514C-D1D4-1F93-CA35E3AEC09A}"/>
              </a:ext>
            </a:extLst>
          </p:cNvPr>
          <p:cNvSpPr>
            <a:spLocks noGrp="1"/>
          </p:cNvSpPr>
          <p:nvPr>
            <p:ph idx="1"/>
          </p:nvPr>
        </p:nvSpPr>
        <p:spPr/>
        <p:txBody>
          <a:bodyPr>
            <a:normAutofit/>
          </a:bodyPr>
          <a:lstStyle/>
          <a:p>
            <a:r>
              <a:rPr lang="tr-TR" dirty="0">
                <a:solidFill>
                  <a:schemeClr val="tx1"/>
                </a:solidFill>
              </a:rPr>
              <a:t>Tıbbi teşhislerde </a:t>
            </a:r>
          </a:p>
          <a:p>
            <a:pPr lvl="1"/>
            <a:r>
              <a:rPr lang="tr-TR" dirty="0">
                <a:solidFill>
                  <a:schemeClr val="tx1"/>
                </a:solidFill>
              </a:rPr>
              <a:t>Sinir hasarı, kas hastalıkları vb.</a:t>
            </a:r>
          </a:p>
          <a:p>
            <a:r>
              <a:rPr lang="tr-TR" dirty="0">
                <a:solidFill>
                  <a:schemeClr val="tx1"/>
                </a:solidFill>
              </a:rPr>
              <a:t>Biyomedikal mühendisliği çalışmalarında </a:t>
            </a:r>
          </a:p>
          <a:p>
            <a:pPr lvl="1"/>
            <a:r>
              <a:rPr lang="tr-TR" dirty="0">
                <a:solidFill>
                  <a:schemeClr val="tx1"/>
                </a:solidFill>
              </a:rPr>
              <a:t>Protez kontrolü, dış iskeletler</a:t>
            </a:r>
          </a:p>
          <a:p>
            <a:endParaRPr lang="tr-TR" dirty="0">
              <a:solidFill>
                <a:schemeClr val="tx1"/>
              </a:solidFill>
            </a:endParaRPr>
          </a:p>
        </p:txBody>
      </p:sp>
      <p:pic>
        <p:nvPicPr>
          <p:cNvPr id="9" name="Resim 8">
            <a:extLst>
              <a:ext uri="{FF2B5EF4-FFF2-40B4-BE49-F238E27FC236}">
                <a16:creationId xmlns:a16="http://schemas.microsoft.com/office/drawing/2014/main" id="{AEA2BF37-7196-1069-E644-D86AE648F2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2165" y="1530453"/>
            <a:ext cx="4552950" cy="2562225"/>
          </a:xfrm>
          <a:prstGeom prst="rect">
            <a:avLst/>
          </a:prstGeom>
        </p:spPr>
      </p:pic>
    </p:spTree>
    <p:extLst>
      <p:ext uri="{BB962C8B-B14F-4D97-AF65-F5344CB8AC3E}">
        <p14:creationId xmlns:p14="http://schemas.microsoft.com/office/powerpoint/2010/main" val="4165597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yon">
  <a:themeElements>
    <a:clrScheme name="İy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y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y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235</TotalTime>
  <Words>1671</Words>
  <Application>Microsoft Office PowerPoint</Application>
  <PresentationFormat>Geniş ekran</PresentationFormat>
  <Paragraphs>89</Paragraphs>
  <Slides>26</Slides>
  <Notes>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26</vt:i4>
      </vt:variant>
    </vt:vector>
  </HeadingPairs>
  <TitlesOfParts>
    <vt:vector size="29" baseType="lpstr">
      <vt:lpstr>Century Gothic</vt:lpstr>
      <vt:lpstr>Wingdings 3</vt:lpstr>
      <vt:lpstr>İyon</vt:lpstr>
      <vt:lpstr>Elektronörogram</vt:lpstr>
      <vt:lpstr>PowerPoint Sunusu</vt:lpstr>
      <vt:lpstr>PowerPoint Sunusu</vt:lpstr>
      <vt:lpstr>PowerPoint Sunusu</vt:lpstr>
      <vt:lpstr>PowerPoint Sunusu</vt:lpstr>
      <vt:lpstr>ENG</vt:lpstr>
      <vt:lpstr>PowerPoint Sunusu</vt:lpstr>
      <vt:lpstr>ENG</vt:lpstr>
      <vt:lpstr>Kayıt</vt:lpstr>
      <vt:lpstr>Temel Parametreler ve Klinik Önemi</vt:lpstr>
      <vt:lpstr>Klinik Önemi</vt:lpstr>
      <vt:lpstr>ENG Blok Diagramı</vt:lpstr>
      <vt:lpstr>Elektromiyogram</vt:lpstr>
      <vt:lpstr>EMG</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EMG Uygulama Alanları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Mehmet Fatih KARAKAŞ</dc:creator>
  <cp:lastModifiedBy>Betül Karakaş</cp:lastModifiedBy>
  <cp:revision>20</cp:revision>
  <dcterms:created xsi:type="dcterms:W3CDTF">2026-03-09T17:51:44Z</dcterms:created>
  <dcterms:modified xsi:type="dcterms:W3CDTF">2026-03-30T10:05:56Z</dcterms:modified>
</cp:coreProperties>
</file>