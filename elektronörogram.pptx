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64" r:id="rId4"/>
    <p:sldId id="265" r:id="rId5"/>
    <p:sldId id="266" r:id="rId6"/>
    <p:sldId id="267" r:id="rId7"/>
    <p:sldId id="274" r:id="rId8"/>
    <p:sldId id="268" r:id="rId9"/>
    <p:sldId id="258" r:id="rId10"/>
    <p:sldId id="272" r:id="rId11"/>
    <p:sldId id="259" r:id="rId12"/>
    <p:sldId id="260" r:id="rId13"/>
    <p:sldId id="261" r:id="rId14"/>
    <p:sldId id="262" r:id="rId15"/>
    <p:sldId id="270" r:id="rId16"/>
    <p:sldId id="26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tr-TR"/>
              <a:t>Asıl başlık stilini düzenlemek için tıklayın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923248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26048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594295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F23B5EE0-7443-4C58-993F-2C3414861FBC}" type="datetimeFigureOut">
              <a:rPr lang="tr-TR" smtClean="0"/>
              <a:t>28.03.2026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526966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F23B5EE0-7443-4C58-993F-2C3414861FBC}" type="datetimeFigureOut">
              <a:rPr lang="tr-TR" smtClean="0"/>
              <a:t>28.03.2026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61498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7" name="Date Placeholder 2"/>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3"/>
          <p:cNvSpPr>
            <a:spLocks noGrp="1"/>
          </p:cNvSpPr>
          <p:nvPr>
            <p:ph type="ftr" sz="quarter" idx="11"/>
          </p:nvPr>
        </p:nvSpPr>
        <p:spPr/>
        <p:txBody>
          <a:bodyPr/>
          <a:lstStyle/>
          <a:p>
            <a:endParaRPr lang="tr-TR"/>
          </a:p>
        </p:txBody>
      </p:sp>
      <p:sp>
        <p:nvSpPr>
          <p:cNvPr id="6" name="Slide Number Placeholder 4"/>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59062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2"/>
          <p:cNvSpPr>
            <a:spLocks noGrp="1"/>
          </p:cNvSpPr>
          <p:nvPr>
            <p:ph type="ftr" sz="quarter" idx="11"/>
          </p:nvPr>
        </p:nvSpPr>
        <p:spPr/>
        <p:txBody>
          <a:bodyPr/>
          <a:lstStyle/>
          <a:p>
            <a:endParaRPr lang="tr-TR"/>
          </a:p>
        </p:txBody>
      </p:sp>
      <p:sp>
        <p:nvSpPr>
          <p:cNvPr id="6" name="Slide Number Placeholder 3"/>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133747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7" name="Date Placeholder 4"/>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5"/>
          <p:cNvSpPr>
            <a:spLocks noGrp="1"/>
          </p:cNvSpPr>
          <p:nvPr>
            <p:ph type="ftr" sz="quarter" idx="11"/>
          </p:nvPr>
        </p:nvSpPr>
        <p:spPr/>
        <p:txBody>
          <a:bodyPr/>
          <a:lstStyle/>
          <a:p>
            <a:endParaRPr lang="tr-TR"/>
          </a:p>
        </p:txBody>
      </p:sp>
      <p:sp>
        <p:nvSpPr>
          <p:cNvPr id="6"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125942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23B5EE0-7443-4C58-993F-2C3414861FBC}" type="datetimeFigureOut">
              <a:rPr lang="tr-TR" smtClean="0"/>
              <a:t>28.03.2026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534832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23B5EE0-7443-4C58-993F-2C3414861FBC}" type="datetimeFigureOut">
              <a:rPr lang="tr-TR" smtClean="0"/>
              <a:t>28.03.2026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8560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842431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tr-TR"/>
              <a:t>Asıl başlık stilini düzenlemek için tıklayın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tr-TR"/>
              <a:t>Asıl metin stillerini düzenlemek için tıklayın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73115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822651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495958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986483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594723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F23B5EE0-7443-4C58-993F-2C3414861FBC}"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23864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23B5EE0-7443-4C58-993F-2C3414861FBC}" type="datetimeFigureOut">
              <a:rPr lang="tr-TR" smtClean="0"/>
              <a:t>28.03.2026</a:t>
            </a:fld>
            <a:endParaRPr lang="tr-T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tr-T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C404C85-E08D-455B-A046-8B2C7A17FD13}" type="slidenum">
              <a:rPr lang="tr-TR" smtClean="0"/>
              <a:t>‹#›</a:t>
            </a:fld>
            <a:endParaRPr lang="tr-TR"/>
          </a:p>
        </p:txBody>
      </p:sp>
    </p:spTree>
    <p:extLst>
      <p:ext uri="{BB962C8B-B14F-4D97-AF65-F5344CB8AC3E}">
        <p14:creationId xmlns:p14="http://schemas.microsoft.com/office/powerpoint/2010/main" val="2265605149"/>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jp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Elektromanyetik bir radyasyonu resmi">
            <a:extLst>
              <a:ext uri="{FF2B5EF4-FFF2-40B4-BE49-F238E27FC236}">
                <a16:creationId xmlns:a16="http://schemas.microsoft.com/office/drawing/2014/main" id="{15412F12-DE51-4E38-EC3D-6C8709041EA4}"/>
              </a:ext>
            </a:extLst>
          </p:cNvPr>
          <p:cNvPicPr>
            <a:picLocks noChangeAspect="1"/>
          </p:cNvPicPr>
          <p:nvPr/>
        </p:nvPicPr>
        <p:blipFill>
          <a:blip r:embed="rId3">
            <a:duotone>
              <a:prstClr val="black"/>
              <a:schemeClr val="accent5">
                <a:tint val="45000"/>
                <a:satMod val="400000"/>
              </a:schemeClr>
            </a:duotone>
            <a:alphaModFix amt="25000"/>
          </a:blip>
          <a:srcRect t="23677" r="9091"/>
          <a:stretch>
            <a:fillRect/>
          </a:stretch>
        </p:blipFill>
        <p:spPr>
          <a:xfrm>
            <a:off x="20" y="10"/>
            <a:ext cx="12191980" cy="6857990"/>
          </a:xfrm>
          <a:prstGeom prst="rect">
            <a:avLst/>
          </a:prstGeom>
        </p:spPr>
      </p:pic>
      <p:sp>
        <p:nvSpPr>
          <p:cNvPr id="2" name="Başlık 1">
            <a:extLst>
              <a:ext uri="{FF2B5EF4-FFF2-40B4-BE49-F238E27FC236}">
                <a16:creationId xmlns:a16="http://schemas.microsoft.com/office/drawing/2014/main" id="{CB4D3AB0-3360-0611-315C-E32BD54E0155}"/>
              </a:ext>
            </a:extLst>
          </p:cNvPr>
          <p:cNvSpPr>
            <a:spLocks noGrp="1"/>
          </p:cNvSpPr>
          <p:nvPr>
            <p:ph type="ctrTitle"/>
          </p:nvPr>
        </p:nvSpPr>
        <p:spPr>
          <a:xfrm>
            <a:off x="1154955" y="1447800"/>
            <a:ext cx="8825658" cy="3329581"/>
          </a:xfrm>
        </p:spPr>
        <p:txBody>
          <a:bodyPr>
            <a:normAutofit/>
          </a:bodyPr>
          <a:lstStyle/>
          <a:p>
            <a:r>
              <a:rPr lang="tr-TR" dirty="0" err="1"/>
              <a:t>Elektronörogram</a:t>
            </a:r>
            <a:endParaRPr lang="tr-TR" dirty="0"/>
          </a:p>
        </p:txBody>
      </p:sp>
      <p:sp>
        <p:nvSpPr>
          <p:cNvPr id="17" name="Rectangle 16">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22467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5" name="Resim 4">
            <a:extLst>
              <a:ext uri="{FF2B5EF4-FFF2-40B4-BE49-F238E27FC236}">
                <a16:creationId xmlns:a16="http://schemas.microsoft.com/office/drawing/2014/main" id="{CFE0EC0D-0DE9-1AA5-5AD7-746CBE4E8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1942" y="1753158"/>
            <a:ext cx="6031939" cy="3709642"/>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F538DF1A-7839-87BE-FFAA-831F388401E2}"/>
              </a:ext>
            </a:extLst>
          </p:cNvPr>
          <p:cNvSpPr>
            <a:spLocks noGrp="1"/>
          </p:cNvSpPr>
          <p:nvPr>
            <p:ph idx="1"/>
          </p:nvPr>
        </p:nvSpPr>
        <p:spPr>
          <a:xfrm>
            <a:off x="648931" y="2438400"/>
            <a:ext cx="4166509" cy="3785419"/>
          </a:xfrm>
        </p:spPr>
        <p:txBody>
          <a:bodyPr>
            <a:normAutofit/>
          </a:bodyPr>
          <a:lstStyle/>
          <a:p>
            <a:pPr>
              <a:lnSpc>
                <a:spcPct val="90000"/>
              </a:lnSpc>
            </a:pPr>
            <a:r>
              <a:rPr lang="tr-TR" sz="1100">
                <a:solidFill>
                  <a:srgbClr val="EBEBEB"/>
                </a:solidFill>
              </a:rPr>
              <a:t>Vücut organlarının fonksiyonları, hormonal ve sinirsel olmak üzere iki şekilde kontrol edilir.</a:t>
            </a:r>
          </a:p>
          <a:p>
            <a:pPr lvl="1">
              <a:lnSpc>
                <a:spcPct val="90000"/>
              </a:lnSpc>
            </a:pPr>
            <a:r>
              <a:rPr lang="tr-TR" sz="1100">
                <a:solidFill>
                  <a:srgbClr val="EBEBEB"/>
                </a:solidFill>
              </a:rPr>
              <a:t>Hormonlar (kimyasal bilgi ileticileri), endokrin bezlerinde üretilerek kan yoluyla, faaliyetini kontrol edecekleri uzak organlara taşınır. Hormonlar yardımıyla yapılan kontrol yavaştır.</a:t>
            </a:r>
          </a:p>
          <a:p>
            <a:pPr lvl="1">
              <a:lnSpc>
                <a:spcPct val="90000"/>
              </a:lnSpc>
            </a:pPr>
            <a:r>
              <a:rPr lang="tr-TR" sz="1100">
                <a:solidFill>
                  <a:srgbClr val="EBEBEB"/>
                </a:solidFill>
              </a:rPr>
              <a:t>Merkezi Sinir Sistemi (MSS) üzerinden (beyin ve omurilikten) kodlanmış sinir darbeleri (pulse) halinde, sinirler yoluyla organlara gönderilmesi ve faaliyetlerinin düzenlenmesi. MSS'den organlara emir götüren bu sinirlere motor («efferent» getiren) sinirler denir.</a:t>
            </a:r>
          </a:p>
          <a:p>
            <a:pPr lvl="1">
              <a:lnSpc>
                <a:spcPct val="90000"/>
              </a:lnSpc>
            </a:pPr>
            <a:r>
              <a:rPr lang="tr-TR" sz="1100">
                <a:solidFill>
                  <a:srgbClr val="EBEBEB"/>
                </a:solidFill>
              </a:rPr>
              <a:t>MSS, bazı özel organlar yardımıyla dış dünya ile temas halindedir. Örneğin; dokunma, acı ve sıcaklık deri yoluyla; görme, göz; işitme, kulak; tat, dil ve koku, burun yoluyla algılanır. Bu bilgileri ve kaslardaki bilgileri beyine götüren sinirlere duyu («afferent», götüren) sinirler denir. Duyu sinirlerinde de bilgi kodlanmış darbeler şeklinde iletilir</a:t>
            </a:r>
          </a:p>
        </p:txBody>
      </p:sp>
    </p:spTree>
    <p:extLst>
      <p:ext uri="{BB962C8B-B14F-4D97-AF65-F5344CB8AC3E}">
        <p14:creationId xmlns:p14="http://schemas.microsoft.com/office/powerpoint/2010/main" val="407717073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5" name="Resim 4">
            <a:extLst>
              <a:ext uri="{FF2B5EF4-FFF2-40B4-BE49-F238E27FC236}">
                <a16:creationId xmlns:a16="http://schemas.microsoft.com/office/drawing/2014/main" id="{C0A27EB1-56B5-6835-2B7D-1EBB6599F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252" y="647698"/>
            <a:ext cx="4853369" cy="5562601"/>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B4555F03-18EE-BDB3-9D19-C03488391F10}"/>
              </a:ext>
            </a:extLst>
          </p:cNvPr>
          <p:cNvSpPr>
            <a:spLocks noGrp="1"/>
          </p:cNvSpPr>
          <p:nvPr>
            <p:ph idx="1"/>
          </p:nvPr>
        </p:nvSpPr>
        <p:spPr>
          <a:xfrm>
            <a:off x="648931" y="2438400"/>
            <a:ext cx="4166509" cy="3785419"/>
          </a:xfrm>
        </p:spPr>
        <p:txBody>
          <a:bodyPr>
            <a:normAutofit/>
          </a:bodyPr>
          <a:lstStyle/>
          <a:p>
            <a:pPr>
              <a:lnSpc>
                <a:spcPct val="90000"/>
              </a:lnSpc>
            </a:pPr>
            <a:r>
              <a:rPr lang="tr-TR" sz="1900">
                <a:solidFill>
                  <a:srgbClr val="EBEBEB"/>
                </a:solidFill>
              </a:rPr>
              <a:t>Merkezi sinir sisteminin dışındaki sinirlere Çevresel Sinirler (Çevre Siniden, Periferik Sinirler, "Peripheral Nerves") denir. </a:t>
            </a:r>
          </a:p>
          <a:p>
            <a:pPr>
              <a:lnSpc>
                <a:spcPct val="90000"/>
              </a:lnSpc>
            </a:pPr>
            <a:r>
              <a:rPr lang="tr-TR" sz="1900">
                <a:solidFill>
                  <a:srgbClr val="EBEBEB"/>
                </a:solidFill>
              </a:rPr>
              <a:t>Vücudun belirli bölgelerini kontrol eden çevre sinirleri, omuriliğin belirli seviyelerinden çıkarlar. </a:t>
            </a:r>
          </a:p>
          <a:p>
            <a:pPr>
              <a:lnSpc>
                <a:spcPct val="90000"/>
              </a:lnSpc>
            </a:pPr>
            <a:r>
              <a:rPr lang="tr-TR" sz="1900">
                <a:solidFill>
                  <a:srgbClr val="EBEBEB"/>
                </a:solidFill>
              </a:rPr>
              <a:t>Çevre sinirleri, omurilikten çıkan 31 çift sinirle (omurilik sinirleri) beyinden gelen 12 çift sinirden (kafa sinirleri) oluşur. </a:t>
            </a:r>
          </a:p>
        </p:txBody>
      </p:sp>
    </p:spTree>
    <p:extLst>
      <p:ext uri="{BB962C8B-B14F-4D97-AF65-F5344CB8AC3E}">
        <p14:creationId xmlns:p14="http://schemas.microsoft.com/office/powerpoint/2010/main" val="390325482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3" name="İçerik Yer Tutucusu 2">
            <a:extLst>
              <a:ext uri="{FF2B5EF4-FFF2-40B4-BE49-F238E27FC236}">
                <a16:creationId xmlns:a16="http://schemas.microsoft.com/office/drawing/2014/main" id="{5D8C6203-3630-AE73-0219-DABF1577CEEE}"/>
              </a:ext>
            </a:extLst>
          </p:cNvPr>
          <p:cNvSpPr>
            <a:spLocks noGrp="1"/>
          </p:cNvSpPr>
          <p:nvPr>
            <p:ph idx="1"/>
          </p:nvPr>
        </p:nvSpPr>
        <p:spPr>
          <a:xfrm>
            <a:off x="1103312" y="2763520"/>
            <a:ext cx="8946541" cy="3484879"/>
          </a:xfrm>
        </p:spPr>
        <p:txBody>
          <a:bodyPr>
            <a:normAutofit/>
          </a:bodyPr>
          <a:lstStyle/>
          <a:p>
            <a:r>
              <a:rPr lang="tr-TR"/>
              <a:t>İstemli hareket yapan kaslar tek bir motor siniri ile kontrol edilir. Motor sinirleri uyarıcıdırlar. Eğer sinirden kasa emir taşınırsa kas kasılır ve motor sinirindeki aktivitenin sona ermesiyle de kas gevşer.</a:t>
            </a:r>
          </a:p>
          <a:p>
            <a:r>
              <a:rPr lang="tr-TR"/>
              <a:t>Kalp, salgı bezleri ve istemsiz kasları besleyen sinir sistemine Otonom Sinir Sistemi denir. Çizgisiz veya düz kaslar olarak da adlandırılan istemsiz kaslar sindirim ve solunum yollarında, idrar kesesi, kan damarları ve gözde bulunurlar.</a:t>
            </a:r>
          </a:p>
        </p:txBody>
      </p:sp>
    </p:spTree>
    <p:extLst>
      <p:ext uri="{BB962C8B-B14F-4D97-AF65-F5344CB8AC3E}">
        <p14:creationId xmlns:p14="http://schemas.microsoft.com/office/powerpoint/2010/main" val="422023309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3" name="İçerik Yer Tutucusu 2">
            <a:extLst>
              <a:ext uri="{FF2B5EF4-FFF2-40B4-BE49-F238E27FC236}">
                <a16:creationId xmlns:a16="http://schemas.microsoft.com/office/drawing/2014/main" id="{E4E39D08-E614-8DD1-5AA5-FFAFF8B0E0D5}"/>
              </a:ext>
            </a:extLst>
          </p:cNvPr>
          <p:cNvSpPr>
            <a:spLocks noGrp="1"/>
          </p:cNvSpPr>
          <p:nvPr>
            <p:ph idx="1"/>
          </p:nvPr>
        </p:nvSpPr>
        <p:spPr>
          <a:xfrm>
            <a:off x="1103312" y="2763520"/>
            <a:ext cx="8946541" cy="3484879"/>
          </a:xfrm>
        </p:spPr>
        <p:txBody>
          <a:bodyPr>
            <a:normAutofit/>
          </a:bodyPr>
          <a:lstStyle/>
          <a:p>
            <a:r>
              <a:rPr lang="tr-TR" sz="1900"/>
              <a:t>Çevresel sinir sistemi birçok alt sistemlerden meydana gelir. Bunlar arasında, derideki alıcılardan beyine bilgi taşıyan Somatik Sinir Sistemi ve gözlerden bilgi taşıyan Görme ("Visual") Sinir Sistemi bulunur. </a:t>
            </a:r>
          </a:p>
          <a:p>
            <a:r>
              <a:rPr lang="tr-TR" sz="1900"/>
              <a:t>Sempatik ve Parasempatik kollara ayrılan, hissi durumla ilgili olan ve düz kasları kontrol eden Otonom Sinir Sistemi de çevresel sinir sisteminin bir alt parçasıdır. </a:t>
            </a:r>
          </a:p>
          <a:p>
            <a:r>
              <a:rPr lang="tr-TR" sz="1900"/>
              <a:t>Sempatik aktivite vücudun enerji harcamasını, parasempatik aktivite ise vücudun enerji saklamasını arttırır. Sempatik aktivite kalp aktivitesini arttırırken sindirim sistemi aktivitesini yavaşlatır. Parasempatik aktivite ise bu organlar üzerinde sempatik aktivitenin tersi etki yapar.</a:t>
            </a:r>
          </a:p>
        </p:txBody>
      </p:sp>
    </p:spTree>
    <p:extLst>
      <p:ext uri="{BB962C8B-B14F-4D97-AF65-F5344CB8AC3E}">
        <p14:creationId xmlns:p14="http://schemas.microsoft.com/office/powerpoint/2010/main" val="153174033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0197972-F53C-15C5-40A9-09683051061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0870" y="953074"/>
            <a:ext cx="4782650" cy="3814165"/>
          </a:xfrm>
          <a:prstGeom prst="rect">
            <a:avLst/>
          </a:prstGeom>
          <a:effectLst>
            <a:outerShdw blurRad="50800" dist="38100" dir="5400000" algn="t" rotWithShape="0">
              <a:prstClr val="black">
                <a:alpha val="43000"/>
              </a:prstClr>
            </a:outerShdw>
          </a:effectLst>
        </p:spPr>
      </p:pic>
      <p:pic>
        <p:nvPicPr>
          <p:cNvPr id="7" name="Resim 6">
            <a:extLst>
              <a:ext uri="{FF2B5EF4-FFF2-40B4-BE49-F238E27FC236}">
                <a16:creationId xmlns:a16="http://schemas.microsoft.com/office/drawing/2014/main" id="{2193686A-DC1C-FEC2-1A1F-650E24F38C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3754" y="953074"/>
            <a:ext cx="6409296" cy="3781486"/>
          </a:xfrm>
          <a:prstGeom prst="rect">
            <a:avLst/>
          </a:prstGeom>
          <a:effectLst>
            <a:outerShdw blurRad="50800" dist="38100" dir="5400000" algn="t" rotWithShape="0">
              <a:prstClr val="black">
                <a:alpha val="43000"/>
              </a:prstClr>
            </a:outerShdw>
          </a:effectLst>
        </p:spPr>
      </p:pic>
      <p:sp>
        <p:nvSpPr>
          <p:cNvPr id="9" name="Metin kutusu 8">
            <a:extLst>
              <a:ext uri="{FF2B5EF4-FFF2-40B4-BE49-F238E27FC236}">
                <a16:creationId xmlns:a16="http://schemas.microsoft.com/office/drawing/2014/main" id="{1D2B7F20-A169-5D60-2F36-BE8B7E83504B}"/>
              </a:ext>
            </a:extLst>
          </p:cNvPr>
          <p:cNvSpPr txBox="1"/>
          <p:nvPr/>
        </p:nvSpPr>
        <p:spPr>
          <a:xfrm>
            <a:off x="635459" y="5163378"/>
            <a:ext cx="9164206" cy="1316931"/>
          </a:xfrm>
          <a:prstGeom prst="rect">
            <a:avLst/>
          </a:prstGeom>
        </p:spPr>
        <p:txBody>
          <a:bodyPr vert="horz" lIns="91440" tIns="45720" rIns="91440" bIns="45720" rtlCol="0">
            <a:normAutofit/>
          </a:bodyPr>
          <a:lstStyle/>
          <a:p>
            <a:pPr indent="-228600">
              <a:spcBef>
                <a:spcPts val="1000"/>
              </a:spcBef>
              <a:buClr>
                <a:schemeClr val="bg2">
                  <a:lumMod val="40000"/>
                  <a:lumOff val="60000"/>
                </a:schemeClr>
              </a:buClr>
              <a:buSzPct val="80000"/>
              <a:buFont typeface="Wingdings 3" charset="2"/>
              <a:buChar char=""/>
            </a:pPr>
            <a:r>
              <a:rPr lang="en-US">
                <a:latin typeface="+mj-lt"/>
                <a:ea typeface="+mj-ea"/>
                <a:cs typeface="+mj-cs"/>
              </a:rPr>
              <a:t>Sinir sisteminin temel ünitesine nöron denir. Nöron bazen soma denilen bir hücre gövdesi, dentrit denilen bir veya birçok giriş lifleri ve akson denilen uzun bir taşıyıcı lifden meydana gelir. Çoğunlukla akson birden fazla terminale ayrılır.</a:t>
            </a:r>
          </a:p>
        </p:txBody>
      </p:sp>
    </p:spTree>
    <p:extLst>
      <p:ext uri="{BB962C8B-B14F-4D97-AF65-F5344CB8AC3E}">
        <p14:creationId xmlns:p14="http://schemas.microsoft.com/office/powerpoint/2010/main" val="21702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6" name="Picture 9">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7" name="Picture 11">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8" name="Oval 27">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29" name="Picture 15">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17">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19">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2" name="Rectangle 21">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65A2D4CC-8107-5E84-F82A-02D16EA8B2FB}"/>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2371350" y="643467"/>
            <a:ext cx="6022774" cy="5571066"/>
          </a:xfrm>
          <a:prstGeom prst="rect">
            <a:avLst/>
          </a:prstGeom>
        </p:spPr>
      </p:pic>
      <p:sp>
        <p:nvSpPr>
          <p:cNvPr id="33" name="Rectangle 23">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158348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4"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useBgFill="1">
        <p:nvSpPr>
          <p:cNvPr id="16" name="Freeform: Shape 15">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3" name="İçerik Yer Tutucusu 2">
            <a:extLst>
              <a:ext uri="{FF2B5EF4-FFF2-40B4-BE49-F238E27FC236}">
                <a16:creationId xmlns:a16="http://schemas.microsoft.com/office/drawing/2014/main" id="{EEB85ACA-96F6-4476-CA32-4858E8F90F37}"/>
              </a:ext>
            </a:extLst>
          </p:cNvPr>
          <p:cNvSpPr>
            <a:spLocks noGrp="1"/>
          </p:cNvSpPr>
          <p:nvPr>
            <p:ph idx="1"/>
          </p:nvPr>
        </p:nvSpPr>
        <p:spPr>
          <a:xfrm>
            <a:off x="648931" y="2548281"/>
            <a:ext cx="5122606" cy="3658689"/>
          </a:xfrm>
        </p:spPr>
        <p:txBody>
          <a:bodyPr>
            <a:normAutofit/>
          </a:bodyPr>
          <a:lstStyle/>
          <a:p>
            <a:pPr>
              <a:lnSpc>
                <a:spcPct val="90000"/>
              </a:lnSpc>
            </a:pPr>
            <a:r>
              <a:rPr lang="tr-TR" sz="1700" err="1"/>
              <a:t>Akson'un</a:t>
            </a:r>
            <a:r>
              <a:rPr lang="tr-TR" sz="1700"/>
              <a:t> hücre gövdesine yakın kısmına akson </a:t>
            </a:r>
            <a:r>
              <a:rPr lang="tr-TR" sz="1700" err="1"/>
              <a:t>hillok</a:t>
            </a:r>
            <a:r>
              <a:rPr lang="tr-TR" sz="1700"/>
              <a:t> denir ve burası genellikle aksiyon potansiyelinin üretildiği yerdir. Ana </a:t>
            </a:r>
            <a:r>
              <a:rPr lang="tr-TR" sz="1700" err="1"/>
              <a:t>akson'dan</a:t>
            </a:r>
            <a:r>
              <a:rPr lang="tr-TR" sz="1700"/>
              <a:t> ayrılan kollara </a:t>
            </a:r>
            <a:r>
              <a:rPr lang="tr-TR" sz="1700" err="1"/>
              <a:t>koleretaller</a:t>
            </a:r>
            <a:r>
              <a:rPr lang="tr-TR" sz="1700"/>
              <a:t> adı verilir. Bazı nöronların akson ve </a:t>
            </a:r>
            <a:r>
              <a:rPr lang="tr-TR" sz="1700" err="1"/>
              <a:t>dentritleri</a:t>
            </a:r>
            <a:r>
              <a:rPr lang="tr-TR" sz="1700"/>
              <a:t> </a:t>
            </a:r>
            <a:r>
              <a:rPr lang="tr-TR" sz="1700" err="1"/>
              <a:t>miyelin</a:t>
            </a:r>
            <a:r>
              <a:rPr lang="tr-TR" sz="1700"/>
              <a:t> denilen bir yağlı tabaka ile kaplanmıştır. Bazı durumlarda bu </a:t>
            </a:r>
            <a:r>
              <a:rPr lang="tr-TR" sz="1700" err="1"/>
              <a:t>miyelin</a:t>
            </a:r>
            <a:r>
              <a:rPr lang="tr-TR" sz="1700"/>
              <a:t> kılıf muntazam aralıklarla kesilmiş olup bu kısımlara </a:t>
            </a:r>
            <a:r>
              <a:rPr lang="tr-TR" sz="1700" err="1"/>
              <a:t>Ranvier</a:t>
            </a:r>
            <a:r>
              <a:rPr lang="tr-TR" sz="1700"/>
              <a:t> düğümleri denir. Bu düğümler bilgi iletim hızını artırırlar. Merkezi sinir sistemi dışında </a:t>
            </a:r>
            <a:r>
              <a:rPr lang="tr-TR" sz="1700" err="1"/>
              <a:t>miyelin</a:t>
            </a:r>
            <a:r>
              <a:rPr lang="tr-TR" sz="1700"/>
              <a:t> kılıf </a:t>
            </a:r>
            <a:r>
              <a:rPr lang="tr-TR" sz="1700" err="1"/>
              <a:t>nörilemma</a:t>
            </a:r>
            <a:r>
              <a:rPr lang="tr-TR" sz="1700"/>
              <a:t> denilen başka bir yalıtkan kılıfla kaplanmıştır. Bu kılıf, ince </a:t>
            </a:r>
            <a:r>
              <a:rPr lang="tr-TR" sz="1700" err="1"/>
              <a:t>şıvan</a:t>
            </a:r>
            <a:r>
              <a:rPr lang="tr-TR" sz="1700"/>
              <a:t> hücrelerinden meydana gelen ince bir tabakadır ve </a:t>
            </a:r>
            <a:r>
              <a:rPr lang="tr-TR" sz="1700" err="1"/>
              <a:t>ranvier</a:t>
            </a:r>
            <a:r>
              <a:rPr lang="tr-TR" sz="1700"/>
              <a:t> düğümünde de devam eder.</a:t>
            </a:r>
          </a:p>
        </p:txBody>
      </p:sp>
      <p:pic>
        <p:nvPicPr>
          <p:cNvPr id="5" name="Resim 4">
            <a:extLst>
              <a:ext uri="{FF2B5EF4-FFF2-40B4-BE49-F238E27FC236}">
                <a16:creationId xmlns:a16="http://schemas.microsoft.com/office/drawing/2014/main" id="{EEAC7F86-5E25-6A76-3F3E-6B43B3A4AD34}"/>
              </a:ext>
            </a:extLst>
          </p:cNvPr>
          <p:cNvPicPr>
            <a:picLocks noChangeAspect="1"/>
          </p:cNvPicPr>
          <p:nvPr/>
        </p:nvPicPr>
        <p:blipFill>
          <a:blip r:embed="rId2">
            <a:extLst>
              <a:ext uri="{28A0092B-C50C-407E-A947-70E740481C1C}">
                <a14:useLocalDpi xmlns:a14="http://schemas.microsoft.com/office/drawing/2010/main" val="0"/>
              </a:ext>
            </a:extLst>
          </a:blip>
          <a:srcRect t="375" b="-1028"/>
          <a:stretch>
            <a:fillRect/>
          </a:stretch>
        </p:blipFill>
        <p:spPr>
          <a:xfrm>
            <a:off x="6091916" y="2986906"/>
            <a:ext cx="5451627" cy="2784767"/>
          </a:xfrm>
          <a:prstGeom prst="rect">
            <a:avLst/>
          </a:prstGeom>
          <a:effectLst/>
        </p:spPr>
      </p:pic>
    </p:spTree>
    <p:extLst>
      <p:ext uri="{BB962C8B-B14F-4D97-AF65-F5344CB8AC3E}">
        <p14:creationId xmlns:p14="http://schemas.microsoft.com/office/powerpoint/2010/main" val="122141630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D06827B-FA2F-05DF-6FBF-9F0EBEDC95EE}"/>
              </a:ext>
            </a:extLst>
          </p:cNvPr>
          <p:cNvSpPr>
            <a:spLocks noGrp="1"/>
          </p:cNvSpPr>
          <p:nvPr>
            <p:ph type="title"/>
          </p:nvPr>
        </p:nvSpPr>
        <p:spPr>
          <a:xfrm>
            <a:off x="648931" y="629266"/>
            <a:ext cx="4166510" cy="1622321"/>
          </a:xfrm>
        </p:spPr>
        <p:txBody>
          <a:bodyPr>
            <a:normAutofit/>
          </a:bodyPr>
          <a:lstStyle/>
          <a:p>
            <a:r>
              <a:rPr lang="tr-TR">
                <a:solidFill>
                  <a:srgbClr val="EBEBEB"/>
                </a:solidFill>
              </a:rPr>
              <a:t>ENG</a:t>
            </a:r>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4" name="İçerik Yer Tutucusu 4">
            <a:extLst>
              <a:ext uri="{FF2B5EF4-FFF2-40B4-BE49-F238E27FC236}">
                <a16:creationId xmlns:a16="http://schemas.microsoft.com/office/drawing/2014/main" id="{362ABA79-D0C3-0729-1FB8-156E71C93711}"/>
              </a:ext>
            </a:extLst>
          </p:cNvPr>
          <p:cNvPicPr>
            <a:picLocks noChangeAspect="1"/>
          </p:cNvPicPr>
          <p:nvPr/>
        </p:nvPicPr>
        <p:blipFill>
          <a:blip r:embed="rId2">
            <a:extLst>
              <a:ext uri="{28A0092B-C50C-407E-A947-70E740481C1C}">
                <a14:useLocalDpi xmlns:a14="http://schemas.microsoft.com/office/drawing/2010/main" val="0"/>
              </a:ext>
            </a:extLst>
          </a:blip>
          <a:srcRect r="-1" b="3111"/>
          <a:stretch>
            <a:fillRect/>
          </a:stretch>
        </p:blipFill>
        <p:spPr>
          <a:xfrm>
            <a:off x="5500317" y="2042161"/>
            <a:ext cx="6686579" cy="2753360"/>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30D0AA29-D2F8-C197-8041-E1CC0A3B2901}"/>
              </a:ext>
            </a:extLst>
          </p:cNvPr>
          <p:cNvSpPr>
            <a:spLocks noGrp="1"/>
          </p:cNvSpPr>
          <p:nvPr>
            <p:ph idx="1"/>
          </p:nvPr>
        </p:nvSpPr>
        <p:spPr>
          <a:xfrm>
            <a:off x="648931" y="2438400"/>
            <a:ext cx="4166509" cy="3785419"/>
          </a:xfrm>
        </p:spPr>
        <p:txBody>
          <a:bodyPr>
            <a:normAutofit/>
          </a:bodyPr>
          <a:lstStyle/>
          <a:p>
            <a:pPr>
              <a:lnSpc>
                <a:spcPct val="90000"/>
              </a:lnSpc>
            </a:pPr>
            <a:r>
              <a:rPr lang="tr-TR" sz="1900">
                <a:solidFill>
                  <a:srgbClr val="EBEBEB"/>
                </a:solidFill>
              </a:rPr>
              <a:t>Elektronörogram (ENG), periferik (çevresel) sinirlerin elektriksel aktivitesinin kaydedilmesiyle elde edilen işaretlerdir. </a:t>
            </a:r>
          </a:p>
          <a:p>
            <a:pPr>
              <a:lnSpc>
                <a:spcPct val="90000"/>
              </a:lnSpc>
            </a:pPr>
            <a:r>
              <a:rPr lang="tr-TR" sz="1900">
                <a:solidFill>
                  <a:srgbClr val="EBEBEB"/>
                </a:solidFill>
              </a:rPr>
              <a:t>Bu işaretler, sinir lifleri boyunca iletilen aksiyon potansiyellerinin toplamını temsil eder ve klinik ortamda genellikle Sinir İleti Çalışmaları (Nerve Conduction Study-NCS) olarak adlandırılan15-60 dakikalık testler sırasında elde edilir.</a:t>
            </a:r>
          </a:p>
        </p:txBody>
      </p:sp>
    </p:spTree>
    <p:extLst>
      <p:ext uri="{BB962C8B-B14F-4D97-AF65-F5344CB8AC3E}">
        <p14:creationId xmlns:p14="http://schemas.microsoft.com/office/powerpoint/2010/main" val="412259973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CC8D252-8044-458D-A776-6A5833FEFD2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8" name="Picture 17">
            <a:extLst>
              <a:ext uri="{FF2B5EF4-FFF2-40B4-BE49-F238E27FC236}">
                <a16:creationId xmlns:a16="http://schemas.microsoft.com/office/drawing/2014/main" id="{E884AA69-7728-499C-8FA7-A3FCA738EB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0" name="Oval 19">
            <a:extLst>
              <a:ext uri="{FF2B5EF4-FFF2-40B4-BE49-F238E27FC236}">
                <a16:creationId xmlns:a16="http://schemas.microsoft.com/office/drawing/2014/main" id="{79760FB8-CC91-426C-9EF3-A58786866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22" name="Picture 21">
            <a:extLst>
              <a:ext uri="{FF2B5EF4-FFF2-40B4-BE49-F238E27FC236}">
                <a16:creationId xmlns:a16="http://schemas.microsoft.com/office/drawing/2014/main" id="{CE274F2C-FBD9-4A60-B6A0-FB7532F599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4" name="Picture 23">
            <a:extLst>
              <a:ext uri="{FF2B5EF4-FFF2-40B4-BE49-F238E27FC236}">
                <a16:creationId xmlns:a16="http://schemas.microsoft.com/office/drawing/2014/main" id="{D543DFE3-F007-48D9-A223-F7351802D4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09E7EBD1-9868-4F2F-B4FF-A89B93CFB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8" name="Rectangle 27">
            <a:extLst>
              <a:ext uri="{FF2B5EF4-FFF2-40B4-BE49-F238E27FC236}">
                <a16:creationId xmlns:a16="http://schemas.microsoft.com/office/drawing/2014/main" id="{B84B712E-6BBF-4241-BAB7-D7E064B17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D22F3D4E-E5F5-4623-B278-D7E30BEF9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6EFBB54A-2581-0A77-D16F-F1288CF7079C}"/>
              </a:ext>
            </a:extLst>
          </p:cNvPr>
          <p:cNvPicPr>
            <a:picLocks noGrp="1" noChangeAspect="1"/>
          </p:cNvPicPr>
          <p:nvPr>
            <p:ph idx="1"/>
          </p:nvPr>
        </p:nvPicPr>
        <p:blipFill>
          <a:blip r:embed="rId6">
            <a:extLst>
              <a:ext uri="{28A0092B-C50C-407E-A947-70E740481C1C}">
                <a14:useLocalDpi xmlns:a14="http://schemas.microsoft.com/office/drawing/2010/main" val="0"/>
              </a:ext>
            </a:extLst>
          </a:blip>
          <a:srcRect r="2264" b="-2"/>
          <a:stretch>
            <a:fillRect/>
          </a:stretch>
        </p:blipFill>
        <p:spPr>
          <a:xfrm>
            <a:off x="643467" y="1314783"/>
            <a:ext cx="5291666" cy="4228433"/>
          </a:xfrm>
          <a:prstGeom prst="rect">
            <a:avLst/>
          </a:prstGeom>
        </p:spPr>
      </p:pic>
      <p:sp useBgFill="1">
        <p:nvSpPr>
          <p:cNvPr id="32" name="Rectangle 31">
            <a:extLst>
              <a:ext uri="{FF2B5EF4-FFF2-40B4-BE49-F238E27FC236}">
                <a16:creationId xmlns:a16="http://schemas.microsoft.com/office/drawing/2014/main" id="{7B7F5E51-5BF8-4198-AD70-78D94F3A9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74979"/>
            <a:ext cx="5458121" cy="5897880"/>
          </a:xfrm>
          <a:prstGeom prst="rect">
            <a:avLst/>
          </a:prstGeom>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Resim 10">
            <a:extLst>
              <a:ext uri="{FF2B5EF4-FFF2-40B4-BE49-F238E27FC236}">
                <a16:creationId xmlns:a16="http://schemas.microsoft.com/office/drawing/2014/main" id="{24B525FE-5998-3E10-A4B5-0D3BBE23065A}"/>
              </a:ext>
            </a:extLst>
          </p:cNvPr>
          <p:cNvPicPr>
            <a:picLocks noChangeAspect="1"/>
          </p:cNvPicPr>
          <p:nvPr/>
        </p:nvPicPr>
        <p:blipFill>
          <a:blip r:embed="rId7">
            <a:extLst>
              <a:ext uri="{28A0092B-C50C-407E-A947-70E740481C1C}">
                <a14:useLocalDpi xmlns:a14="http://schemas.microsoft.com/office/drawing/2010/main" val="0"/>
              </a:ext>
            </a:extLst>
          </a:blip>
          <a:srcRect l="8866" r="2688" b="2"/>
          <a:stretch>
            <a:fillRect/>
          </a:stretch>
        </p:blipFill>
        <p:spPr>
          <a:xfrm>
            <a:off x="6423321" y="1493711"/>
            <a:ext cx="5134516" cy="3860416"/>
          </a:xfrm>
          <a:prstGeom prst="rect">
            <a:avLst/>
          </a:prstGeom>
        </p:spPr>
      </p:pic>
    </p:spTree>
    <p:extLst>
      <p:ext uri="{BB962C8B-B14F-4D97-AF65-F5344CB8AC3E}">
        <p14:creationId xmlns:p14="http://schemas.microsoft.com/office/powerpoint/2010/main" val="1884381386"/>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8DBCCEF-4987-F359-FDE1-EE7946B54058}"/>
              </a:ext>
            </a:extLst>
          </p:cNvPr>
          <p:cNvSpPr>
            <a:spLocks noGrp="1"/>
          </p:cNvSpPr>
          <p:nvPr>
            <p:ph type="title"/>
          </p:nvPr>
        </p:nvSpPr>
        <p:spPr>
          <a:xfrm>
            <a:off x="648931" y="629266"/>
            <a:ext cx="4166510" cy="1622321"/>
          </a:xfrm>
        </p:spPr>
        <p:txBody>
          <a:bodyPr>
            <a:normAutofit/>
          </a:bodyPr>
          <a:lstStyle/>
          <a:p>
            <a:r>
              <a:rPr lang="tr-TR">
                <a:solidFill>
                  <a:srgbClr val="EBEBEB"/>
                </a:solidFill>
              </a:rPr>
              <a:t>ENG</a:t>
            </a:r>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9" name="Resim 8">
            <a:extLst>
              <a:ext uri="{FF2B5EF4-FFF2-40B4-BE49-F238E27FC236}">
                <a16:creationId xmlns:a16="http://schemas.microsoft.com/office/drawing/2014/main" id="{E6180A0E-3CC7-18EB-8147-042A905A6C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992" y="1247444"/>
            <a:ext cx="5449889" cy="4363108"/>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11EC1C81-593E-0484-F340-9EA1FB85BAAB}"/>
              </a:ext>
            </a:extLst>
          </p:cNvPr>
          <p:cNvSpPr>
            <a:spLocks noGrp="1"/>
          </p:cNvSpPr>
          <p:nvPr>
            <p:ph idx="1"/>
          </p:nvPr>
        </p:nvSpPr>
        <p:spPr>
          <a:xfrm>
            <a:off x="648931" y="2438400"/>
            <a:ext cx="4166509" cy="3785419"/>
          </a:xfrm>
        </p:spPr>
        <p:txBody>
          <a:bodyPr>
            <a:normAutofit/>
          </a:bodyPr>
          <a:lstStyle/>
          <a:p>
            <a:pPr>
              <a:lnSpc>
                <a:spcPct val="90000"/>
              </a:lnSpc>
            </a:pPr>
            <a:r>
              <a:rPr lang="tr-TR" sz="1400">
                <a:solidFill>
                  <a:srgbClr val="EBEBEB"/>
                </a:solidFill>
              </a:rPr>
              <a:t>ENG işaretleri, bir sinir demetindeki çok sayıda aksonun senkronize şekilde uyarılmasıyla oluşur. Bu işarete Bileşik Sinir Aksiyon Potansiyeli (BSAP) Compound Nerve Action Potential (CNAP) denir.</a:t>
            </a:r>
          </a:p>
          <a:p>
            <a:pPr>
              <a:lnSpc>
                <a:spcPct val="90000"/>
              </a:lnSpc>
            </a:pPr>
            <a:r>
              <a:rPr lang="tr-TR" sz="1400" b="1">
                <a:solidFill>
                  <a:srgbClr val="EBEBEB"/>
                </a:solidFill>
              </a:rPr>
              <a:t>Genlik (Amplitude): </a:t>
            </a:r>
            <a:r>
              <a:rPr lang="tr-TR" sz="1400">
                <a:solidFill>
                  <a:srgbClr val="EBEBEB"/>
                </a:solidFill>
              </a:rPr>
              <a:t>Uyarılan ve yanıt veren aktif sinir liflerinin sayısını yansıtır. Genellikle mikrovolt veya milivolt mertebesindedir.</a:t>
            </a:r>
          </a:p>
          <a:p>
            <a:pPr>
              <a:lnSpc>
                <a:spcPct val="90000"/>
              </a:lnSpc>
            </a:pPr>
            <a:r>
              <a:rPr lang="tr-TR" sz="1400" b="1">
                <a:solidFill>
                  <a:srgbClr val="EBEBEB"/>
                </a:solidFill>
              </a:rPr>
              <a:t>Gecikme (Latency): </a:t>
            </a:r>
            <a:r>
              <a:rPr lang="tr-TR" sz="1400">
                <a:solidFill>
                  <a:srgbClr val="EBEBEB"/>
                </a:solidFill>
              </a:rPr>
              <a:t>Sinirin uyarıldığı an ile yanıtın başladığı an arasındaki süredir. Miyelin kılıfının durumunu ve iletim hızını gösterir.</a:t>
            </a:r>
          </a:p>
          <a:p>
            <a:pPr>
              <a:lnSpc>
                <a:spcPct val="90000"/>
              </a:lnSpc>
            </a:pPr>
            <a:r>
              <a:rPr lang="tr-TR" sz="1400" b="1">
                <a:solidFill>
                  <a:srgbClr val="EBEBEB"/>
                </a:solidFill>
              </a:rPr>
              <a:t>Süre (Duration): </a:t>
            </a:r>
            <a:r>
              <a:rPr lang="tr-TR" sz="1400">
                <a:solidFill>
                  <a:srgbClr val="EBEBEB"/>
                </a:solidFill>
              </a:rPr>
              <a:t>İşaretin başlangıcından bitişine kadar geçen süredir; sinir liflerinin iletim hızlarındaki farklılıklar (dispersiyon) arttıkça bu süre uzar.</a:t>
            </a:r>
          </a:p>
          <a:p>
            <a:pPr>
              <a:lnSpc>
                <a:spcPct val="90000"/>
              </a:lnSpc>
            </a:pPr>
            <a:endParaRPr lang="tr-TR" sz="1400">
              <a:solidFill>
                <a:srgbClr val="EBEBEB"/>
              </a:solidFill>
            </a:endParaRPr>
          </a:p>
        </p:txBody>
      </p:sp>
    </p:spTree>
    <p:extLst>
      <p:ext uri="{BB962C8B-B14F-4D97-AF65-F5344CB8AC3E}">
        <p14:creationId xmlns:p14="http://schemas.microsoft.com/office/powerpoint/2010/main" val="4294437346"/>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421ACE32-FDBF-8AA1-B4CF-C684092B3EB2}"/>
              </a:ext>
            </a:extLst>
          </p:cNvPr>
          <p:cNvSpPr>
            <a:spLocks noGrp="1"/>
          </p:cNvSpPr>
          <p:nvPr>
            <p:ph type="title"/>
          </p:nvPr>
        </p:nvSpPr>
        <p:spPr>
          <a:xfrm>
            <a:off x="1103312" y="452718"/>
            <a:ext cx="8947522" cy="1400530"/>
          </a:xfrm>
        </p:spPr>
        <p:txBody>
          <a:bodyPr anchor="ctr">
            <a:normAutofit/>
          </a:bodyPr>
          <a:lstStyle/>
          <a:p>
            <a:r>
              <a:rPr lang="tr-TR">
                <a:solidFill>
                  <a:srgbClr val="FFFFFF"/>
                </a:solidFill>
              </a:rPr>
              <a:t>Kayıt</a:t>
            </a:r>
          </a:p>
        </p:txBody>
      </p:sp>
      <p:sp>
        <p:nvSpPr>
          <p:cNvPr id="3" name="İçerik Yer Tutucusu 2">
            <a:extLst>
              <a:ext uri="{FF2B5EF4-FFF2-40B4-BE49-F238E27FC236}">
                <a16:creationId xmlns:a16="http://schemas.microsoft.com/office/drawing/2014/main" id="{4660B8B1-60FF-EF50-8491-61BE619D7A57}"/>
              </a:ext>
            </a:extLst>
          </p:cNvPr>
          <p:cNvSpPr>
            <a:spLocks noGrp="1"/>
          </p:cNvSpPr>
          <p:nvPr>
            <p:ph idx="1"/>
          </p:nvPr>
        </p:nvSpPr>
        <p:spPr>
          <a:xfrm>
            <a:off x="1103312" y="2763520"/>
            <a:ext cx="8946541" cy="3484879"/>
          </a:xfrm>
        </p:spPr>
        <p:txBody>
          <a:bodyPr>
            <a:normAutofit/>
          </a:bodyPr>
          <a:lstStyle/>
          <a:p>
            <a:r>
              <a:rPr lang="tr-TR" dirty="0"/>
              <a:t>ENG işaretleri iki temel yöntemle kaydedilebilir:</a:t>
            </a:r>
          </a:p>
          <a:p>
            <a:r>
              <a:rPr lang="tr-TR" b="1" dirty="0"/>
              <a:t>İnvaziv (İğne Elektrot):</a:t>
            </a:r>
            <a:r>
              <a:rPr lang="tr-TR" dirty="0"/>
              <a:t> Sinirin hemen yanına yerleştirilen ince iğne elektrotlar ile alınır. Sinyal-gürültü oranı yüksektir, çok küçük lif gruplarından kayıt alınabilir.</a:t>
            </a:r>
          </a:p>
          <a:p>
            <a:r>
              <a:rPr lang="tr-TR" b="1" dirty="0" err="1"/>
              <a:t>Non</a:t>
            </a:r>
            <a:r>
              <a:rPr lang="tr-TR" b="1" dirty="0"/>
              <a:t>-invaziv (</a:t>
            </a:r>
            <a:r>
              <a:rPr lang="tr-TR" b="1" dirty="0" err="1"/>
              <a:t>Yüzeyel</a:t>
            </a:r>
            <a:r>
              <a:rPr lang="tr-TR" b="1" dirty="0"/>
              <a:t> Elektrot):</a:t>
            </a:r>
            <a:r>
              <a:rPr lang="tr-TR" dirty="0"/>
              <a:t> Cilt üzerine yerleştirilen elektrotlarla alınır. Klinik uygulamalarda (EMG/ENG cihazları) en yaygın kullanılan yöntemdir. Ancak sinyal, doku ve deri direnci nedeniyle zayıflar.</a:t>
            </a:r>
          </a:p>
          <a:p>
            <a:endParaRPr lang="tr-TR" dirty="0"/>
          </a:p>
        </p:txBody>
      </p:sp>
    </p:spTree>
    <p:extLst>
      <p:ext uri="{BB962C8B-B14F-4D97-AF65-F5344CB8AC3E}">
        <p14:creationId xmlns:p14="http://schemas.microsoft.com/office/powerpoint/2010/main" val="58212509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5CB0DCEC-DE1E-AC20-FDEA-BB1D0CF87D9B}"/>
              </a:ext>
            </a:extLst>
          </p:cNvPr>
          <p:cNvSpPr>
            <a:spLocks noGrp="1"/>
          </p:cNvSpPr>
          <p:nvPr>
            <p:ph type="title"/>
          </p:nvPr>
        </p:nvSpPr>
        <p:spPr>
          <a:xfrm>
            <a:off x="1103312" y="452718"/>
            <a:ext cx="8947522" cy="1400530"/>
          </a:xfrm>
        </p:spPr>
        <p:txBody>
          <a:bodyPr anchor="ctr">
            <a:normAutofit/>
          </a:bodyPr>
          <a:lstStyle/>
          <a:p>
            <a:r>
              <a:rPr lang="da-DK">
                <a:solidFill>
                  <a:srgbClr val="FFFFFF"/>
                </a:solidFill>
              </a:rPr>
              <a:t>Temel Parametreler ve Klinik Önemi</a:t>
            </a:r>
            <a:endParaRPr lang="tr-TR">
              <a:solidFill>
                <a:srgbClr val="FFFFFF"/>
              </a:solidFill>
            </a:endParaRPr>
          </a:p>
        </p:txBody>
      </p:sp>
      <p:sp>
        <p:nvSpPr>
          <p:cNvPr id="3" name="İçerik Yer Tutucusu 2">
            <a:extLst>
              <a:ext uri="{FF2B5EF4-FFF2-40B4-BE49-F238E27FC236}">
                <a16:creationId xmlns:a16="http://schemas.microsoft.com/office/drawing/2014/main" id="{6D88B627-0BE1-41E2-9AEF-A4E9C156EB47}"/>
              </a:ext>
            </a:extLst>
          </p:cNvPr>
          <p:cNvSpPr>
            <a:spLocks noGrp="1"/>
          </p:cNvSpPr>
          <p:nvPr>
            <p:ph idx="1"/>
          </p:nvPr>
        </p:nvSpPr>
        <p:spPr>
          <a:xfrm>
            <a:off x="1103312" y="2763520"/>
            <a:ext cx="8946541" cy="3484879"/>
          </a:xfrm>
        </p:spPr>
        <p:txBody>
          <a:bodyPr>
            <a:normAutofit/>
          </a:bodyPr>
          <a:lstStyle/>
          <a:p>
            <a:r>
              <a:rPr lang="tr-TR" dirty="0"/>
              <a:t>Bir ENG işareti analiz edilirken şu üç temel veriye odaklanılır:</a:t>
            </a:r>
          </a:p>
          <a:p>
            <a:r>
              <a:rPr lang="tr-TR" b="1" dirty="0"/>
              <a:t>Sinir İletim Hızı (SİH): Hız=Yol/Zaman </a:t>
            </a:r>
            <a:r>
              <a:rPr lang="tr-TR" dirty="0"/>
              <a:t>Sağlıklı bir insanda motor sinir iletim hızı genellikle 50-60 m/s civarındadır.</a:t>
            </a:r>
          </a:p>
          <a:p>
            <a:r>
              <a:rPr lang="tr-TR" b="1" dirty="0"/>
              <a:t>Duyu İletim Potansiyeli (SNAP): </a:t>
            </a:r>
            <a:r>
              <a:rPr lang="tr-TR" dirty="0"/>
              <a:t>Sadece duyusal sinirlerin uyarılmasıyla elde edilir. Genlikleri motor yanıtlara göre çok daha düşüktür. </a:t>
            </a:r>
          </a:p>
          <a:p>
            <a:r>
              <a:rPr lang="tr-TR" b="1" dirty="0"/>
              <a:t>Motor Yanıt (CMAP):</a:t>
            </a:r>
            <a:r>
              <a:rPr lang="tr-TR" dirty="0"/>
              <a:t> Sinir uyarıldığında kas liflerinde oluşan toplam elektriksel aktivitedir.</a:t>
            </a:r>
          </a:p>
          <a:p>
            <a:endParaRPr lang="tr-TR" dirty="0"/>
          </a:p>
        </p:txBody>
      </p:sp>
    </p:spTree>
    <p:extLst>
      <p:ext uri="{BB962C8B-B14F-4D97-AF65-F5344CB8AC3E}">
        <p14:creationId xmlns:p14="http://schemas.microsoft.com/office/powerpoint/2010/main" val="136617418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BBECE7EE-AA4C-2F22-15ED-C003EBA64F53}"/>
              </a:ext>
            </a:extLst>
          </p:cNvPr>
          <p:cNvSpPr>
            <a:spLocks noGrp="1"/>
          </p:cNvSpPr>
          <p:nvPr>
            <p:ph type="title"/>
          </p:nvPr>
        </p:nvSpPr>
        <p:spPr>
          <a:xfrm>
            <a:off x="1103312" y="452718"/>
            <a:ext cx="8947522" cy="1400530"/>
          </a:xfrm>
        </p:spPr>
        <p:txBody>
          <a:bodyPr anchor="ctr">
            <a:normAutofit/>
          </a:bodyPr>
          <a:lstStyle/>
          <a:p>
            <a:r>
              <a:rPr lang="tr-TR">
                <a:solidFill>
                  <a:srgbClr val="FFFFFF"/>
                </a:solidFill>
              </a:rPr>
              <a:t>Klinik Önemi</a:t>
            </a:r>
          </a:p>
        </p:txBody>
      </p:sp>
      <p:sp>
        <p:nvSpPr>
          <p:cNvPr id="3" name="İçerik Yer Tutucusu 2">
            <a:extLst>
              <a:ext uri="{FF2B5EF4-FFF2-40B4-BE49-F238E27FC236}">
                <a16:creationId xmlns:a16="http://schemas.microsoft.com/office/drawing/2014/main" id="{9353945B-C4B1-F5E2-5976-F0EA51BC63F6}"/>
              </a:ext>
            </a:extLst>
          </p:cNvPr>
          <p:cNvSpPr>
            <a:spLocks noGrp="1"/>
          </p:cNvSpPr>
          <p:nvPr>
            <p:ph idx="1"/>
          </p:nvPr>
        </p:nvSpPr>
        <p:spPr>
          <a:xfrm>
            <a:off x="1103312" y="2763520"/>
            <a:ext cx="8946541" cy="3484879"/>
          </a:xfrm>
        </p:spPr>
        <p:txBody>
          <a:bodyPr>
            <a:normAutofit/>
          </a:bodyPr>
          <a:lstStyle/>
          <a:p>
            <a:pPr>
              <a:lnSpc>
                <a:spcPct val="90000"/>
              </a:lnSpc>
            </a:pPr>
            <a:r>
              <a:rPr lang="tr-TR" dirty="0" err="1"/>
              <a:t>Elektronörogram</a:t>
            </a:r>
            <a:r>
              <a:rPr lang="tr-TR" dirty="0"/>
              <a:t> işaretlerindeki bozulmalar, sinir sistemindeki hasarın türünü belirlemeye yardımcı olur:</a:t>
            </a:r>
            <a:endParaRPr lang="tr-TR"/>
          </a:p>
          <a:p>
            <a:pPr>
              <a:lnSpc>
                <a:spcPct val="90000"/>
              </a:lnSpc>
            </a:pPr>
            <a:r>
              <a:rPr lang="tr-TR" b="1" dirty="0" err="1"/>
              <a:t>Demiyelinizasyon</a:t>
            </a:r>
            <a:r>
              <a:rPr lang="tr-TR" b="1" dirty="0"/>
              <a:t> (</a:t>
            </a:r>
            <a:r>
              <a:rPr lang="tr-TR" b="1" dirty="0" err="1"/>
              <a:t>Miyelin</a:t>
            </a:r>
            <a:r>
              <a:rPr lang="tr-TR" b="1" dirty="0"/>
              <a:t> Kaybı):</a:t>
            </a:r>
            <a:r>
              <a:rPr lang="tr-TR" dirty="0"/>
              <a:t> İşaretin iletim hızında ciddi bir yavaşlama ve </a:t>
            </a:r>
            <a:r>
              <a:rPr lang="tr-TR" dirty="0" err="1"/>
              <a:t>latans</a:t>
            </a:r>
            <a:r>
              <a:rPr lang="tr-TR" dirty="0"/>
              <a:t> süresinde uzama görülür (</a:t>
            </a:r>
            <a:r>
              <a:rPr lang="tr-TR" dirty="0" err="1"/>
              <a:t>Örn</a:t>
            </a:r>
            <a:r>
              <a:rPr lang="tr-TR" dirty="0"/>
              <a:t>: </a:t>
            </a:r>
            <a:r>
              <a:rPr lang="tr-TR" dirty="0" err="1"/>
              <a:t>Guillain-Barré</a:t>
            </a:r>
            <a:r>
              <a:rPr lang="tr-TR" dirty="0"/>
              <a:t> Sendromu).</a:t>
            </a:r>
            <a:endParaRPr lang="tr-TR"/>
          </a:p>
          <a:p>
            <a:pPr>
              <a:lnSpc>
                <a:spcPct val="90000"/>
              </a:lnSpc>
            </a:pPr>
            <a:r>
              <a:rPr lang="tr-TR" b="1" dirty="0"/>
              <a:t>Aksonal Hasar:</a:t>
            </a:r>
            <a:r>
              <a:rPr lang="tr-TR" dirty="0"/>
              <a:t> İletim hızı normale yakın olabilir ancak yanıt veren lif sayısı azaldığı için işaretin </a:t>
            </a:r>
            <a:r>
              <a:rPr lang="tr-TR" b="1" dirty="0"/>
              <a:t>genliği (amplitüdü)</a:t>
            </a:r>
            <a:r>
              <a:rPr lang="tr-TR" dirty="0"/>
              <a:t> düşer.</a:t>
            </a:r>
            <a:endParaRPr lang="tr-TR"/>
          </a:p>
          <a:p>
            <a:pPr>
              <a:lnSpc>
                <a:spcPct val="90000"/>
              </a:lnSpc>
            </a:pPr>
            <a:r>
              <a:rPr lang="tr-TR" b="1" dirty="0"/>
              <a:t>Tuzak Nöropatiler:</a:t>
            </a:r>
            <a:r>
              <a:rPr lang="tr-TR" dirty="0"/>
              <a:t> Sinirin belirli bir noktada sıkışması (</a:t>
            </a:r>
            <a:r>
              <a:rPr lang="tr-TR" dirty="0" err="1"/>
              <a:t>Örn</a:t>
            </a:r>
            <a:r>
              <a:rPr lang="tr-TR" dirty="0"/>
              <a:t>: Karpal Tünel Sendromu), o bölgede bölgesel bir iletim yavaşlamasına neden olur.</a:t>
            </a:r>
            <a:endParaRPr lang="tr-TR"/>
          </a:p>
          <a:p>
            <a:pPr>
              <a:lnSpc>
                <a:spcPct val="90000"/>
              </a:lnSpc>
            </a:pPr>
            <a:endParaRPr lang="tr-TR"/>
          </a:p>
        </p:txBody>
      </p:sp>
    </p:spTree>
    <p:extLst>
      <p:ext uri="{BB962C8B-B14F-4D97-AF65-F5344CB8AC3E}">
        <p14:creationId xmlns:p14="http://schemas.microsoft.com/office/powerpoint/2010/main" val="420355140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EBE8680-65E2-D9DD-2837-8C557617FCE0}"/>
              </a:ext>
            </a:extLst>
          </p:cNvPr>
          <p:cNvSpPr>
            <a:spLocks noGrp="1"/>
          </p:cNvSpPr>
          <p:nvPr>
            <p:ph type="title"/>
          </p:nvPr>
        </p:nvSpPr>
        <p:spPr/>
        <p:txBody>
          <a:bodyPr/>
          <a:lstStyle/>
          <a:p>
            <a:r>
              <a:rPr lang="tr-TR" dirty="0"/>
              <a:t>ENG Blok </a:t>
            </a:r>
            <a:r>
              <a:rPr lang="tr-TR" dirty="0" err="1"/>
              <a:t>Diagramı</a:t>
            </a:r>
            <a:endParaRPr lang="tr-TR" dirty="0"/>
          </a:p>
        </p:txBody>
      </p:sp>
      <p:sp>
        <p:nvSpPr>
          <p:cNvPr id="3" name="İçerik Yer Tutucusu 2">
            <a:extLst>
              <a:ext uri="{FF2B5EF4-FFF2-40B4-BE49-F238E27FC236}">
                <a16:creationId xmlns:a16="http://schemas.microsoft.com/office/drawing/2014/main" id="{D62655B8-7C94-BA27-211E-7FDA514FCC6A}"/>
              </a:ext>
            </a:extLst>
          </p:cNvPr>
          <p:cNvSpPr>
            <a:spLocks noGrp="1"/>
          </p:cNvSpPr>
          <p:nvPr>
            <p:ph idx="1"/>
          </p:nvPr>
        </p:nvSpPr>
        <p:spPr>
          <a:xfrm>
            <a:off x="462116" y="1229032"/>
            <a:ext cx="11415252" cy="5176250"/>
          </a:xfrm>
        </p:spPr>
        <p:txBody>
          <a:bodyPr>
            <a:normAutofit fontScale="92500" lnSpcReduction="20000"/>
          </a:bodyPr>
          <a:lstStyle/>
          <a:p>
            <a:r>
              <a:rPr lang="tr-TR" sz="1400" dirty="0"/>
              <a:t>Uyarıcı Ünite (</a:t>
            </a:r>
            <a:r>
              <a:rPr lang="tr-TR" sz="1400" dirty="0" err="1"/>
              <a:t>Stimulator</a:t>
            </a:r>
            <a:r>
              <a:rPr lang="tr-TR" sz="1400" dirty="0"/>
              <a:t>)</a:t>
            </a:r>
          </a:p>
          <a:p>
            <a:pPr lvl="1"/>
            <a:r>
              <a:rPr lang="tr-TR" sz="1200" dirty="0"/>
              <a:t>Sistemin başlangıç noktasıdır. Sinir iletimini başlatmak için deri üzerine yerleştirilen elektrotlar aracılığıyla kontrollü bir elektriksel darbe (genellikle 0.1 - 1.0 </a:t>
            </a:r>
            <a:r>
              <a:rPr lang="tr-TR" sz="1200" dirty="0" err="1"/>
              <a:t>ms</a:t>
            </a:r>
            <a:r>
              <a:rPr lang="tr-TR" sz="1200" dirty="0"/>
              <a:t> süreli) gönderir.</a:t>
            </a:r>
          </a:p>
          <a:p>
            <a:r>
              <a:rPr lang="tr-TR" sz="1400" dirty="0"/>
              <a:t>Elektrotlar (Kayıt ve Toprak)</a:t>
            </a:r>
          </a:p>
          <a:p>
            <a:pPr lvl="1"/>
            <a:r>
              <a:rPr lang="tr-TR" sz="1200" dirty="0"/>
              <a:t>Kayıt Elektrotları: Sinir boyunca yayılan aksiyon potansiyelini yakalar (Aktif ve Referans elektrot).</a:t>
            </a:r>
          </a:p>
          <a:p>
            <a:pPr lvl="1"/>
            <a:r>
              <a:rPr lang="tr-TR" sz="1200" dirty="0"/>
              <a:t>Toprak (</a:t>
            </a:r>
            <a:r>
              <a:rPr lang="tr-TR" sz="1200" dirty="0" err="1"/>
              <a:t>Ground</a:t>
            </a:r>
            <a:r>
              <a:rPr lang="tr-TR" sz="1200" dirty="0"/>
              <a:t>) Elektrodu: Hastanın güvenliğini sağlamak ve şebeke gürültüsünü (50/60 Hz) minimize etmek için hastaya bağlanır.</a:t>
            </a:r>
          </a:p>
          <a:p>
            <a:r>
              <a:rPr lang="tr-TR" sz="1400" dirty="0"/>
              <a:t>Fark Yükseltici (</a:t>
            </a:r>
            <a:r>
              <a:rPr lang="tr-TR" sz="1400" dirty="0" err="1"/>
              <a:t>Differential</a:t>
            </a:r>
            <a:r>
              <a:rPr lang="tr-TR" sz="1400" dirty="0"/>
              <a:t> </a:t>
            </a:r>
            <a:r>
              <a:rPr lang="tr-TR" sz="1400" dirty="0" err="1"/>
              <a:t>Amplifier</a:t>
            </a:r>
            <a:r>
              <a:rPr lang="tr-TR" sz="1400" dirty="0"/>
              <a:t>)</a:t>
            </a:r>
          </a:p>
          <a:p>
            <a:pPr lvl="1"/>
            <a:r>
              <a:rPr lang="tr-TR" sz="1200" dirty="0"/>
              <a:t>ENG sinyalleri çok düşük genlikli olduğu için bu aşama kritiktir.</a:t>
            </a:r>
          </a:p>
          <a:p>
            <a:pPr lvl="1"/>
            <a:r>
              <a:rPr lang="tr-TR" sz="1200" dirty="0"/>
              <a:t>Görevi: İki kayıt elektrodu arasındaki potansiyel farkını yükseltirken, her iki elektrota ortak gelen gürültüleri (</a:t>
            </a:r>
            <a:r>
              <a:rPr lang="tr-TR" sz="1200" dirty="0" err="1"/>
              <a:t>Common</a:t>
            </a:r>
            <a:r>
              <a:rPr lang="tr-TR" sz="1200" dirty="0"/>
              <a:t> </a:t>
            </a:r>
            <a:r>
              <a:rPr lang="tr-TR" sz="1200" dirty="0" err="1"/>
              <a:t>Mode</a:t>
            </a:r>
            <a:r>
              <a:rPr lang="tr-TR" sz="1200" dirty="0"/>
              <a:t> </a:t>
            </a:r>
            <a:r>
              <a:rPr lang="tr-TR" sz="1200" dirty="0" err="1"/>
              <a:t>Rejection</a:t>
            </a:r>
            <a:r>
              <a:rPr lang="tr-TR" sz="1200" dirty="0"/>
              <a:t>) yok eder.</a:t>
            </a:r>
          </a:p>
          <a:p>
            <a:pPr lvl="1"/>
            <a:r>
              <a:rPr lang="tr-TR" sz="1200" dirty="0"/>
              <a:t>Kazanç: Genellikle 1000 ile 100.000$kat arasında bir yükseltme yapılır.</a:t>
            </a:r>
          </a:p>
          <a:p>
            <a:r>
              <a:rPr lang="tr-TR" sz="1400" dirty="0"/>
              <a:t>Filtreleme Katı (</a:t>
            </a:r>
            <a:r>
              <a:rPr lang="tr-TR" sz="1400" dirty="0" err="1"/>
              <a:t>Filtering</a:t>
            </a:r>
            <a:r>
              <a:rPr lang="tr-TR" sz="1400" dirty="0"/>
              <a:t>)</a:t>
            </a:r>
          </a:p>
          <a:p>
            <a:r>
              <a:rPr lang="tr-TR" sz="1400" dirty="0"/>
              <a:t>İzolasyon Ünitesi</a:t>
            </a:r>
          </a:p>
          <a:p>
            <a:pPr lvl="1"/>
            <a:r>
              <a:rPr lang="tr-TR" sz="1200" dirty="0"/>
              <a:t>Hasta güvenliği için elektriksel devre ile hasta arasındaki bağlantıyı optik veya manyetik olarak izole eder. Herhangi bir kaçak akımın hastaya ulaşmasını engeller.</a:t>
            </a:r>
          </a:p>
          <a:p>
            <a:r>
              <a:rPr lang="tr-TR" sz="1400" dirty="0"/>
              <a:t>Analog-Dijital Dönüştürücü (ADC)</a:t>
            </a:r>
          </a:p>
          <a:p>
            <a:pPr lvl="1"/>
            <a:r>
              <a:rPr lang="tr-TR" sz="1200" dirty="0"/>
              <a:t>Filtrelenmiş analog sinyali, bilgisayarın işleyebileceği sayısal verilere dönüştürür. ENG sinyalleri hızlı değiştiği için örnekleme hızı (</a:t>
            </a:r>
            <a:r>
              <a:rPr lang="tr-TR" sz="1200" dirty="0" err="1"/>
              <a:t>sampling</a:t>
            </a:r>
            <a:r>
              <a:rPr lang="tr-TR" sz="1200" dirty="0"/>
              <a:t> rate) yüksek tutulmalıdır (20 kHz ve üzeri ideali).</a:t>
            </a:r>
          </a:p>
          <a:p>
            <a:r>
              <a:rPr lang="tr-TR" sz="1400" dirty="0"/>
              <a:t>Veri İşleme ve Görüntüleme</a:t>
            </a:r>
          </a:p>
          <a:p>
            <a:pPr lvl="1"/>
            <a:r>
              <a:rPr lang="tr-TR" sz="1200" dirty="0"/>
              <a:t>Sayısal veri bilgisayara aktarılır. Burada yazılımsal olarak sinyal ortalaması (</a:t>
            </a:r>
            <a:r>
              <a:rPr lang="tr-TR" sz="1200" dirty="0" err="1"/>
              <a:t>averaging</a:t>
            </a:r>
            <a:r>
              <a:rPr lang="tr-TR" sz="1200" dirty="0"/>
              <a:t>) alınabilir, </a:t>
            </a:r>
            <a:r>
              <a:rPr lang="tr-TR" sz="1200" dirty="0" err="1"/>
              <a:t>latans</a:t>
            </a:r>
            <a:r>
              <a:rPr lang="tr-TR" sz="1200" dirty="0"/>
              <a:t> ve genlik hesaplamaları yapılarak ekranda görüntülenir.</a:t>
            </a:r>
          </a:p>
        </p:txBody>
      </p:sp>
    </p:spTree>
    <p:extLst>
      <p:ext uri="{BB962C8B-B14F-4D97-AF65-F5344CB8AC3E}">
        <p14:creationId xmlns:p14="http://schemas.microsoft.com/office/powerpoint/2010/main" val="621906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5C4B3D1C-F275-6298-87CC-4988324D69CC}"/>
              </a:ext>
            </a:extLst>
          </p:cNvPr>
          <p:cNvSpPr>
            <a:spLocks noGrp="1"/>
          </p:cNvSpPr>
          <p:nvPr>
            <p:ph type="title"/>
          </p:nvPr>
        </p:nvSpPr>
        <p:spPr>
          <a:xfrm>
            <a:off x="1103312" y="452718"/>
            <a:ext cx="8947522" cy="1400530"/>
          </a:xfrm>
        </p:spPr>
        <p:txBody>
          <a:bodyPr anchor="ctr">
            <a:normAutofit/>
          </a:bodyPr>
          <a:lstStyle/>
          <a:p>
            <a:r>
              <a:rPr lang="tr-TR" dirty="0">
                <a:solidFill>
                  <a:srgbClr val="FFFFFF"/>
                </a:solidFill>
              </a:rPr>
              <a:t>Filtreleme</a:t>
            </a:r>
          </a:p>
        </p:txBody>
      </p:sp>
      <p:sp>
        <p:nvSpPr>
          <p:cNvPr id="3" name="İçerik Yer Tutucusu 2">
            <a:extLst>
              <a:ext uri="{FF2B5EF4-FFF2-40B4-BE49-F238E27FC236}">
                <a16:creationId xmlns:a16="http://schemas.microsoft.com/office/drawing/2014/main" id="{B3A71A65-9BD2-7C39-4A06-BC7F8E374F95}"/>
              </a:ext>
            </a:extLst>
          </p:cNvPr>
          <p:cNvSpPr>
            <a:spLocks noGrp="1"/>
          </p:cNvSpPr>
          <p:nvPr>
            <p:ph idx="1"/>
          </p:nvPr>
        </p:nvSpPr>
        <p:spPr>
          <a:xfrm>
            <a:off x="1103312" y="2763520"/>
            <a:ext cx="8946541" cy="3484879"/>
          </a:xfrm>
        </p:spPr>
        <p:txBody>
          <a:bodyPr>
            <a:normAutofit fontScale="85000" lnSpcReduction="10000"/>
          </a:bodyPr>
          <a:lstStyle/>
          <a:p>
            <a:r>
              <a:rPr lang="tr-TR" dirty="0"/>
              <a:t>ENG işaretleri kaydedilirken çevredeki güç hatlarından gelen 50 Hz gürültüsü, kas aktivitesi (EMG artefaktı) ve elektrot hareketleri sinyali bozabilir. Bu nedenle:</a:t>
            </a:r>
          </a:p>
          <a:p>
            <a:r>
              <a:rPr lang="tr-TR" b="1" dirty="0"/>
              <a:t>Yüksek Geçiren Filtre (HPF): </a:t>
            </a:r>
            <a:r>
              <a:rPr lang="tr-TR" dirty="0"/>
              <a:t>Düşük frekanslı artefaktları (elektrot hareketi, terleme) engeller (10 - 20  Hz kesim).</a:t>
            </a:r>
          </a:p>
          <a:p>
            <a:r>
              <a:rPr lang="tr-TR" b="1" dirty="0"/>
              <a:t>Alçak Geçiren Filtre (LPF):</a:t>
            </a:r>
            <a:r>
              <a:rPr lang="tr-TR" dirty="0"/>
              <a:t> Yüksek frekanslı gürültüleri ve </a:t>
            </a:r>
            <a:r>
              <a:rPr lang="tr-TR" dirty="0" err="1"/>
              <a:t>aliasing</a:t>
            </a:r>
            <a:r>
              <a:rPr lang="tr-TR" dirty="0"/>
              <a:t> etkisini önler (2 - 10 kHz kesim).</a:t>
            </a:r>
          </a:p>
          <a:p>
            <a:r>
              <a:rPr lang="tr-TR" b="1" dirty="0"/>
              <a:t>Bant Geçiren Filtreler:</a:t>
            </a:r>
            <a:r>
              <a:rPr lang="tr-TR" dirty="0"/>
              <a:t> Genellikle 20 Hz 3 KHz arasına ayarlanır.</a:t>
            </a:r>
          </a:p>
          <a:p>
            <a:r>
              <a:rPr lang="tr-TR" b="1" dirty="0"/>
              <a:t>Çentik Filtre: </a:t>
            </a:r>
            <a:r>
              <a:rPr lang="tr-TR" dirty="0"/>
              <a:t>50 Hz şebeke gürültüsünü elimine etmek için kullanılır.</a:t>
            </a:r>
            <a:endParaRPr lang="tr-TR" b="1" dirty="0"/>
          </a:p>
          <a:p>
            <a:r>
              <a:rPr lang="tr-TR" b="1" dirty="0"/>
              <a:t>Ortalama Alma (</a:t>
            </a:r>
            <a:r>
              <a:rPr lang="tr-TR" b="1" dirty="0" err="1"/>
              <a:t>Averaging</a:t>
            </a:r>
            <a:r>
              <a:rPr lang="tr-TR" b="1" dirty="0"/>
              <a:t>): </a:t>
            </a:r>
            <a:r>
              <a:rPr lang="tr-TR" dirty="0"/>
              <a:t>Özellikle çok düşük genlikli duyusal sinyalleri (SNAP) belirginleştirmek için ardışık uyaranlar verilerek sinyallerin ortalaması alınır.</a:t>
            </a:r>
          </a:p>
          <a:p>
            <a:endParaRPr lang="tr-TR" dirty="0"/>
          </a:p>
        </p:txBody>
      </p:sp>
    </p:spTree>
    <p:extLst>
      <p:ext uri="{BB962C8B-B14F-4D97-AF65-F5344CB8AC3E}">
        <p14:creationId xmlns:p14="http://schemas.microsoft.com/office/powerpoint/2010/main" val="1060010297"/>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a:themeElements>
    <a:clrScheme name="İy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y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230</TotalTime>
  <Words>1215</Words>
  <Application>Microsoft Office PowerPoint</Application>
  <PresentationFormat>Geniş ekran</PresentationFormat>
  <Paragraphs>61</Paragraphs>
  <Slides>16</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16</vt:i4>
      </vt:variant>
    </vt:vector>
  </HeadingPairs>
  <TitlesOfParts>
    <vt:vector size="19" baseType="lpstr">
      <vt:lpstr>Century Gothic</vt:lpstr>
      <vt:lpstr>Wingdings 3</vt:lpstr>
      <vt:lpstr>İyon</vt:lpstr>
      <vt:lpstr>Elektronörogram</vt:lpstr>
      <vt:lpstr>PowerPoint Sunusu</vt:lpstr>
      <vt:lpstr>PowerPoint Sunusu</vt:lpstr>
      <vt:lpstr>PowerPoint Sunusu</vt:lpstr>
      <vt:lpstr>PowerPoint Sunusu</vt:lpstr>
      <vt:lpstr>PowerPoint Sunusu</vt:lpstr>
      <vt:lpstr>PowerPoint Sunusu</vt:lpstr>
      <vt:lpstr>PowerPoint Sunusu</vt:lpstr>
      <vt:lpstr>ENG</vt:lpstr>
      <vt:lpstr>PowerPoint Sunusu</vt:lpstr>
      <vt:lpstr>ENG</vt:lpstr>
      <vt:lpstr>Kayıt</vt:lpstr>
      <vt:lpstr>Temel Parametreler ve Klinik Önemi</vt:lpstr>
      <vt:lpstr>Klinik Önemi</vt:lpstr>
      <vt:lpstr>ENG Blok Diagramı</vt:lpstr>
      <vt:lpstr>Filtreleme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17</cp:revision>
  <dcterms:created xsi:type="dcterms:W3CDTF">2026-03-09T17:51:44Z</dcterms:created>
  <dcterms:modified xsi:type="dcterms:W3CDTF">2026-03-28T17:59:01Z</dcterms:modified>
</cp:coreProperties>
</file>